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932688"/>
            <a:ext cx="110550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基于 TPS 文件的测试用例集设计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17904"/>
            <a:ext cx="11055096" cy="1097280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本方案将测试用例集从执行代码中剥离为受控数据：TPS 清单声明被测对象适配范围、设备引用、判定算法与阈值、用例编排，测试动作由 testcase/ 中的 Python 函数实现；执行器按清单完成校验、注入与编排，使测试内容可由工艺人员直接评审，并保证同一清单在不同台架上的判定口径与执行顺序一致。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798064"/>
            <a:ext cx="2066543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9776" y="2798064"/>
            <a:ext cx="2066543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992624" y="2798064"/>
            <a:ext cx="2066543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device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5472" y="2798064"/>
            <a:ext cx="2066543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threshold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19" y="2798064"/>
            <a:ext cx="2066543" cy="45720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cmd_suit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66744"/>
            <a:ext cx="91440" cy="914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844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写入清单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3584448"/>
            <a:ext cx="9180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适配范围（PN 白名单）、设备引用、判定算法与参数、用例编排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42231"/>
            <a:ext cx="91440" cy="914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59935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不写入清单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4059935"/>
            <a:ext cx="9180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执行代码、连接参数、调用实参、判定表达式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617720"/>
            <a:ext cx="91440" cy="914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354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评审与维护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4535424"/>
            <a:ext cx="9180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评审对象是清单（数据），维护对象是 testcase/ 中的用例实现（代码）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193792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358384"/>
            <a:ext cx="11055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结构版本：五键 · 包结构：tps.json + testcase/ + resource/ + wheel/ · 2026-10-07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TPS 包结构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一个 TPS = 一个目录（打包即压缩包）；运行时 Runner 在 workspace 下解压出临时副本，并执行这个副本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5138928" cy="21031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spm_rh_dyn/                        ← TPS 包（打包后即压缩包）
├─ tps.json                        ← 清单：五键
├─ testcase/                       ← 每个 py 文件是一个 testcase 模块
│   ├─ __init__.py                 必备
│   ├─ env_setup.py                含 setup / teardown 方法
│   ├─ power.py
│   └─ comm.py
├─ resource/                       其他配置文件
│   ├─ pn_whitelist.json
│   ├─ channel_map.json
│   └─ fixture_list.json
└─ wheel/                          其余 Python 驱动
    ├─ scope_sdk-1.2.0-py3-none-any.whl
    └─ dmm_driver-0.9.3-py3-none-any.whl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591056"/>
          <a:ext cx="5586984" cy="20482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98448"/>
                <a:gridCol w="428853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子目录 / 文件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结构与作用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tps.json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清单：五键，声明跑什么、按什么顺序、按什么判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testcase/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用例实现：Python 包，含必备 __init__.py；每个 py 是一个 testcase 模块，模块内含 setup 与 teardown 方法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resource/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其他配置文件：大批量 PN 白名单、通道表、夹具清单、测试向量数据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wheel/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其余 Python 驱动与设备 SDK，随包分发，供离线工控机安装或加载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运行期产物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不在包内：conftest.py / test_tps_generated.py / ate_env.json / run_&lt;task_id&gt;/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tps-runne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67328"/>
            <a:ext cx="11055096" cy="27637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TPS 的使用方法：软件视图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清单不可执行：Runner 在 workspace 临时副本里读取与编排，注入层把设备、阈值与待测部件 SN 递给用例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s-software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11055096" cy="4698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metadata · 版本数据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记录这份基线是什么版本、谁定的、什么时候定的；是评审与追溯的落点，不参与执行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v1.3.0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77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当前状态：released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4448" y="1682496"/>
            <a:ext cx="12801" cy="406400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8496" y="16824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0175" y="16824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基线版本号，报告据此追溯判据版本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8496" y="2029967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8496" y="21396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0175" y="21396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draft / review / released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8496" y="24871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5968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author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5" y="25968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责任人，判据谁定的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8496" y="29443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30540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created_at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5" y="30540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基线建立日期（YYYY-MM-DD）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8496" y="34015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112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5" y="35112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基线编号：运行、报告、记录引用它的稳定键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38587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8496" y="39684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175" y="39684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基线名称：报告标题与列表展示用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68496" y="43159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4425696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applies_to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5" y="4425696"/>
            <a:ext cx="56418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适用台架类型编号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8496" y="4773168"/>
            <a:ext cx="7653527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577840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只有 released 状态允许用于正式生产运行；草稿与评审中的基线不参与生产。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adaptation · PN 白名单与多路 SN 信号源匹配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这台 UUT 能不能用这份基线测；多路 SN 并行时，每个 SN 采到的数据属于哪个信号源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PN 白名单机制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75104"/>
            <a:ext cx="2103120" cy="438912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UUT 名称 / 登记信息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207568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↓ part_number.regex 提取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23744"/>
            <a:ext cx="2103120" cy="438912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件号 PN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62432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↓ whitelist 逐项比对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72384"/>
            <a:ext cx="2103120" cy="438912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命中 → 通过，继续执行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3072384"/>
            <a:ext cx="2231136" cy="438912"/>
          </a:xfrm>
          <a:prstGeom prst="rect">
            <a:avLst/>
          </a:prstGeom>
          <a:solidFill>
            <a:srgbClr val="EAF0F9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未命中 → 抛异常，拒绝执行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85615"/>
            <a:ext cx="173736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part_number.regex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785615"/>
            <a:ext cx="292608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从 UUT 名称提取件号的正则（命名组 pn）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06240"/>
            <a:ext cx="475488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15968"/>
            <a:ext cx="173736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part_number.whitelist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315968"/>
            <a:ext cx="292608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件号白名单；未命中直接抛异常，拒绝执行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736592"/>
            <a:ext cx="475488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846320"/>
            <a:ext cx="173736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whitelist_file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846320"/>
            <a:ext cx="2926080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可选：白名单文件路径，件号量大时放 resource/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266944"/>
            <a:ext cx="475488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61441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白名单规模小时内联在清单里便于评审；件号成百上千时放 resource/，清单只留引用。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1591056"/>
            <a:ext cx="5751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多路 SN 与信号源匹配</a:t>
            </a:r>
          </a:p>
        </p:txBody>
      </p:sp>
      <p:pic>
        <p:nvPicPr>
          <p:cNvPr id="23" name="Picture 22" descr="tps-slot-source-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901952"/>
            <a:ext cx="5751576" cy="345094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70448" y="566928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7" y="5669280"/>
            <a:ext cx="4105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并行路数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0448" y="5870448"/>
            <a:ext cx="5751576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598017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signal_source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7" y="5980176"/>
            <a:ext cx="4105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该位号数据所属信号源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70448" y="6181344"/>
            <a:ext cx="5751576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629107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source_channel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6291072"/>
            <a:ext cx="4105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信号源上的物理输出口，位号之间不共用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0448" y="6492240"/>
            <a:ext cx="5751576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device · 设备信息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用例里的设备名，对应台架上真实的哪台设备；只写引用，不写连接参数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554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别名（键）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1645920"/>
            <a:ext cx="365759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scope / dmm / psu / spin 等，用例按别名取设备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03120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12848"/>
            <a:ext cx="1554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device_id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2212848"/>
            <a:ext cx="365759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注册库 device_registry 中的设备编号，解析时精确命中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70048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79776"/>
            <a:ext cx="1554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779776"/>
            <a:ext cx="365759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设备类别：确认该类别确实在本台架 BOM 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236976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511296"/>
            <a:ext cx="5303520" cy="1371600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不写入清单的内容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IP、端口、串口、波特率等连接参数。这些由注入层在运行时从注册库查询——换台架时连接参数必变，写进受控文件就是维护灾难。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645920"/>
            <a:ext cx="5349240" cy="47548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用例按别名取设备：ate_devices["scope"]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212848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↓  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2523744"/>
            <a:ext cx="5349240" cy="786384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注册库 device_registry（SQLite）</a:t>
            </a: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device_id / category → IP · 端口 · 串口 · 波特率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3401568"/>
            <a:ext cx="5349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↓  注入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3712463"/>
            <a:ext cx="5349240" cy="47548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设备实例（连接已就绪）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79008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解析失败只记录告警，不阻断整套流程的启动；真正需要设备时由用例判定该步失败。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threshold · 阈值与判定算法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阈值只声明按什么算法判、参数是多少；判定逻辑由用例调用判定接口触发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minmax · 上下限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min ≤ 实测值 ≤ max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min · max（至少其一）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5968" y="1591056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std · 统计偏差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|均值 − x̄| ≤ n·σ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 · min_samples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5007" y="1591056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mean · 均值偏差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|标称 − x̄| ≤ delta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delta（绝对或百分比）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26080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range · 极差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max(x) − min(x) ≤ max_range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max_range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2926080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delta · 差值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|a − b| ≤ max_delta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against · max_delta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7" y="2926080"/>
            <a:ext cx="3566160" cy="1188720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count · 计数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异常样本数 ≤ max_count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max_count · fail_when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425696"/>
            <a:ext cx="11055096" cy="1481328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多算法兼容建议：所有算法产出同一种结果结构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报告列、数据库列、判定明细只消费这一结构；新增算法只扩展 mode 与算法参数，消费方不动。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result{ key, mode, samples[], value, min, max, unit, ok, message }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value 为判定代表值：minmax 取实测值，std / mean / range 取统计值；message 供报告直接展示。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cmd_suit · 用例清单与执行顺序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跑哪些用例、按什么顺序跑；顺序就是书写顺序，人工确认是唯一的控制点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3474720" cy="56692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setup  ·  环境初始化：上电、复位、装夹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96511" y="1810512"/>
            <a:ext cx="237744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15968" y="1591056"/>
            <a:ext cx="3474720" cy="56692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cmd_suit  ·  测试套：全部测试用例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45552" y="1810512"/>
            <a:ext cx="237744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65007" y="1591056"/>
            <a:ext cx="3474720" cy="56692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teardown  ·  环境终止：断电、卸载、归档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执行顺序 = 清单书写顺序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706624"/>
            <a:ext cx="1371600" cy="420624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93392" y="2852928"/>
            <a:ext cx="256032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0008" y="2706624"/>
            <a:ext cx="1371600" cy="420624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 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76472" y="2852928"/>
            <a:ext cx="256032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33087" y="2706624"/>
            <a:ext cx="1371600" cy="420624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1264" y="2798064"/>
            <a:ext cx="310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36976"/>
            <a:ext cx="5303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不引入排序、优先级、依赖、条件分支与失败策略：上一条跑完就跑下一条，失败记录后继续，收尾段必定执行。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85615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id ·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785615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条目标识 + module::function 用例引用（必需）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133087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42428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条目类型：缺省普通自动用例；manual = 人工确认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590288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70001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resource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7000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type=manual 时必填：resource/ 下的名称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047488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15721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parallel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51572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作用域：serial（默认）/ per_sn / shared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504688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61441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exec.timeout_s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56144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单条超时秒数，防卡死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961888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71616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不写入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21408" y="60716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排序、依赖、条件跳过、失败处置、重试——不属清单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6419088"/>
            <a:ext cx="5303520" cy="6350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2784" y="2359152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人工确认：清单里唯一的控制点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2784" y="2706624"/>
            <a:ext cx="5349240" cy="53035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{ "id": "M-01", "type": "manual",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  "name": "装夹确认", "resource": "appearance_check.md"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4232" y="327355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4" y="3547872"/>
            <a:ext cx="5349240" cy="914400"/>
          </a:xfrm>
          <a:prstGeom prst="rect">
            <a:avLst/>
          </a:prstGeom>
          <a:solidFill>
            <a:srgbClr val="EA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运行时弹窗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文案：resource/appearance_check.md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图片：resource/appearance_check.png（同名即取）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4" y="4608576"/>
            <a:ext cx="2560320" cy="603504"/>
          </a:xfrm>
          <a:prstGeom prst="rect">
            <a:avLst/>
          </a:prstGeom>
          <a:solidFill>
            <a:srgbClr val="EAF0F9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继续下一步 next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执行清单里的下一条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61704" y="4608576"/>
            <a:ext cx="2560320" cy="603504"/>
          </a:xfrm>
          <a:prstGeom prst="rect">
            <a:avLst/>
          </a:prstGeom>
          <a:solidFill>
            <a:srgbClr val="EAF0F9"/>
          </a:solidFill>
          <a:ln w="9525">
            <a:solidFill>
              <a:srgbClr val="002F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中止 abort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停止本轮，转收尾与报告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5358384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需要操作员判断的步骤（外观检查、装夹确认、人工上下料）都用这一种类型表达；弹窗内容不写进清单，由用例按名称从 resource/ 取，改文案与示意图不动清单。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9B1C1C"/>
                </a:solidFill>
                <a:latin typeface="微软雅黑"/>
                <a:ea typeface="微软雅黑"/>
                <a:cs typeface="微软雅黑"/>
              </a:rPr>
              <a:t>执行流程：字段如何产生流程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68096"/>
            <a:ext cx="11055096" cy="438912"/>
          </a:xfrm>
          <a:prstGeom prst="rect">
            <a:avLst/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五个键按固定顺序被消费，形成从启动到报告的一条流程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5096" cy="9525"/>
          </a:xfrm>
          <a:prstGeom prst="rect">
            <a:avLst/>
          </a:prstGeom>
          <a:solidFill>
            <a:srgbClr val="D9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7532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TPS 包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清单 + 用例 + 配置 + 驱动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20824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2556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解压临时副本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workspace/run_&lt;task_id&gt;/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55848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97580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启动门禁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PN 白名单 · SN 形态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90872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32604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设备解析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别名 → 注册库参数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25896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7628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阈值装载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按 mode 装载算法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60920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02652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序列展开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setup → 套 → teardown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95944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7676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逐条执行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pytest 独立进程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30968" y="2231136"/>
            <a:ext cx="137160" cy="128016"/>
          </a:xfrm>
          <a:prstGeom prst="rightArrow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72699" y="1645920"/>
            <a:ext cx="1188720" cy="1298448"/>
          </a:xfrm>
          <a:prstGeom prst="rect">
            <a:avLst/>
          </a:prstGeom>
          <a:noFill/>
          <a:ln w="9525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002FA7"/>
                </a:solidFill>
                <a:latin typeface="微软雅黑"/>
                <a:ea typeface="微软雅黑"/>
                <a:cs typeface="微软雅黑"/>
              </a:rPr>
              <a:t>判定与报告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run_result.json → HTML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3108960"/>
          <a:ext cx="11055096" cy="29077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822045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消费字段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02FA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产生的动作与产物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4A4E5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metadata（version · status）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启动门禁与版本追溯；报告头与运行记录引用该版本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adaptation.part_number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提取件号并与白名单比对：命中放行，未命中直接抛异常拒绝执行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adaptation.sn · channels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 形态校验；位号与信号源绑定，判定结果归属到正确的 SN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device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别名 → 注册库 → 连接参数，形成 ate_devices 夹具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threshold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mode 装载判定算法与参数，形成 ate_thresholds 夹具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cmd_suit.setup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按书写顺序执行环境初始化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cmd_suit.cmd_suit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按书写顺序逐条执行；per_sn 条目逐位号展开；manual 条目弹窗等 next / abort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cmd_suit.teardown + 汇总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收尾段必定执行；汇总判定明细并生成 HTML 报告</a:t>
                      </a:r>
                    </a:p>
                  </a:txBody>
                  <a:tcPr marL="54864" marR="54864" marT="27432" marB="27432" anchor="ctr">
                    <a:lnB w="9525" cap="flat" cmpd="sng" algn="ctr">
                      <a:solidFill>
                        <a:srgbClr val="D9D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