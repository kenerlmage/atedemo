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问题背景（一）· 供应商软件接入的十二个阻断点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阻断点分布在网络、接口、运行环境、授权、合规五个方向；边界右侧的问题多需供应商配合，或在我方侧以代理、旁路方式绕开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78992"/>
            <a:ext cx="210312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ATE 平台（我方可控）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61488" y="1078992"/>
            <a:ext cx="9153144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供应商软件与设备（交付形态各异，多数不可控）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103120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8" y="1536192"/>
            <a:ext cx="1883664" cy="128016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645919"/>
            <a:ext cx="1810512" cy="10607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测试用例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85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pytest 用例 · TPS 编排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999232"/>
            <a:ext cx="1883664" cy="128016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3108960"/>
            <a:ext cx="1810512" cy="10607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设备抽象层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85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统一能力接口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4462272"/>
            <a:ext cx="1883664" cy="128016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4572000"/>
            <a:ext cx="1810512" cy="10607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执行与追溯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85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Runner 执行 · 结果归档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42032" y="1371600"/>
            <a:ext cx="0" cy="4526280"/>
          </a:xfrm>
          <a:prstGeom prst="line">
            <a:avLst/>
          </a:prstGeom>
          <a:ln w="16510">
            <a:solidFill>
              <a:srgbClr val="8B0F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176272" y="5943600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接入边界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61488" y="1371600"/>
            <a:ext cx="9153144" cy="4526280"/>
          </a:xfrm>
          <a:prstGeom prst="roundRect">
            <a:avLst>
              <a:gd name="adj" fmla="val 3000"/>
            </a:avLst>
          </a:prstGeom>
          <a:solidFill>
            <a:srgbClr val="F6F6F3"/>
          </a:solidFill>
          <a:ln w="1270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907792" y="1463040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99232" y="1554480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84648" y="1563624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84648" y="1563624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网络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73552" y="1517904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网口数量受限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9232" y="1828800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设备仅 1 个业务网口，已被既有测试网占用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1463040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89320" y="1554480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4736" y="1563624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1563624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网络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1517904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网络策略封闭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1828800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仅放行固定主机与网段，策略由供应商掌握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87968" y="1463040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979408" y="1554480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164824" y="1563624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164824" y="1563624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网络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1517904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跨网隔离与网闸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79408" y="1828800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跨网只允许单向、指定端口，无法下发指令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07792" y="2578608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999232" y="2670048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84648" y="2679192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84648" y="2679192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接口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73552" y="2633472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无对外接口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99232" y="2944368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仅图形界面，无 CLI / API / 协议文档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97880" y="2578608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989320" y="2670048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74736" y="2679192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74736" y="2679192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接口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2633472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物理接口不匹配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89320" y="2944368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设备只有 GPIB / RS232，机箱无对应接口卡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87968" y="2578608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979408" y="2670048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164824" y="2679192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164824" y="2679192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环境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53728" y="2633472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无法安装 Runner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79408" y="2944368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封闭系统或只读镜像，禁止第三方程序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907792" y="3694176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999232" y="378561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84648" y="3794760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84648" y="3794760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环境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3749040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系统与位数锁定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9232" y="4059936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仅支持 Win7 / 32 位，与 Runner 环境冲突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897880" y="3694176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989320" y="378561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74736" y="3794760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74736" y="3794760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环境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63640" y="3749040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必须人工交互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4059936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需人工点击确认，无法无人值守长期运行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887968" y="3694176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979408" y="378561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164824" y="3794760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164824" y="3794760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授权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53728" y="3749040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授权绑定 MAC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79408" y="4059936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绑定网卡 MAC 与机器指纹，迁机即失效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907792" y="4809744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999232" y="490118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84648" y="4910328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184648" y="4910328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授权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73552" y="4864608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授权并发不足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99232" y="5175504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加密狗或单机授权少于测试台数，无法并行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897880" y="4809744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989320" y="490118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174736" y="4910328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174736" y="4910328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合规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63640" y="4864608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合规不允许接入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89320" y="5175504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无签名驱动、高危端口，IT 策略拒绝入网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887968" y="4809744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979408" y="490118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164824" y="4910328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164824" y="4910328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合规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3728" y="4864608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外网校验与回传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79408" y="5175504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需连供应商云激活并回传数据，产线无外网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十二个阻断点中，网络类 3 项、接口类 2 项、环境类 3 项、授权类 2 项、合规类 2 项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红色虚线为我方无法单方面突破的接入边界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问题背景（二）· 阻断机理图解 ①–⑥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逐项还原阻断发生的环节：端口被占、策略拒绝、单向网闸、无接口、接口不匹配、装不了代理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① 网口数量受限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设备仅 1 个业务网口，且已被既有测试网占满；ATE 侧无法在同一条链路上并存接入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920240"/>
            <a:ext cx="1188720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供应商设备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2768" y="2084831"/>
            <a:ext cx="100584" cy="164592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673351" y="2167128"/>
            <a:ext cx="795528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68879" y="1920240"/>
            <a:ext cx="114300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ATE 网络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7672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2468880"/>
            <a:ext cx="9601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唯一网口已占用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34256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② 网络策略封闭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设备侧白名单只放行指定主机与网段，ATE 主机既不在白名单、也无法修改设备策略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1920240"/>
            <a:ext cx="1078992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ATE 10.0.5.99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13248" y="2167128"/>
            <a:ext cx="822960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236208" y="1920240"/>
            <a:ext cx="129844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设备（白名单）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96712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2468880"/>
            <a:ext cx="132588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仅放行 10.0.5.20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4736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③ 跨网隔离与网闸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3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两网之间串接单向隔离装置，只允许设备侧数据上报，ATE 的下发指令到不了设备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3" y="1901952"/>
            <a:ext cx="868680" cy="54864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设备网段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04703" y="1901952"/>
            <a:ext cx="1097280" cy="54864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测试网段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0343" y="1847088"/>
            <a:ext cx="365760" cy="658368"/>
          </a:xfrm>
          <a:prstGeom prst="rect">
            <a:avLst/>
          </a:prstGeom>
          <a:solidFill>
            <a:srgbClr val="2B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网闸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53143" y="2066543"/>
            <a:ext cx="457200" cy="0"/>
          </a:xfrm>
          <a:prstGeom prst="line">
            <a:avLst/>
          </a:prstGeom>
          <a:ln w="1397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976103" y="2066543"/>
            <a:ext cx="228600" cy="0"/>
          </a:xfrm>
          <a:prstGeom prst="line">
            <a:avLst/>
          </a:prstGeom>
          <a:ln w="1397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9153143" y="2322576"/>
            <a:ext cx="1051560" cy="0"/>
          </a:xfrm>
          <a:prstGeom prst="line">
            <a:avLst/>
          </a:prstGeom>
          <a:ln w="1397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235439" y="2185416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3143" y="2542032"/>
            <a:ext cx="17373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反向指令被网闸阻断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④ 无对外接口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软件只有图形界面，无 CLI、API、协议文档；外部脚本无法触发动作、也无法取回数据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4048" y="4233672"/>
            <a:ext cx="1298448" cy="530352"/>
          </a:xfrm>
          <a:prstGeom prst="roundRect">
            <a:avLst>
              <a:gd name="adj" fmla="val 4000"/>
            </a:avLst>
          </a:prstGeom>
          <a:solidFill>
            <a:srgbClr val="2B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供应商软件（仅 GUI）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56816" y="4142231"/>
            <a:ext cx="54864" cy="603504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304288" y="4233672"/>
            <a:ext cx="1298448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外部脚本 / 自动化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11680" y="4507992"/>
            <a:ext cx="292608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700784" y="422452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73936" y="4818888"/>
            <a:ext cx="17373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 CLI / API / 协议文档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24528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34256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⑤ 物理接口不匹配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6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设备只提供 GPIB / RS232 等专用口，产线工控机没有对应接口卡与驱动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34256" y="4251959"/>
            <a:ext cx="1243584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设备：GPIB / RS232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0" y="4498848"/>
            <a:ext cx="640080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217920" y="4251959"/>
            <a:ext cx="1444752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工控机：仅 USB / 网口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69864" y="422452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31536" y="4800600"/>
            <a:ext cx="11887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无对应接口卡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74736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84463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⑥ 无法安装 Runner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4463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交付系统封闭或镜像只读、无管理员权限，第三方执行代理无法安装与常驻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84463" y="4251959"/>
            <a:ext cx="148132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封闭系统 / 只读镜像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765792" y="4498848"/>
            <a:ext cx="621792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0387584" y="4288536"/>
            <a:ext cx="713232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Runner</a:t>
            </a:r>
          </a:p>
        </p:txBody>
      </p:sp>
      <p:sp>
        <p:nvSpPr>
          <p:cNvPr id="56" name="&quot;No&quot; Symbol 55"/>
          <p:cNvSpPr/>
          <p:nvPr/>
        </p:nvSpPr>
        <p:spPr>
          <a:xfrm>
            <a:off x="10332719" y="4197096"/>
            <a:ext cx="841248" cy="841248"/>
          </a:xfrm>
          <a:prstGeom prst="noSmoking">
            <a:avLst/>
          </a:prstGeom>
          <a:noFill/>
          <a:ln w="3048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66959" y="4206240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02751" y="4818888"/>
            <a:ext cx="15179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禁止安装第三方程序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① ② ③ 属网络与链路，④ ⑤ 属接口能力，⑥ 属运行环境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红线为该格阻断发生的具体位置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问题背景（三）· 阻断机理图解 ⑦–⑫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运行环境的第二类冲突、人工依赖、授权与合规：能连上也未必跑得起来、跑得久、跑得起量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⑦ 系统与位数锁定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软件只支持 Win7 / 32 位或特定内核版本，与 Runner 的 Win10 / 64 位环境不兼容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920240"/>
            <a:ext cx="129844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Win7 / 32 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82495" y="2167128"/>
            <a:ext cx="548641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231136" y="1920240"/>
            <a:ext cx="1481328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Win10 / 64 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1" y="2468880"/>
            <a:ext cx="132588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运行时环境冲突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24528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⑧ 必须人工交互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软件无批处理模式，必须人工点击确认；无法作为服务常驻，产线做不到无人值守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920240"/>
            <a:ext cx="138988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软件界面（人工确认）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24144" y="2167128"/>
            <a:ext cx="530352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54496" y="1920240"/>
            <a:ext cx="1408176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无人值守 / 后台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1304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0096" y="2468880"/>
            <a:ext cx="14173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无法 7×24 自动执行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⑨ 授权绑定 MAC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许可证绑定网卡 MAC 与机器指纹，迁机、换网卡、重装系统即失效，无法随平台复制部署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84463" y="1883664"/>
            <a:ext cx="877824" cy="585216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机器 A</a:t>
            </a:r>
          </a:p>
          <a:p>
            <a:pPr algn="ctr"/>
            <a:r>
              <a:rPr sz="75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MAC A1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73184" y="1920240"/>
            <a:ext cx="621792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许可证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9162288" y="2176272"/>
            <a:ext cx="310896" cy="0"/>
          </a:xfrm>
          <a:prstGeom prst="line">
            <a:avLst/>
          </a:prstGeom>
          <a:ln w="1397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479024" y="1883664"/>
            <a:ext cx="1005840" cy="585216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机器 B</a:t>
            </a:r>
          </a:p>
          <a:p>
            <a:pPr algn="ctr"/>
            <a:r>
              <a:rPr sz="75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MAC B2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094976" y="2176272"/>
            <a:ext cx="384048" cy="0"/>
          </a:xfrm>
          <a:prstGeom prst="line">
            <a:avLst/>
          </a:prstGeom>
          <a:ln w="1397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0158983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4543" y="248716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授权有效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1551" y="2487168"/>
            <a:ext cx="10058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迁机即失效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⑩ 授权并发不足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单机授权或加密狗数量少于测试台数量，多台并行时只有一台能拿到许可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4048" y="4123944"/>
            <a:ext cx="768096" cy="274320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测试台 1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68096" y="4398264"/>
            <a:ext cx="0" cy="292608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252728" y="4123944"/>
            <a:ext cx="768096" cy="274320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测试台 2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636776" y="4398264"/>
            <a:ext cx="0" cy="292608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2121408" y="4123944"/>
            <a:ext cx="768096" cy="274320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测试台 3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505456" y="4398264"/>
            <a:ext cx="0" cy="292608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68096" y="4690872"/>
            <a:ext cx="1737360" cy="0"/>
          </a:xfrm>
          <a:prstGeom prst="line">
            <a:avLst/>
          </a:prstGeom>
          <a:ln w="1270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636776" y="4690872"/>
            <a:ext cx="0" cy="73152"/>
          </a:xfrm>
          <a:prstGeom prst="line">
            <a:avLst/>
          </a:prstGeom>
          <a:ln w="1270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179576" y="4764024"/>
            <a:ext cx="914400" cy="310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1 个加密狗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4074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39" y="44074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31136" y="4818888"/>
            <a:ext cx="10058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无法并行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528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34256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⑪ 合规不允许接入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34256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无代码签名、驱动未认证、开放高危端口或缺少审计日志，入网审批不通过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4256" y="4105655"/>
            <a:ext cx="1188720" cy="27432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无签名驱动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34256" y="4434840"/>
            <a:ext cx="1188720" cy="27432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开放高危端口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34256" y="4764023"/>
            <a:ext cx="1188720" cy="27432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无审计日志</a:t>
            </a:r>
          </a:p>
        </p:txBody>
      </p:sp>
      <p:sp>
        <p:nvSpPr>
          <p:cNvPr id="53" name="Hexagon 52"/>
          <p:cNvSpPr/>
          <p:nvPr/>
        </p:nvSpPr>
        <p:spPr>
          <a:xfrm>
            <a:off x="6181344" y="4306824"/>
            <a:ext cx="1325880" cy="640080"/>
          </a:xfrm>
          <a:prstGeom prst="hexagon">
            <a:avLst/>
          </a:prstGeom>
          <a:solidFill>
            <a:srgbClr val="2B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IT 安全策略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522976" y="4562856"/>
            <a:ext cx="658368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724144" y="4297679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74736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84463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⑫ 外网校验与回传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4463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需连供应商云完成激活，并把工艺数据回传云端；产线无外网，数据也不允许出境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84463" y="4251959"/>
            <a:ext cx="1051560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供应商软件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336024" y="4498848"/>
            <a:ext cx="393191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9729215" y="4160520"/>
            <a:ext cx="274320" cy="658368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6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无
外
网</a:t>
            </a:r>
          </a:p>
        </p:txBody>
      </p:sp>
      <p:sp>
        <p:nvSpPr>
          <p:cNvPr id="62" name="Cloud 61"/>
          <p:cNvSpPr/>
          <p:nvPr/>
        </p:nvSpPr>
        <p:spPr>
          <a:xfrm>
            <a:off x="10204703" y="4215383"/>
            <a:ext cx="1371600" cy="566928"/>
          </a:xfrm>
          <a:prstGeom prst="cloud">
            <a:avLst/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73183" y="4206240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01784" y="4855464"/>
            <a:ext cx="1874519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无法激活 / 工艺数据外传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⑦ ⑧ 属运行环境，⑨ ⑩ 属授权与商务，⑪ ⑫ 属合规与数据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红线为该格阻断发生的具体位置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供应商设备软件的形态与 ATE 接入方式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同一台设备可能同时提供多种形态；ATE 侧以统一的设备抽象层屏蔽差异，测试用例只面向能力接口编程，不直接依赖供应商实现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0"/>
            <a:ext cx="192024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① ATE 测试执行层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70048" y="1097280"/>
            <a:ext cx="356616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② 设备抽象与适配层（对外统一能力接口，屏蔽形态差异）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3136" y="1097280"/>
            <a:ext cx="5111496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③ 供应商提供的软件形态（按提供方式分四类）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57984" y="3657600"/>
            <a:ext cx="420624" cy="310896"/>
          </a:xfrm>
          <a:prstGeom prst="rightArrow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6291072" y="3657600"/>
            <a:ext cx="420624" cy="310896"/>
          </a:xfrm>
          <a:prstGeom prst="rightArrow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1371600"/>
            <a:ext cx="1920240" cy="4882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4048" y="1517904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3" y="1609344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测试用例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pytest 用例 / 测试程序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3145536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3236976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能力调用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连接 · 配置 · 触发 · 采集 · 判定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4773168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3" y="4864607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结果与追溯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测量值、判定、日志与报告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70048" y="1371600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61488" y="164363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4096" y="1408176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C-ABI 封装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ctypes / CFFI 加载 DLL，按头文件声明结构体与函数原型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70048" y="2199132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61488" y="247116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54096" y="2235708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Python 适配器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直接导入供应商包，包装为统一设备类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70048" y="3026663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61488" y="3298697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54096" y="3063239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VISA / SCPI 客户端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PyVISA 打开资源，按手册下发命令、解析响应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70048" y="3854196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61488" y="4126229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54096" y="3890772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COM / .NET 桥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comtypes 或 pythonnet 调 ActiveX、.NET 程序集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70048" y="4681728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1488" y="4953762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54096" y="4718304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进程调用器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subprocess 调厂商 exe，解析返回码与输出文件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70048" y="5509260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1488" y="578129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54096" y="5545836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协议实现器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按私有协议手册自建串口 / CAN / TCP 报文收发与校验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03136" y="1371600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94576" y="1371600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二进制接口类（随驱动包分发）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03136" y="170078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76288" y="170078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DLL + 头文件（C/C++ SDK）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02852" y="1828799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95460" y="170078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68612" y="170078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COM / ActiveX 组件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695176" y="1828799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03136" y="2176272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76288" y="2176272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.NET 程序集（含 NuGet）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02852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95460" y="2176272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68612" y="2176272"/>
            <a:ext cx="198881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IVI / VXIplug&amp;play 驱动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512296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695176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03136" y="2871215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94576" y="2871215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语言绑定类（按语言分发）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03136" y="3200399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76288" y="3200399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Python 库（whl / .pyd）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02852" y="3328415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95460" y="3200399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468612" y="3200399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LabVIEW VI 库 / 驱动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695176" y="3328415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03136" y="3675887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76288" y="3675887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MATLAB / .mex 工具箱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02852" y="3803904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395460" y="3675887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8612" y="3675887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Java JAR / JNI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1695176" y="3803904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803136" y="4370831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94576" y="4370831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协议命令类（只给文档）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803136" y="4700016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76288" y="4700016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VISA 接口手册（SCPI 命令集）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02852" y="4828032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395460" y="4700016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68612" y="4700016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私有协议手册（串口 / CAN 报文）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695176" y="4828032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803136" y="5394959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5394959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可执行与服务类（黑盒调用）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803136" y="572414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76288" y="572414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命令行工具（厂商 exe）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02852" y="5852160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95460" y="572414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468612" y="572414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REST / gRPC / Socket 服务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695176" y="5852160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图例：① C-ABI 封装　② Python 适配器　③ VISA/SCPI 客户端　④ COM/.NET 桥　⑤ 进程调用　⑥ 协议实现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形态越靠「文档」，封装工作量越大；同一设备多形态时优先选二进制接口或官方 Python 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供应商设备软件的形态与 ATE 接入方式</dc:title>
  <dc:subject>供应商软件接入：阻断点与形态适配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