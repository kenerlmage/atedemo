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01168"/>
            <a:ext cx="1088136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问题背景（一）· 供应商软件接入的十二个阻断点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58368"/>
            <a:ext cx="11155680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阻断点分布在网络、接口、运行环境、授权、合规五个方向；边界右侧的问题多需供应商配合，或在我方侧以代理、旁路方式绕开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87552"/>
            <a:ext cx="11640312" cy="25603"/>
          </a:xfrm>
          <a:prstGeom prst="rect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78992"/>
            <a:ext cx="210312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ATE 平台（我方可控）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1488" y="1078992"/>
            <a:ext cx="9153144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供应商软件与设备（交付形态各异，多数不可控）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10312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8B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536192"/>
            <a:ext cx="1883664" cy="1280160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1645919"/>
            <a:ext cx="1810512" cy="10607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测试用例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850" b="0">
                <a:solidFill>
                  <a:srgbClr val="4A4A45"/>
                </a:solidFill>
                <a:latin typeface="微软雅黑"/>
                <a:ea typeface="微软雅黑"/>
                <a:cs typeface="微软雅黑"/>
              </a:rPr>
              <a:t>pytest 用例 · TPS 编排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999232"/>
            <a:ext cx="1883664" cy="1280160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3108960"/>
            <a:ext cx="1810512" cy="10607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设备抽象层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850" b="0">
                <a:solidFill>
                  <a:srgbClr val="4A4A45"/>
                </a:solidFill>
                <a:latin typeface="微软雅黑"/>
                <a:ea typeface="微软雅黑"/>
                <a:cs typeface="微软雅黑"/>
              </a:rPr>
              <a:t>统一能力接口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4462272"/>
            <a:ext cx="1883664" cy="1280160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4572000"/>
            <a:ext cx="1810512" cy="10607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执行与追溯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850" b="0">
                <a:solidFill>
                  <a:srgbClr val="4A4A45"/>
                </a:solidFill>
                <a:latin typeface="微软雅黑"/>
                <a:ea typeface="微软雅黑"/>
                <a:cs typeface="微软雅黑"/>
              </a:rPr>
              <a:t>Runner 执行 · 结果归档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42032" y="1371600"/>
            <a:ext cx="0" cy="4526280"/>
          </a:xfrm>
          <a:prstGeom prst="line">
            <a:avLst/>
          </a:prstGeom>
          <a:ln w="16510">
            <a:solidFill>
              <a:srgbClr val="8B0F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76272" y="5943600"/>
            <a:ext cx="7315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接入边界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61488" y="1371600"/>
            <a:ext cx="9153144" cy="4526280"/>
          </a:xfrm>
          <a:prstGeom prst="roundRect">
            <a:avLst>
              <a:gd name="adj" fmla="val 3000"/>
            </a:avLst>
          </a:prstGeom>
          <a:solidFill>
            <a:srgbClr val="F6F6F3"/>
          </a:solidFill>
          <a:ln w="1270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07792" y="1463040"/>
            <a:ext cx="28620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99232" y="1554480"/>
            <a:ext cx="201168" cy="201168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84648" y="1563624"/>
            <a:ext cx="512064" cy="18288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4648" y="1563624"/>
            <a:ext cx="51206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网络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1517904"/>
            <a:ext cx="1856231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网口数量受限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1828800"/>
            <a:ext cx="2679191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设备仅 1 个业务网口，已被既有测试网占用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1463040"/>
            <a:ext cx="28620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89320" y="1554480"/>
            <a:ext cx="201168" cy="201168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4736" y="1563624"/>
            <a:ext cx="512064" cy="18288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4736" y="1563624"/>
            <a:ext cx="51206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网络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517904"/>
            <a:ext cx="1856231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网络策略封闭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1828800"/>
            <a:ext cx="2679191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仅放行固定主机与网段，策略由供应商掌握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87968" y="1463040"/>
            <a:ext cx="28620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79408" y="1554480"/>
            <a:ext cx="201168" cy="201168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164824" y="1563624"/>
            <a:ext cx="512064" cy="18288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64824" y="1563624"/>
            <a:ext cx="51206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网络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1517904"/>
            <a:ext cx="1856231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跨网隔离与网闸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9408" y="1828800"/>
            <a:ext cx="2679191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跨网只允许单向、指定端口，无法下发指令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07792" y="2578608"/>
            <a:ext cx="28620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999232" y="2670048"/>
            <a:ext cx="201168" cy="201168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84648" y="2679192"/>
            <a:ext cx="512064" cy="18288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84648" y="2679192"/>
            <a:ext cx="51206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接口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73552" y="2633472"/>
            <a:ext cx="1856231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无对外接口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99232" y="2944368"/>
            <a:ext cx="2679191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仅图形界面，无 CLI / API / 协议文档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97880" y="2578608"/>
            <a:ext cx="28620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989320" y="2670048"/>
            <a:ext cx="201168" cy="201168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74736" y="2679192"/>
            <a:ext cx="512064" cy="18288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74736" y="2679192"/>
            <a:ext cx="51206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接口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633472"/>
            <a:ext cx="1856231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物理接口不匹配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2944368"/>
            <a:ext cx="2679191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设备只有 GPIB / RS232，机箱无对应接口卡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87968" y="2578608"/>
            <a:ext cx="28620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979408" y="2670048"/>
            <a:ext cx="201168" cy="201168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164824" y="2679192"/>
            <a:ext cx="512064" cy="18288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164824" y="2679192"/>
            <a:ext cx="51206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环境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53728" y="2633472"/>
            <a:ext cx="1856231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无法安装 Runner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79408" y="2944368"/>
            <a:ext cx="2679191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封闭系统或只读镜像，禁止第三方程序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907792" y="3694176"/>
            <a:ext cx="28620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999232" y="3785616"/>
            <a:ext cx="201168" cy="201168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84648" y="3794760"/>
            <a:ext cx="512064" cy="18288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84648" y="3794760"/>
            <a:ext cx="51206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环境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73552" y="3749040"/>
            <a:ext cx="1856231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系统与位数锁定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99232" y="4059936"/>
            <a:ext cx="2679191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仅支持 Win7 / 32 位，与 Runner 环境冲突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897880" y="3694176"/>
            <a:ext cx="28620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89320" y="3785616"/>
            <a:ext cx="201168" cy="201168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74736" y="3794760"/>
            <a:ext cx="512064" cy="18288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74736" y="3794760"/>
            <a:ext cx="51206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环境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3749040"/>
            <a:ext cx="1856231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必须人工交互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4059936"/>
            <a:ext cx="2679191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需人工点击确认，无法无人值守长期运行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887968" y="3694176"/>
            <a:ext cx="28620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979408" y="3785616"/>
            <a:ext cx="201168" cy="201168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164824" y="3794760"/>
            <a:ext cx="512064" cy="18288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164824" y="3794760"/>
            <a:ext cx="51206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授权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53728" y="3749040"/>
            <a:ext cx="1856231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授权绑定 MAC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79408" y="4059936"/>
            <a:ext cx="2679191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绑定网卡 MAC 与机器指纹，迁机即失效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907792" y="4809744"/>
            <a:ext cx="28620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999232" y="4901184"/>
            <a:ext cx="201168" cy="201168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84648" y="4910328"/>
            <a:ext cx="512064" cy="18288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84648" y="4910328"/>
            <a:ext cx="51206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授权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73552" y="4864608"/>
            <a:ext cx="1856231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授权并发不足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99232" y="5175504"/>
            <a:ext cx="2679191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加密狗或单机授权少于测试台数，无法并行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897880" y="4809744"/>
            <a:ext cx="28620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989320" y="4901184"/>
            <a:ext cx="201168" cy="201168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74736" y="4910328"/>
            <a:ext cx="512064" cy="18288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174736" y="4910328"/>
            <a:ext cx="51206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合规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63640" y="4864608"/>
            <a:ext cx="1856231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合规不允许接入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89320" y="5175504"/>
            <a:ext cx="2679191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无签名驱动、高危端口，IT 策略拒绝入网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887968" y="4809744"/>
            <a:ext cx="28620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79408" y="4901184"/>
            <a:ext cx="201168" cy="201168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164824" y="4910328"/>
            <a:ext cx="512064" cy="18288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164824" y="4910328"/>
            <a:ext cx="51206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合规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53728" y="4864608"/>
            <a:ext cx="1856231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外网校验与回传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79408" y="5175504"/>
            <a:ext cx="2679191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需连供应商云激活并回传数据，产线无外网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6400800"/>
            <a:ext cx="11640312" cy="1280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4320" y="6446520"/>
            <a:ext cx="685800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十二个阻断点中，网络类 3 项、接口类 2 项、环境类 3 项、授权类 2 项、合规类 2 项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23760" y="6446520"/>
            <a:ext cx="469087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红色虚线为我方无法单方面突破的接入边界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01168"/>
            <a:ext cx="1088136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问题背景（二）· 阻断机理图解 ①–⑥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58368"/>
            <a:ext cx="11155680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逐项还原阻断发生的环节：端口被占、策略拒绝、单向网闸、无接口、接口不匹配、装不了代理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87552"/>
            <a:ext cx="11640312" cy="25603"/>
          </a:xfrm>
          <a:prstGeom prst="rect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3694176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444752"/>
            <a:ext cx="347472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① 网口数量受限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2834640"/>
            <a:ext cx="3474720" cy="6949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设备仅 1 个业务网口，且已被既有测试网占满；ATE 侧无法在同一条链路上并存接入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920240"/>
            <a:ext cx="1188720" cy="502920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供应商设备</a:t>
            </a:r>
          </a:p>
        </p:txBody>
      </p:sp>
      <p:sp>
        <p:nvSpPr>
          <p:cNvPr id="9" name="Rectangle 8"/>
          <p:cNvSpPr/>
          <p:nvPr/>
        </p:nvSpPr>
        <p:spPr>
          <a:xfrm>
            <a:off x="1572768" y="2084831"/>
            <a:ext cx="100584" cy="164592"/>
          </a:xfrm>
          <a:prstGeom prst="rect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673351" y="2167128"/>
            <a:ext cx="795528" cy="0"/>
          </a:xfrm>
          <a:prstGeom prst="line">
            <a:avLst/>
          </a:prstGeom>
          <a:ln w="12700">
            <a:solidFill>
              <a:srgbClr val="5C5C5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68879" y="1920240"/>
            <a:ext cx="11430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B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ATE 网络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7672" y="1892807"/>
            <a:ext cx="25603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468880"/>
            <a:ext cx="96012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唯一网口已占用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371600"/>
            <a:ext cx="3694176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1444752"/>
            <a:ext cx="347472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② 网络策略封闭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2834640"/>
            <a:ext cx="3474720" cy="6949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设备侧白名单只放行指定主机与网段，ATE 主机既不在白名单、也无法修改设备策略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1920240"/>
            <a:ext cx="1078992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B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ATE 10.0.5.99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13248" y="2167128"/>
            <a:ext cx="822960" cy="0"/>
          </a:xfrm>
          <a:prstGeom prst="line">
            <a:avLst/>
          </a:prstGeom>
          <a:ln w="12700">
            <a:solidFill>
              <a:srgbClr val="5C5C5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36208" y="1920240"/>
            <a:ext cx="1298448" cy="502920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设备（白名单）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6712" y="1892807"/>
            <a:ext cx="25603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468880"/>
            <a:ext cx="132588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仅放行 10.0.5.20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4736" y="1371600"/>
            <a:ext cx="3694176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3" y="1444752"/>
            <a:ext cx="347472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③ 跨网隔离与网闸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2834640"/>
            <a:ext cx="3474720" cy="6949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两网之间串接单向隔离装置，只允许设备侧数据上报，ATE 的下发指令到不了设备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84463" y="1901952"/>
            <a:ext cx="868680" cy="548640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设备网段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04703" y="1901952"/>
            <a:ext cx="1097280" cy="548640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测试网段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10343" y="1847088"/>
            <a:ext cx="365760" cy="658368"/>
          </a:xfrm>
          <a:prstGeom prst="rect">
            <a:avLst/>
          </a:prstGeom>
          <a:solidFill>
            <a:srgbClr val="2B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网闸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53143" y="2066543"/>
            <a:ext cx="457200" cy="0"/>
          </a:xfrm>
          <a:prstGeom prst="line">
            <a:avLst/>
          </a:prstGeom>
          <a:ln w="13970">
            <a:solidFill>
              <a:srgbClr val="5C5C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976103" y="2066543"/>
            <a:ext cx="228600" cy="0"/>
          </a:xfrm>
          <a:prstGeom prst="line">
            <a:avLst/>
          </a:prstGeom>
          <a:ln w="13970">
            <a:solidFill>
              <a:srgbClr val="5C5C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153143" y="2322576"/>
            <a:ext cx="1051560" cy="0"/>
          </a:xfrm>
          <a:prstGeom prst="line">
            <a:avLst/>
          </a:prstGeom>
          <a:ln w="13970">
            <a:solidFill>
              <a:srgbClr val="5C5C5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235439" y="2185416"/>
            <a:ext cx="25603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3143" y="2542032"/>
            <a:ext cx="173736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反向指令被网闸阻断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3703320"/>
            <a:ext cx="3694176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3776472"/>
            <a:ext cx="347472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④ 无对外接口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5166360"/>
            <a:ext cx="3474720" cy="6949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软件只有图形界面，无 CLI、API、协议文档；外部脚本无法触发动作、也无法取回数据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48" y="4233672"/>
            <a:ext cx="1298448" cy="530352"/>
          </a:xfrm>
          <a:prstGeom prst="roundRect">
            <a:avLst>
              <a:gd name="adj" fmla="val 4000"/>
            </a:avLst>
          </a:prstGeom>
          <a:solidFill>
            <a:srgbClr val="2B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供应商软件（仅 GUI）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56816" y="4142231"/>
            <a:ext cx="54864" cy="603504"/>
          </a:xfrm>
          <a:prstGeom prst="rect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304288" y="4233672"/>
            <a:ext cx="1298448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外部脚本 / 自动化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2011680" y="4507992"/>
            <a:ext cx="292608" cy="0"/>
          </a:xfrm>
          <a:prstGeom prst="line">
            <a:avLst/>
          </a:prstGeom>
          <a:ln w="12700">
            <a:solidFill>
              <a:srgbClr val="5C5C5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700784" y="4224527"/>
            <a:ext cx="25603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73936" y="4818888"/>
            <a:ext cx="173736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无 CLI / API / 协议文档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24528" y="3703320"/>
            <a:ext cx="3694176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34256" y="3776472"/>
            <a:ext cx="347472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⑤ 物理接口不匹配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34256" y="5166360"/>
            <a:ext cx="3474720" cy="6949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设备只提供 GPIB / RS232 等专用口，产线工控机没有对应接口卡与驱动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34256" y="4251959"/>
            <a:ext cx="1243584" cy="502920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设备：GPIB / RS232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577840" y="4498848"/>
            <a:ext cx="640080" cy="0"/>
          </a:xfrm>
          <a:prstGeom prst="line">
            <a:avLst/>
          </a:prstGeom>
          <a:ln w="12700">
            <a:solidFill>
              <a:srgbClr val="5C5C5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217920" y="4251959"/>
            <a:ext cx="1444752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B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工控机：仅 USB / 网口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9864" y="4224527"/>
            <a:ext cx="25603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31536" y="4800600"/>
            <a:ext cx="118872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无对应接口卡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74736" y="3703320"/>
            <a:ext cx="3694176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84463" y="3776472"/>
            <a:ext cx="347472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⑥ 无法安装 Runner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4463" y="5166360"/>
            <a:ext cx="3474720" cy="6949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交付系统封闭或镜像只读、无管理员权限，第三方执行代理无法安装与常驻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84463" y="4251959"/>
            <a:ext cx="1481328" cy="502920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封闭系统 / 只读镜像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765792" y="4498848"/>
            <a:ext cx="621792" cy="0"/>
          </a:xfrm>
          <a:prstGeom prst="line">
            <a:avLst/>
          </a:prstGeom>
          <a:ln w="12700">
            <a:solidFill>
              <a:srgbClr val="5C5C5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10387584" y="4288536"/>
            <a:ext cx="713232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8B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Runner</a:t>
            </a:r>
          </a:p>
        </p:txBody>
      </p:sp>
      <p:sp>
        <p:nvSpPr>
          <p:cNvPr id="56" name="&quot;No&quot; Symbol 55"/>
          <p:cNvSpPr/>
          <p:nvPr/>
        </p:nvSpPr>
        <p:spPr>
          <a:xfrm>
            <a:off x="10332719" y="4197096"/>
            <a:ext cx="841248" cy="841248"/>
          </a:xfrm>
          <a:prstGeom prst="noSmoking">
            <a:avLst/>
          </a:prstGeom>
          <a:noFill/>
          <a:ln w="30480">
            <a:solidFill>
              <a:srgbClr val="8B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66959" y="4206240"/>
            <a:ext cx="25603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02751" y="4818888"/>
            <a:ext cx="151790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禁止安装第三方程序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6400800"/>
            <a:ext cx="11640312" cy="1280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6446520"/>
            <a:ext cx="685800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① ② ③ 属网络与链路，④ ⑤ 属接口能力，⑥ 属运行环境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60" y="6446520"/>
            <a:ext cx="469087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红线为该格阻断发生的具体位置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01168"/>
            <a:ext cx="1088136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问题背景（三）· 阻断机理图解 ⑦–⑫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58368"/>
            <a:ext cx="11155680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运行环境的第二类冲突、人工依赖、授权与合规：能连上也未必跑得起来、跑得久、跑得起量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87552"/>
            <a:ext cx="11640312" cy="25603"/>
          </a:xfrm>
          <a:prstGeom prst="rect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3694176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444752"/>
            <a:ext cx="347472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⑦ 系统与位数锁定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2834640"/>
            <a:ext cx="3474720" cy="6949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软件只支持 Win7 / 32 位或特定内核版本，与 Runner 的 Win10 / 64 位环境不兼容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920240"/>
            <a:ext cx="1298448" cy="502920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Win7 / 32 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82495" y="2167128"/>
            <a:ext cx="548641" cy="0"/>
          </a:xfrm>
          <a:prstGeom prst="line">
            <a:avLst/>
          </a:prstGeom>
          <a:ln w="12700">
            <a:solidFill>
              <a:srgbClr val="5C5C5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31136" y="1920240"/>
            <a:ext cx="1481328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B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Win10 / 64 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92807"/>
            <a:ext cx="25603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1" y="2468880"/>
            <a:ext cx="132588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运行时环境冲突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371600"/>
            <a:ext cx="3694176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6" y="1444752"/>
            <a:ext cx="347472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⑧ 必须人工交互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2834640"/>
            <a:ext cx="3474720" cy="6949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软件无批处理模式，必须人工点击确认；无法作为服务常驻，产线做不到无人值守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1920240"/>
            <a:ext cx="1389888" cy="502920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软件界面（人工确认）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24144" y="2167128"/>
            <a:ext cx="530352" cy="0"/>
          </a:xfrm>
          <a:prstGeom prst="line">
            <a:avLst/>
          </a:prstGeom>
          <a:ln w="12700">
            <a:solidFill>
              <a:srgbClr val="5C5C5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54496" y="1920240"/>
            <a:ext cx="1408176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B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无人值守 / 后台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1304" y="1892807"/>
            <a:ext cx="25603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2468880"/>
            <a:ext cx="141732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无法 7×24 自动执行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371600"/>
            <a:ext cx="3694176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3" y="1444752"/>
            <a:ext cx="347472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⑨ 授权绑定 MAC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3" y="2834640"/>
            <a:ext cx="3474720" cy="6949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许可证绑定网卡 MAC 与机器指纹，迁机、换网卡、重装系统即失效，无法随平台复制部署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84463" y="1883664"/>
            <a:ext cx="877824" cy="585216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机器 A</a:t>
            </a:r>
          </a:p>
          <a:p>
            <a:pPr algn="ctr"/>
            <a:r>
              <a:rPr sz="75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MAC A1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73184" y="1920240"/>
            <a:ext cx="621792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8B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许可证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9162288" y="2176272"/>
            <a:ext cx="310896" cy="0"/>
          </a:xfrm>
          <a:prstGeom prst="line">
            <a:avLst/>
          </a:prstGeom>
          <a:ln w="13970">
            <a:solidFill>
              <a:srgbClr val="5C5C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479024" y="1883664"/>
            <a:ext cx="1005840" cy="585216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机器 B</a:t>
            </a:r>
          </a:p>
          <a:p>
            <a:pPr algn="ctr"/>
            <a:r>
              <a:rPr sz="75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MAC B2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94976" y="2176272"/>
            <a:ext cx="384048" cy="0"/>
          </a:xfrm>
          <a:prstGeom prst="line">
            <a:avLst/>
          </a:prstGeom>
          <a:ln w="13970">
            <a:solidFill>
              <a:srgbClr val="5C5C5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158983" y="1892807"/>
            <a:ext cx="25603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24543" y="2487168"/>
            <a:ext cx="7863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授权有效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31551" y="2487168"/>
            <a:ext cx="100584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迁机即失效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3703320"/>
            <a:ext cx="3694176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3776472"/>
            <a:ext cx="347472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⑩ 授权并发不足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5166360"/>
            <a:ext cx="3474720" cy="6949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单机授权或加密狗数量少于测试台数量，多台并行时只有一台能拿到许可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" y="4123944"/>
            <a:ext cx="768096" cy="274320"/>
          </a:xfrm>
          <a:prstGeom prst="roundRect">
            <a:avLst>
              <a:gd name="adj" fmla="val 4000"/>
            </a:avLst>
          </a:prstGeom>
          <a:solidFill>
            <a:srgbClr val="ECECEC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测试台 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68096" y="4398264"/>
            <a:ext cx="0" cy="292608"/>
          </a:xfrm>
          <a:prstGeom prst="line">
            <a:avLst/>
          </a:prstGeom>
          <a:ln w="12700">
            <a:solidFill>
              <a:srgbClr val="5C5C5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252728" y="4123944"/>
            <a:ext cx="768096" cy="274320"/>
          </a:xfrm>
          <a:prstGeom prst="roundRect">
            <a:avLst>
              <a:gd name="adj" fmla="val 4000"/>
            </a:avLst>
          </a:prstGeom>
          <a:solidFill>
            <a:srgbClr val="ECECEC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测试台 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636776" y="4398264"/>
            <a:ext cx="0" cy="292608"/>
          </a:xfrm>
          <a:prstGeom prst="line">
            <a:avLst/>
          </a:prstGeom>
          <a:ln w="12700">
            <a:solidFill>
              <a:srgbClr val="5C5C5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121408" y="4123944"/>
            <a:ext cx="768096" cy="274320"/>
          </a:xfrm>
          <a:prstGeom prst="roundRect">
            <a:avLst>
              <a:gd name="adj" fmla="val 4000"/>
            </a:avLst>
          </a:prstGeom>
          <a:solidFill>
            <a:srgbClr val="ECECEC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测试台 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505456" y="4398264"/>
            <a:ext cx="0" cy="292608"/>
          </a:xfrm>
          <a:prstGeom prst="line">
            <a:avLst/>
          </a:prstGeom>
          <a:ln w="12700">
            <a:solidFill>
              <a:srgbClr val="5C5C5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68096" y="4690872"/>
            <a:ext cx="1737360" cy="0"/>
          </a:xfrm>
          <a:prstGeom prst="line">
            <a:avLst/>
          </a:prstGeom>
          <a:ln w="12700">
            <a:solidFill>
              <a:srgbClr val="5C5C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636776" y="4690872"/>
            <a:ext cx="0" cy="73152"/>
          </a:xfrm>
          <a:prstGeom prst="line">
            <a:avLst/>
          </a:prstGeom>
          <a:ln w="12700">
            <a:solidFill>
              <a:srgbClr val="5C5C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179576" y="4764024"/>
            <a:ext cx="914400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8B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1 个加密狗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4407407"/>
            <a:ext cx="25603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39" y="4407407"/>
            <a:ext cx="25603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31136" y="4818888"/>
            <a:ext cx="100584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无法并行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24528" y="3703320"/>
            <a:ext cx="3694176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34256" y="3776472"/>
            <a:ext cx="347472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⑪ 合规不允许接入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34256" y="5166360"/>
            <a:ext cx="3474720" cy="6949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无代码签名、驱动未认证、开放高危端口或缺少审计日志，入网审批不通过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34256" y="4105655"/>
            <a:ext cx="1188720" cy="27432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3A3A35"/>
                </a:solidFill>
                <a:latin typeface="微软雅黑"/>
                <a:ea typeface="微软雅黑"/>
                <a:cs typeface="微软雅黑"/>
              </a:rPr>
              <a:t>无签名驱动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34256" y="4434840"/>
            <a:ext cx="1188720" cy="27432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3A3A35"/>
                </a:solidFill>
                <a:latin typeface="微软雅黑"/>
                <a:ea typeface="微软雅黑"/>
                <a:cs typeface="微软雅黑"/>
              </a:rPr>
              <a:t>开放高危端口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34256" y="4764023"/>
            <a:ext cx="1188720" cy="27432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3A3A35"/>
                </a:solidFill>
                <a:latin typeface="微软雅黑"/>
                <a:ea typeface="微软雅黑"/>
                <a:cs typeface="微软雅黑"/>
              </a:rPr>
              <a:t>无审计日志</a:t>
            </a:r>
          </a:p>
        </p:txBody>
      </p:sp>
      <p:sp>
        <p:nvSpPr>
          <p:cNvPr id="53" name="Hexagon 52"/>
          <p:cNvSpPr/>
          <p:nvPr/>
        </p:nvSpPr>
        <p:spPr>
          <a:xfrm>
            <a:off x="6181344" y="4306824"/>
            <a:ext cx="1325880" cy="640080"/>
          </a:xfrm>
          <a:prstGeom prst="hexagon">
            <a:avLst/>
          </a:prstGeom>
          <a:solidFill>
            <a:srgbClr val="2B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IT 安全策略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522976" y="4562856"/>
            <a:ext cx="658368" cy="0"/>
          </a:xfrm>
          <a:prstGeom prst="line">
            <a:avLst/>
          </a:prstGeom>
          <a:ln w="12700">
            <a:solidFill>
              <a:srgbClr val="5C5C5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724144" y="4297679"/>
            <a:ext cx="25603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74736" y="3703320"/>
            <a:ext cx="3694176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84463" y="3776472"/>
            <a:ext cx="347472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⑫ 外网校验与回传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4463" y="5166360"/>
            <a:ext cx="3474720" cy="6949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需连供应商云完成激活，并把工艺数据回传云端；产线无外网，数据也不允许出境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84463" y="4251959"/>
            <a:ext cx="1051560" cy="502920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供应商软件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336024" y="4498848"/>
            <a:ext cx="393191" cy="0"/>
          </a:xfrm>
          <a:prstGeom prst="line">
            <a:avLst/>
          </a:prstGeom>
          <a:ln w="12700">
            <a:solidFill>
              <a:srgbClr val="5C5C5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9729215" y="4160520"/>
            <a:ext cx="274320" cy="658368"/>
          </a:xfrm>
          <a:prstGeom prst="rect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6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无
外
网</a:t>
            </a:r>
          </a:p>
        </p:txBody>
      </p:sp>
      <p:sp>
        <p:nvSpPr>
          <p:cNvPr id="62" name="Cloud 61"/>
          <p:cNvSpPr/>
          <p:nvPr/>
        </p:nvSpPr>
        <p:spPr>
          <a:xfrm>
            <a:off x="10204703" y="4215383"/>
            <a:ext cx="1371600" cy="566928"/>
          </a:xfrm>
          <a:prstGeom prst="cloud">
            <a:avLst/>
          </a:prstGeom>
          <a:solidFill>
            <a:srgbClr val="ECECEC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供应商云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73183" y="4206240"/>
            <a:ext cx="25603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01784" y="4855464"/>
            <a:ext cx="1874519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无法激活 / 工艺数据外传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6400800"/>
            <a:ext cx="11640312" cy="1280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6446520"/>
            <a:ext cx="685800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⑦ ⑧ 属运行环境，⑨ ⑩ 属授权与商务，⑪ ⑫ 属合规与数据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23760" y="6446520"/>
            <a:ext cx="469087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红线为该格阻断发生的具体位置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01168"/>
            <a:ext cx="1088136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供应商设备软件的形态与 ATE 接入方式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58368"/>
            <a:ext cx="11155680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同一台设备可能同时提供多种形态；ATE 侧以统一的设备抽象层屏蔽差异，测试用例只面向能力接口编程，不直接依赖供应商实现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87552"/>
            <a:ext cx="11640312" cy="25603"/>
          </a:xfrm>
          <a:prstGeom prst="rect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192024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① ATE 测试执行层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0048" y="1097280"/>
            <a:ext cx="356616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② 设备抽象与适配层（对外统一能力接口，屏蔽形态差异）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03136" y="1097280"/>
            <a:ext cx="5111496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③ 供应商提供的软件形态（按提供方式分四类）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57984" y="3657600"/>
            <a:ext cx="420624" cy="310896"/>
          </a:xfrm>
          <a:prstGeom prst="rightArrow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6291072" y="3657600"/>
            <a:ext cx="420624" cy="310896"/>
          </a:xfrm>
          <a:prstGeom prst="rightArrow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371600"/>
            <a:ext cx="1920240" cy="4882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8B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4048" y="1517904"/>
            <a:ext cx="1700784" cy="1298448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3" y="1609344"/>
            <a:ext cx="1627632" cy="11155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测试用例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900" b="0">
                <a:solidFill>
                  <a:srgbClr val="4A4A45"/>
                </a:solidFill>
                <a:latin typeface="微软雅黑"/>
                <a:ea typeface="微软雅黑"/>
                <a:cs typeface="微软雅黑"/>
              </a:rPr>
              <a:t>pytest 用例 / 测试程序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145536"/>
            <a:ext cx="1700784" cy="1298448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3236976"/>
            <a:ext cx="1627632" cy="11155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能力调用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900" b="0">
                <a:solidFill>
                  <a:srgbClr val="4A4A45"/>
                </a:solidFill>
                <a:latin typeface="微软雅黑"/>
                <a:ea typeface="微软雅黑"/>
                <a:cs typeface="微软雅黑"/>
              </a:rPr>
              <a:t>连接 · 配置 · 触发 · 采集 · 判定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773168"/>
            <a:ext cx="1700784" cy="1298448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" y="4864607"/>
            <a:ext cx="1627632" cy="11155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结果与追溯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900" b="0">
                <a:solidFill>
                  <a:srgbClr val="4A4A45"/>
                </a:solidFill>
                <a:latin typeface="微软雅黑"/>
                <a:ea typeface="微软雅黑"/>
                <a:cs typeface="微软雅黑"/>
              </a:rPr>
              <a:t>测量值、判定、日志与报告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70048" y="1371600"/>
            <a:ext cx="3566160" cy="745236"/>
          </a:xfrm>
          <a:prstGeom prst="roundRect">
            <a:avLst>
              <a:gd name="adj" fmla="val 5000"/>
            </a:avLst>
          </a:prstGeom>
          <a:solidFill>
            <a:srgbClr val="FBFBF9"/>
          </a:solidFill>
          <a:ln w="1143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61488" y="1643634"/>
            <a:ext cx="201168" cy="201168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4096" y="1408176"/>
            <a:ext cx="3090672" cy="6720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C-ABI 封装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ctypes / CFFI 加载 DLL，按头文件声明结构体与函数原型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70048" y="2199132"/>
            <a:ext cx="3566160" cy="745236"/>
          </a:xfrm>
          <a:prstGeom prst="roundRect">
            <a:avLst>
              <a:gd name="adj" fmla="val 5000"/>
            </a:avLst>
          </a:prstGeom>
          <a:solidFill>
            <a:srgbClr val="FBFBF9"/>
          </a:solidFill>
          <a:ln w="1143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61488" y="2471166"/>
            <a:ext cx="201168" cy="201168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4096" y="2235708"/>
            <a:ext cx="3090672" cy="6720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Python 适配器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直接导入供应商包，包装为统一设备类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70048" y="3026663"/>
            <a:ext cx="3566160" cy="745236"/>
          </a:xfrm>
          <a:prstGeom prst="roundRect">
            <a:avLst>
              <a:gd name="adj" fmla="val 5000"/>
            </a:avLst>
          </a:prstGeom>
          <a:solidFill>
            <a:srgbClr val="FBFBF9"/>
          </a:solidFill>
          <a:ln w="1143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761488" y="3298697"/>
            <a:ext cx="201168" cy="201168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54096" y="3063239"/>
            <a:ext cx="3090672" cy="6720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VISA / SCPI 客户端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PyVISA 打开资源，按手册下发命令、解析响应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70048" y="3854196"/>
            <a:ext cx="3566160" cy="745236"/>
          </a:xfrm>
          <a:prstGeom prst="roundRect">
            <a:avLst>
              <a:gd name="adj" fmla="val 5000"/>
            </a:avLst>
          </a:prstGeom>
          <a:solidFill>
            <a:srgbClr val="FBFBF9"/>
          </a:solidFill>
          <a:ln w="1143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761488" y="4126229"/>
            <a:ext cx="201168" cy="201168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54096" y="3890772"/>
            <a:ext cx="3090672" cy="6720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COM / .NET 桥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comtypes 或 pythonnet 调 ActiveX、.NET 程序集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70048" y="4681728"/>
            <a:ext cx="3566160" cy="745236"/>
          </a:xfrm>
          <a:prstGeom prst="roundRect">
            <a:avLst>
              <a:gd name="adj" fmla="val 5000"/>
            </a:avLst>
          </a:prstGeom>
          <a:solidFill>
            <a:srgbClr val="FBFBF9"/>
          </a:solidFill>
          <a:ln w="1143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1488" y="4953762"/>
            <a:ext cx="201168" cy="201168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54096" y="4718304"/>
            <a:ext cx="3090672" cy="6720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进程调用器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subprocess 调厂商 exe，解析返回码与输出文件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70048" y="5509260"/>
            <a:ext cx="3566160" cy="745236"/>
          </a:xfrm>
          <a:prstGeom prst="roundRect">
            <a:avLst>
              <a:gd name="adj" fmla="val 5000"/>
            </a:avLst>
          </a:prstGeom>
          <a:solidFill>
            <a:srgbClr val="FBFBF9"/>
          </a:solidFill>
          <a:ln w="1143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1488" y="5781294"/>
            <a:ext cx="201168" cy="201168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54096" y="5545836"/>
            <a:ext cx="3090672" cy="6720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协议实现器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按私有协议手册自建串口 / CAN / TCP 报文收发与校验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03136" y="1371600"/>
            <a:ext cx="5111496" cy="274320"/>
          </a:xfrm>
          <a:prstGeom prst="roundRect">
            <a:avLst>
              <a:gd name="adj" fmla="val 4000"/>
            </a:avLst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94576" y="1371600"/>
            <a:ext cx="4928616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二进制接口类（随驱动包分发）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03136" y="1700784"/>
            <a:ext cx="2519172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76288" y="1700784"/>
            <a:ext cx="2171699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DLL + 头文件（C/C++ SDK）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02852" y="1828799"/>
            <a:ext cx="146304" cy="164592"/>
          </a:xfrm>
          <a:prstGeom prst="roundRect">
            <a:avLst>
              <a:gd name="adj" fmla="val 12000"/>
            </a:avLst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95460" y="1700784"/>
            <a:ext cx="2519172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68612" y="1700784"/>
            <a:ext cx="2171699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COM / ActiveX 组件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695176" y="1828799"/>
            <a:ext cx="146304" cy="164592"/>
          </a:xfrm>
          <a:prstGeom prst="roundRect">
            <a:avLst>
              <a:gd name="adj" fmla="val 12000"/>
            </a:avLst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03136" y="2176272"/>
            <a:ext cx="2519172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76288" y="2176272"/>
            <a:ext cx="2171699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.NET 程序集（含 NuGet）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02852" y="2304288"/>
            <a:ext cx="146304" cy="164592"/>
          </a:xfrm>
          <a:prstGeom prst="roundRect">
            <a:avLst>
              <a:gd name="adj" fmla="val 12000"/>
            </a:avLst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95460" y="2176272"/>
            <a:ext cx="2519172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68612" y="2176272"/>
            <a:ext cx="1988819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IVI / VXIplug&amp;play 驱动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512296" y="2304288"/>
            <a:ext cx="146304" cy="164592"/>
          </a:xfrm>
          <a:prstGeom prst="roundRect">
            <a:avLst>
              <a:gd name="adj" fmla="val 12000"/>
            </a:avLst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695176" y="2304288"/>
            <a:ext cx="146304" cy="164592"/>
          </a:xfrm>
          <a:prstGeom prst="roundRect">
            <a:avLst>
              <a:gd name="adj" fmla="val 12000"/>
            </a:avLst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03136" y="2871215"/>
            <a:ext cx="5111496" cy="274320"/>
          </a:xfrm>
          <a:prstGeom prst="roundRect">
            <a:avLst>
              <a:gd name="adj" fmla="val 4000"/>
            </a:avLst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94576" y="2871215"/>
            <a:ext cx="4928616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语言绑定类（按语言分发）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03136" y="3200399"/>
            <a:ext cx="2519172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76288" y="3200399"/>
            <a:ext cx="2171699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Python 库（whl / .pyd）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02852" y="3328415"/>
            <a:ext cx="146304" cy="164592"/>
          </a:xfrm>
          <a:prstGeom prst="roundRect">
            <a:avLst>
              <a:gd name="adj" fmla="val 12000"/>
            </a:avLst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95460" y="3200399"/>
            <a:ext cx="2519172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68612" y="3200399"/>
            <a:ext cx="2171699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LabVIEW VI 库 / 驱动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695176" y="3328415"/>
            <a:ext cx="146304" cy="164592"/>
          </a:xfrm>
          <a:prstGeom prst="roundRect">
            <a:avLst>
              <a:gd name="adj" fmla="val 12000"/>
            </a:avLst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803136" y="3675887"/>
            <a:ext cx="2519172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76288" y="3675887"/>
            <a:ext cx="2171699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MATLAB / .mex 工具箱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02852" y="3803904"/>
            <a:ext cx="146304" cy="164592"/>
          </a:xfrm>
          <a:prstGeom prst="roundRect">
            <a:avLst>
              <a:gd name="adj" fmla="val 12000"/>
            </a:avLst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395460" y="3675887"/>
            <a:ext cx="2519172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68612" y="3675887"/>
            <a:ext cx="2171699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Java JAR / JNI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1695176" y="3803904"/>
            <a:ext cx="146304" cy="164592"/>
          </a:xfrm>
          <a:prstGeom prst="roundRect">
            <a:avLst>
              <a:gd name="adj" fmla="val 12000"/>
            </a:avLst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803136" y="4370831"/>
            <a:ext cx="5111496" cy="274320"/>
          </a:xfrm>
          <a:prstGeom prst="roundRect">
            <a:avLst>
              <a:gd name="adj" fmla="val 4000"/>
            </a:avLst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94576" y="4370831"/>
            <a:ext cx="4928616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协议命令类（只给文档）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03136" y="4700016"/>
            <a:ext cx="2519172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76288" y="4700016"/>
            <a:ext cx="2171699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VISA 接口手册（SCPI 命令集）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102852" y="4828032"/>
            <a:ext cx="146304" cy="164592"/>
          </a:xfrm>
          <a:prstGeom prst="roundRect">
            <a:avLst>
              <a:gd name="adj" fmla="val 12000"/>
            </a:avLst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395460" y="4700016"/>
            <a:ext cx="2519172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468612" y="4700016"/>
            <a:ext cx="2171699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私有协议手册（串口 / CAN 报文）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1695176" y="4828032"/>
            <a:ext cx="146304" cy="164592"/>
          </a:xfrm>
          <a:prstGeom prst="roundRect">
            <a:avLst>
              <a:gd name="adj" fmla="val 12000"/>
            </a:avLst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03136" y="5394959"/>
            <a:ext cx="5111496" cy="274320"/>
          </a:xfrm>
          <a:prstGeom prst="roundRect">
            <a:avLst>
              <a:gd name="adj" fmla="val 4000"/>
            </a:avLst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94576" y="5394959"/>
            <a:ext cx="4928616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可执行与服务类（黑盒调用）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03136" y="5724144"/>
            <a:ext cx="2519172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76288" y="5724144"/>
            <a:ext cx="2171699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命令行工具（厂商 exe）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102852" y="5852160"/>
            <a:ext cx="146304" cy="164592"/>
          </a:xfrm>
          <a:prstGeom prst="roundRect">
            <a:avLst>
              <a:gd name="adj" fmla="val 12000"/>
            </a:avLst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395460" y="5724144"/>
            <a:ext cx="2519172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468612" y="5724144"/>
            <a:ext cx="2171699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REST / gRPC / Socket 服务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1695176" y="5852160"/>
            <a:ext cx="146304" cy="164592"/>
          </a:xfrm>
          <a:prstGeom prst="roundRect">
            <a:avLst>
              <a:gd name="adj" fmla="val 12000"/>
            </a:avLst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6400800"/>
            <a:ext cx="11640312" cy="1280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446520"/>
            <a:ext cx="685800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图例：① C-ABI 封装　② Python 适配器　③ VISA/SCPI 客户端　④ COM/.NET 桥　⑤ 进程调用　⑥ 协议实现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23760" y="6446520"/>
            <a:ext cx="469087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形态越靠「文档」，封装工作量越大；同一设备多形态时优先选二进制接口或官方 Python 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01168"/>
            <a:ext cx="1088136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整体运行流程 · 任务令驱动的测试闭环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58368"/>
            <a:ext cx="11155680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任务令下达 → 物料身份确认 → 用例自动执行 → 结果标准化 → MES 回传；每一环节写入同一追溯码，形成单件级可追溯闭环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87552"/>
            <a:ext cx="11640312" cy="25603"/>
          </a:xfrm>
          <a:prstGeom prst="rect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00200" y="1188720"/>
            <a:ext cx="2066543" cy="32918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1188720"/>
            <a:ext cx="2066543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① 任务令下达</a:t>
            </a:r>
          </a:p>
        </p:txBody>
      </p:sp>
      <p:sp>
        <p:nvSpPr>
          <p:cNvPr id="7" name="Rectangle 6"/>
          <p:cNvSpPr/>
          <p:nvPr/>
        </p:nvSpPr>
        <p:spPr>
          <a:xfrm>
            <a:off x="3666744" y="1188720"/>
            <a:ext cx="2066543" cy="32918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66744" y="1188720"/>
            <a:ext cx="2066543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② 物料确认</a:t>
            </a:r>
          </a:p>
        </p:txBody>
      </p:sp>
      <p:sp>
        <p:nvSpPr>
          <p:cNvPr id="9" name="Rectangle 8"/>
          <p:cNvSpPr/>
          <p:nvPr/>
        </p:nvSpPr>
        <p:spPr>
          <a:xfrm>
            <a:off x="5733288" y="1188720"/>
            <a:ext cx="2066543" cy="32918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33288" y="1188720"/>
            <a:ext cx="2066543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③ 任务派发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99831" y="1188720"/>
            <a:ext cx="2066543" cy="32918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9831" y="1188720"/>
            <a:ext cx="2066543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④ 用例执行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66376" y="1188720"/>
            <a:ext cx="2066543" cy="32918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66376" y="1188720"/>
            <a:ext cx="2066543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⑤ 结果与回传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72768"/>
            <a:ext cx="1298448" cy="914400"/>
          </a:xfrm>
          <a:prstGeom prst="rect">
            <a:avLst/>
          </a:prstGeom>
          <a:solidFill>
            <a:srgbClr val="ECECEC"/>
          </a:solidFill>
          <a:ln w="1016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" y="1572768"/>
            <a:ext cx="1261872" cy="9144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制造 IT / 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572768"/>
            <a:ext cx="1033272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487168"/>
            <a:ext cx="1298448" cy="914400"/>
          </a:xfrm>
          <a:prstGeom prst="rect">
            <a:avLst/>
          </a:prstGeom>
          <a:solidFill>
            <a:srgbClr val="ECECEC"/>
          </a:solidFill>
          <a:ln w="1016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2487168"/>
            <a:ext cx="1261872" cy="9144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产线终端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2487168"/>
            <a:ext cx="10332720" cy="914400"/>
          </a:xfrm>
          <a:prstGeom prst="rect">
            <a:avLst/>
          </a:prstGeom>
          <a:solidFill>
            <a:srgbClr val="FBFBF9"/>
          </a:solidFill>
          <a:ln w="1016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401568"/>
            <a:ext cx="1298448" cy="914400"/>
          </a:xfrm>
          <a:prstGeom prst="rect">
            <a:avLst/>
          </a:prstGeom>
          <a:solidFill>
            <a:srgbClr val="ECECEC"/>
          </a:solidFill>
          <a:ln w="1016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" y="3401568"/>
            <a:ext cx="1261872" cy="9144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ATE Controller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3401568"/>
            <a:ext cx="1033272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315968"/>
            <a:ext cx="1298448" cy="914400"/>
          </a:xfrm>
          <a:prstGeom prst="rect">
            <a:avLst/>
          </a:prstGeom>
          <a:solidFill>
            <a:srgbClr val="ECECEC"/>
          </a:solidFill>
          <a:ln w="1016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" y="4315968"/>
            <a:ext cx="1261872" cy="9144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Runner 执行机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4315968"/>
            <a:ext cx="10332720" cy="914400"/>
          </a:xfrm>
          <a:prstGeom prst="rect">
            <a:avLst/>
          </a:prstGeom>
          <a:solidFill>
            <a:srgbClr val="FBFBF9"/>
          </a:solidFill>
          <a:ln w="1016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5230368"/>
            <a:ext cx="1298448" cy="914400"/>
          </a:xfrm>
          <a:prstGeom prst="rect">
            <a:avLst/>
          </a:prstGeom>
          <a:solidFill>
            <a:srgbClr val="ECECEC"/>
          </a:solidFill>
          <a:ln w="1016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" y="5230368"/>
            <a:ext cx="1261872" cy="9144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测试数据中心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00200" y="5230368"/>
            <a:ext cx="1033272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741932" y="1746504"/>
            <a:ext cx="17830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05940" y="1938528"/>
            <a:ext cx="182880" cy="182880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97964" y="1783080"/>
            <a:ext cx="1481328" cy="4937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任务令下发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MES 生成工单待测清单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41932" y="2660904"/>
            <a:ext cx="17830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05940" y="2852928"/>
            <a:ext cx="182880" cy="182880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97964" y="2697480"/>
            <a:ext cx="1481328" cy="4937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工位领取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终端拉取任务令明细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08476" y="2660904"/>
            <a:ext cx="17830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872484" y="2852928"/>
            <a:ext cx="182880" cy="182880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4508" y="2697480"/>
            <a:ext cx="1481328" cy="4937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扫码确认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扫序列号，校验一致性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08476" y="3575304"/>
            <a:ext cx="17830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872484" y="3767328"/>
            <a:ext cx="182880" cy="182880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4508" y="3611880"/>
            <a:ext cx="1481328" cy="4937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防错校验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序列号 ↔ 工单 ↔ 台位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75020" y="3575304"/>
            <a:ext cx="17830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39028" y="3767328"/>
            <a:ext cx="182880" cy="182880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31052" y="3611880"/>
            <a:ext cx="1481328" cy="4937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任务派发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按台位下发测试任务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75020" y="4489704"/>
            <a:ext cx="17830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939028" y="4681728"/>
            <a:ext cx="182880" cy="182880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31052" y="4526280"/>
            <a:ext cx="1481328" cy="4937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用例执行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TPS / pytest 驱动设备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41564" y="4489704"/>
            <a:ext cx="17830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005572" y="4681728"/>
            <a:ext cx="182880" cy="182880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7596" y="4526280"/>
            <a:ext cx="1481328" cy="4937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原始结果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测量值 / 判定 / 日志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41564" y="5404104"/>
            <a:ext cx="17830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005572" y="5596128"/>
            <a:ext cx="182880" cy="182880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7596" y="5440680"/>
            <a:ext cx="1481328" cy="4937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结果标准化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统一字段 / 单位 / 追溯码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08108" y="5404104"/>
            <a:ext cx="17830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072116" y="5596128"/>
            <a:ext cx="182880" cy="182880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64140" y="5440680"/>
            <a:ext cx="1481328" cy="4937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任务令汇总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按工单聚合单件结论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008108" y="1746504"/>
            <a:ext cx="17830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072116" y="1938528"/>
            <a:ext cx="182880" cy="182880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64140" y="1783080"/>
            <a:ext cx="1481328" cy="4937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MES 回传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结果回传、任务令结案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633472" y="2313432"/>
            <a:ext cx="0" cy="347472"/>
          </a:xfrm>
          <a:prstGeom prst="line">
            <a:avLst/>
          </a:prstGeom>
          <a:ln w="19050">
            <a:solidFill>
              <a:srgbClr val="5C5C5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525012" y="2944368"/>
            <a:ext cx="283464" cy="0"/>
          </a:xfrm>
          <a:prstGeom prst="line">
            <a:avLst/>
          </a:prstGeom>
          <a:ln w="19050">
            <a:solidFill>
              <a:srgbClr val="5C5C5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700016" y="3227832"/>
            <a:ext cx="0" cy="347472"/>
          </a:xfrm>
          <a:prstGeom prst="line">
            <a:avLst/>
          </a:prstGeom>
          <a:ln w="19050">
            <a:solidFill>
              <a:srgbClr val="5C5C5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591556" y="3858768"/>
            <a:ext cx="283464" cy="0"/>
          </a:xfrm>
          <a:prstGeom prst="line">
            <a:avLst/>
          </a:prstGeom>
          <a:ln w="19050">
            <a:solidFill>
              <a:srgbClr val="5C5C5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766559" y="4142232"/>
            <a:ext cx="0" cy="347472"/>
          </a:xfrm>
          <a:prstGeom prst="line">
            <a:avLst/>
          </a:prstGeom>
          <a:ln w="19050">
            <a:solidFill>
              <a:srgbClr val="5C5C5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658100" y="4773168"/>
            <a:ext cx="283464" cy="0"/>
          </a:xfrm>
          <a:prstGeom prst="line">
            <a:avLst/>
          </a:prstGeom>
          <a:ln w="19050">
            <a:solidFill>
              <a:srgbClr val="5C5C5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833104" y="5056632"/>
            <a:ext cx="0" cy="347472"/>
          </a:xfrm>
          <a:prstGeom prst="line">
            <a:avLst/>
          </a:prstGeom>
          <a:ln w="19050">
            <a:solidFill>
              <a:srgbClr val="5C5C5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24644" y="5687568"/>
            <a:ext cx="283464" cy="0"/>
          </a:xfrm>
          <a:prstGeom prst="line">
            <a:avLst/>
          </a:prstGeom>
          <a:ln w="19050">
            <a:solidFill>
              <a:srgbClr val="5C5C5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899648" y="2313432"/>
            <a:ext cx="0" cy="3090672"/>
          </a:xfrm>
          <a:prstGeom prst="line">
            <a:avLst/>
          </a:prstGeom>
          <a:ln w="19050">
            <a:solidFill>
              <a:srgbClr val="5C5C5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00200" y="6199632"/>
            <a:ext cx="103327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追溯链：单件序列号为唯一主键，串联任务令、扫码记录、执行日志、标准化结果与回传回执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6400800"/>
            <a:ext cx="11640312" cy="1280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6446520"/>
            <a:ext cx="685800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闭环要点：任务令唯一标识贯穿扫码、执行、结果与回传；任一异常台位可按追溯码反查到单件与具体工步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3760" y="6446520"/>
            <a:ext cx="469087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回传失败进入重试队列，不阻塞下一件流转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01168"/>
            <a:ext cx="1088136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执行自动化原理 · 脚本化、环境、生命周期与人工介入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58368"/>
            <a:ext cx="11155680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流程自动化解决「按什么顺序做什么」，执行自动化解决「由谁、在什么环境里、把它跑对」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87552"/>
            <a:ext cx="11640312" cy="25603"/>
          </a:xfrm>
          <a:prstGeom prst="rect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entagon 4"/>
          <p:cNvSpPr/>
          <p:nvPr/>
        </p:nvSpPr>
        <p:spPr>
          <a:xfrm>
            <a:off x="274320" y="1188720"/>
            <a:ext cx="1664208" cy="457200"/>
          </a:xfrm>
          <a:prstGeom prst="homePlate">
            <a:avLst>
              <a:gd name="adj" fmla="val 28000"/>
            </a:avLst>
          </a:prstGeom>
          <a:solidFill>
            <a:srgbClr val="F8EDEC"/>
          </a:solidFill>
          <a:ln w="12700">
            <a:solidFill>
              <a:srgbClr val="8B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① 编排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1700784"/>
            <a:ext cx="1481328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脚本化</a:t>
            </a:r>
          </a:p>
        </p:txBody>
      </p:sp>
      <p:sp>
        <p:nvSpPr>
          <p:cNvPr id="7" name="Chevron 6"/>
          <p:cNvSpPr/>
          <p:nvPr/>
        </p:nvSpPr>
        <p:spPr>
          <a:xfrm>
            <a:off x="1920240" y="1188720"/>
            <a:ext cx="1664208" cy="457200"/>
          </a:xfrm>
          <a:prstGeom prst="chevron">
            <a:avLst>
              <a:gd name="adj" fmla="val 28000"/>
            </a:avLst>
          </a:prstGeom>
          <a:solidFill>
            <a:srgbClr val="F8EDEC"/>
          </a:solidFill>
          <a:ln w="12700">
            <a:solidFill>
              <a:srgbClr val="8B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② 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8256" y="1700784"/>
            <a:ext cx="1481328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自动部署</a:t>
            </a:r>
          </a:p>
        </p:txBody>
      </p:sp>
      <p:sp>
        <p:nvSpPr>
          <p:cNvPr id="9" name="Chevron 8"/>
          <p:cNvSpPr/>
          <p:nvPr/>
        </p:nvSpPr>
        <p:spPr>
          <a:xfrm>
            <a:off x="3566160" y="1188720"/>
            <a:ext cx="1664208" cy="457200"/>
          </a:xfrm>
          <a:prstGeom prst="chevron">
            <a:avLst>
              <a:gd name="adj" fmla="val 28000"/>
            </a:avLst>
          </a:prstGeom>
          <a:solidFill>
            <a:srgbClr val="F8EDEC"/>
          </a:solidFill>
          <a:ln w="12700">
            <a:solidFill>
              <a:srgbClr val="8B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③ 初始化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4176" y="1700784"/>
            <a:ext cx="1481328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建连 / 复位</a:t>
            </a:r>
          </a:p>
        </p:txBody>
      </p:sp>
      <p:sp>
        <p:nvSpPr>
          <p:cNvPr id="11" name="Chevron 10"/>
          <p:cNvSpPr/>
          <p:nvPr/>
        </p:nvSpPr>
        <p:spPr>
          <a:xfrm>
            <a:off x="5212080" y="1188720"/>
            <a:ext cx="1664208" cy="457200"/>
          </a:xfrm>
          <a:prstGeom prst="chevron">
            <a:avLst>
              <a:gd name="adj" fmla="val 28000"/>
            </a:avLst>
          </a:prstGeom>
          <a:solidFill>
            <a:srgbClr val="F8EDEC"/>
          </a:solidFill>
          <a:ln w="12700">
            <a:solidFill>
              <a:srgbClr val="8B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④ 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0096" y="1700784"/>
            <a:ext cx="1481328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驱动 + 人工</a:t>
            </a:r>
          </a:p>
        </p:txBody>
      </p:sp>
      <p:sp>
        <p:nvSpPr>
          <p:cNvPr id="13" name="Chevron 12"/>
          <p:cNvSpPr/>
          <p:nvPr/>
        </p:nvSpPr>
        <p:spPr>
          <a:xfrm>
            <a:off x="6858000" y="1188720"/>
            <a:ext cx="1664208" cy="457200"/>
          </a:xfrm>
          <a:prstGeom prst="chevron">
            <a:avLst>
              <a:gd name="adj" fmla="val 28000"/>
            </a:avLst>
          </a:prstGeom>
          <a:solidFill>
            <a:srgbClr val="F8EDEC"/>
          </a:solidFill>
          <a:ln w="12700">
            <a:solidFill>
              <a:srgbClr val="8B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⑤ 判定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6016" y="1700784"/>
            <a:ext cx="1481328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阈值 / 断言</a:t>
            </a:r>
          </a:p>
        </p:txBody>
      </p:sp>
      <p:sp>
        <p:nvSpPr>
          <p:cNvPr id="15" name="Chevron 14"/>
          <p:cNvSpPr/>
          <p:nvPr/>
        </p:nvSpPr>
        <p:spPr>
          <a:xfrm>
            <a:off x="8503920" y="1188720"/>
            <a:ext cx="1664208" cy="457200"/>
          </a:xfrm>
          <a:prstGeom prst="chevron">
            <a:avLst>
              <a:gd name="adj" fmla="val 28000"/>
            </a:avLst>
          </a:prstGeom>
          <a:solidFill>
            <a:srgbClr val="F8EDEC"/>
          </a:solidFill>
          <a:ln w="12700">
            <a:solidFill>
              <a:srgbClr val="8B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⑥ 终止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1936" y="1700784"/>
            <a:ext cx="1481328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释放 / 下电</a:t>
            </a:r>
          </a:p>
        </p:txBody>
      </p:sp>
      <p:sp>
        <p:nvSpPr>
          <p:cNvPr id="17" name="Chevron 16"/>
          <p:cNvSpPr/>
          <p:nvPr/>
        </p:nvSpPr>
        <p:spPr>
          <a:xfrm>
            <a:off x="10149840" y="1188720"/>
            <a:ext cx="1664208" cy="457200"/>
          </a:xfrm>
          <a:prstGeom prst="chevron">
            <a:avLst>
              <a:gd name="adj" fmla="val 28000"/>
            </a:avLst>
          </a:prstGeom>
          <a:solidFill>
            <a:srgbClr val="F8EDEC"/>
          </a:solidFill>
          <a:ln w="12700">
            <a:solidFill>
              <a:srgbClr val="8B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⑦ 归档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7856" y="1700784"/>
            <a:ext cx="1481328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结果标准化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029968"/>
            <a:ext cx="548640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一次执行的生命周期（时间轴）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2304288"/>
            <a:ext cx="2770632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4048" y="2414016"/>
            <a:ext cx="219456" cy="219456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2395728"/>
            <a:ext cx="2276856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测试流程脚本化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2724912"/>
            <a:ext cx="2551176" cy="47548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把测试意图写成可执行、可版本化的声明，而非口头工艺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236976"/>
            <a:ext cx="2587751" cy="786384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3291840"/>
            <a:ext cx="2441448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工步声明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>
                <a:solidFill>
                  <a:srgbClr val="3A3A35"/>
                </a:solidFill>
                <a:latin typeface="微软雅黑"/>
                <a:ea typeface="微软雅黑"/>
                <a:cs typeface="微软雅黑"/>
              </a:rPr>
              <a:t>TPS 声明工步顺序、参数与判定条件，逻辑不进代码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114800"/>
            <a:ext cx="2587751" cy="786384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4169663"/>
            <a:ext cx="2441448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用例生成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>
                <a:solidFill>
                  <a:srgbClr val="3A3A35"/>
                </a:solidFill>
                <a:latin typeface="微软雅黑"/>
                <a:ea typeface="微软雅黑"/>
                <a:cs typeface="微软雅黑"/>
              </a:rPr>
              <a:t>平台按模板渲染 pytest 用例文件，减少手写与漂移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992624"/>
            <a:ext cx="2587751" cy="786384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5047488"/>
            <a:ext cx="2441448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参数注入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>
                <a:solidFill>
                  <a:srgbClr val="3A3A35"/>
                </a:solidFill>
                <a:latin typeface="微软雅黑"/>
                <a:ea typeface="微软雅黑"/>
                <a:cs typeface="微软雅黑"/>
              </a:rPr>
              <a:t>设备连接、仿真模式、环境变量运行时注入，脚本不写死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27832" y="2304288"/>
            <a:ext cx="2770632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337560" y="2414016"/>
            <a:ext cx="219456" cy="219456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0168" y="2395728"/>
            <a:ext cx="2276856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软件与环境自动部署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2724912"/>
            <a:ext cx="2551176" cy="47548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执行前把「跑什么」与「在哪跑」一次性准备到位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19272" y="3236976"/>
            <a:ext cx="2587751" cy="786384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2424" y="3291840"/>
            <a:ext cx="2441448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随包分发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>
                <a:solidFill>
                  <a:srgbClr val="3A3A35"/>
                </a:solidFill>
                <a:latin typeface="微软雅黑"/>
                <a:ea typeface="微软雅黑"/>
                <a:cs typeface="微软雅黑"/>
              </a:rPr>
              <a:t>Runner、驱动包与依赖随安装包下发，现场免搭建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19272" y="4114800"/>
            <a:ext cx="2587751" cy="786384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2424" y="4169663"/>
            <a:ext cx="2441448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版本与指纹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>
                <a:solidFill>
                  <a:srgbClr val="3A3A35"/>
                </a:solidFill>
                <a:latin typeface="微软雅黑"/>
                <a:ea typeface="微软雅黑"/>
                <a:cs typeface="微软雅黑"/>
              </a:rPr>
              <a:t>启动校验版本、驱动与解释器指纹，不一致即拒绝执行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9272" y="4992624"/>
            <a:ext cx="2587751" cy="786384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92424" y="5047488"/>
            <a:ext cx="2441448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运行隔离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>
                <a:solidFill>
                  <a:srgbClr val="3A3A35"/>
                </a:solidFill>
                <a:latin typeface="微软雅黑"/>
                <a:ea typeface="微软雅黑"/>
                <a:cs typeface="微软雅黑"/>
              </a:rPr>
              <a:t>每任务独立运行目录，互不污染，执行后可完整回溯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81344" y="2304288"/>
            <a:ext cx="2770632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91072" y="2414016"/>
            <a:ext cx="219456" cy="219456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2395728"/>
            <a:ext cx="2276856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初始化与终止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1072" y="2724912"/>
            <a:ext cx="2551176" cy="47548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让每次执行都从确定状态开始、回到安全状态结束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72783" y="3236976"/>
            <a:ext cx="2587751" cy="786384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45936" y="3291840"/>
            <a:ext cx="2441448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初始化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>
                <a:solidFill>
                  <a:srgbClr val="3A3A35"/>
                </a:solidFill>
                <a:latin typeface="微软雅黑"/>
                <a:ea typeface="微软雅黑"/>
                <a:cs typeface="微软雅黑"/>
              </a:rPr>
              <a:t>建连、复位、量程与校准装载、仿真模式注入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72783" y="4114800"/>
            <a:ext cx="2587751" cy="786384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45936" y="4169663"/>
            <a:ext cx="2441448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终止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>
                <a:solidFill>
                  <a:srgbClr val="3A3A35"/>
                </a:solidFill>
                <a:latin typeface="微软雅黑"/>
                <a:ea typeface="微软雅黑"/>
                <a:cs typeface="微软雅黑"/>
              </a:rPr>
              <a:t>用例后置与会话收尾统一释放连接、下电、还原配置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72783" y="4992624"/>
            <a:ext cx="2587751" cy="786384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45936" y="5047488"/>
            <a:ext cx="2441448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异常兜底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>
                <a:solidFill>
                  <a:srgbClr val="3A3A35"/>
                </a:solidFill>
                <a:latin typeface="微软雅黑"/>
                <a:ea typeface="微软雅黑"/>
                <a:cs typeface="微软雅黑"/>
              </a:rPr>
              <a:t>失败与超时同样触发终止，避免设备被长期占用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34856" y="2304288"/>
            <a:ext cx="2770632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44584" y="2414016"/>
            <a:ext cx="219456" cy="219456"/>
          </a:xfrm>
          <a:prstGeom prst="ellipse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37192" y="2395728"/>
            <a:ext cx="2276856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人工参与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44584" y="2724912"/>
            <a:ext cx="2551176" cy="47548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把必须由人完成的动作变成流程里的显式节点，而非隐含操作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26296" y="3236976"/>
            <a:ext cx="2587751" cy="786384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99448" y="3291840"/>
            <a:ext cx="2441448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人工工步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>
                <a:solidFill>
                  <a:srgbClr val="3A3A35"/>
                </a:solidFill>
                <a:latin typeface="微软雅黑"/>
                <a:ea typeface="微软雅黑"/>
                <a:cs typeface="微软雅黑"/>
              </a:rPr>
              <a:t>扫码、装夹、目视判定以独立工步插入，不嵌进脚本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26296" y="4114800"/>
            <a:ext cx="2587751" cy="786384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99448" y="4169663"/>
            <a:ext cx="2441448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等待与放行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>
                <a:solidFill>
                  <a:srgbClr val="3A3A35"/>
                </a:solidFill>
                <a:latin typeface="微软雅黑"/>
                <a:ea typeface="微软雅黑"/>
                <a:cs typeface="微软雅黑"/>
              </a:rPr>
              <a:t>平台等待人工确认信号，超时按策略挂起或判失败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26296" y="4992624"/>
            <a:ext cx="2587751" cy="786384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99448" y="5047488"/>
            <a:ext cx="2441448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异常接管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>
                <a:solidFill>
                  <a:srgbClr val="3A3A35"/>
                </a:solidFill>
                <a:latin typeface="微软雅黑"/>
                <a:ea typeface="微软雅黑"/>
                <a:cs typeface="微软雅黑"/>
              </a:rPr>
              <a:t>自动步骤失败可转人工处置，并记录处置人与时间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961888"/>
            <a:ext cx="11640312" cy="1280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6035040"/>
            <a:ext cx="672084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四类机制共同保证：脚本可版本化、环境可复制、执行可终止、人工可插拔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60" y="6035040"/>
            <a:ext cx="4690872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任一机制缺失，自动化都会退化为人工点检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01168"/>
            <a:ext cx="1088136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测试设备授权方式 · 一拖多场景下的供应商授权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58368"/>
            <a:ext cx="11155680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一对多时授权能否共享，取决于供应商的计费口径：按机器、按并发、按仪器序列号，还是按物理加密狗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87552"/>
            <a:ext cx="11640312" cy="25603"/>
          </a:xfrm>
          <a:prstGeom prst="rect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78992"/>
            <a:ext cx="557784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授权形态与一拖多下的处理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16736"/>
            <a:ext cx="1417320" cy="292608"/>
          </a:xfrm>
          <a:prstGeom prst="rect">
            <a:avLst/>
          </a:prstGeom>
          <a:solidFill>
            <a:srgbClr val="E8F0F7"/>
          </a:solidFill>
          <a:ln w="889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335024"/>
            <a:ext cx="1307592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授权形态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316736"/>
            <a:ext cx="1097280" cy="292608"/>
          </a:xfrm>
          <a:prstGeom prst="rect">
            <a:avLst/>
          </a:prstGeom>
          <a:solidFill>
            <a:srgbClr val="E8F0F7"/>
          </a:solidFill>
          <a:ln w="889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46504" y="1335024"/>
            <a:ext cx="987552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计费口径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316736"/>
            <a:ext cx="3108960" cy="292608"/>
          </a:xfrm>
          <a:prstGeom prst="rect">
            <a:avLst/>
          </a:prstGeom>
          <a:solidFill>
            <a:srgbClr val="E8F0F7"/>
          </a:solidFill>
          <a:ln w="889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335024"/>
            <a:ext cx="2999232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一拖多下的处理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9344"/>
            <a:ext cx="14173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1627632"/>
            <a:ext cx="130759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节点锁定（绑主机 / MAC）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40" y="1609344"/>
            <a:ext cx="10972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46504" y="1627632"/>
            <a:ext cx="98755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按控制机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1609344"/>
            <a:ext cx="31089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43784" y="1627632"/>
            <a:ext cx="299923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集中部署在一台设备服务机上即可共享；分散到多台工控机则按机器数采购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76272"/>
            <a:ext cx="14173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2194560"/>
            <a:ext cx="130759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浮动许可（并发令牌）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2176272"/>
            <a:ext cx="10972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46504" y="2194560"/>
            <a:ext cx="98755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按并发实例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88920" y="2176272"/>
            <a:ext cx="31089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43784" y="2194560"/>
            <a:ext cx="299923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最适合一拖多：按同时执行的台数占用，排队即可复用少量许可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743200"/>
            <a:ext cx="14173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" y="2761488"/>
            <a:ext cx="130759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仪器序列号绑定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91640" y="2743200"/>
            <a:ext cx="10972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46504" y="2761488"/>
            <a:ext cx="98755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按仪器台数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2743200"/>
            <a:ext cx="31089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43784" y="2761488"/>
            <a:ext cx="299923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不可共享，几台仪器几份；一拖多采购需按最大台数申报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310128"/>
            <a:ext cx="14173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" y="3328416"/>
            <a:ext cx="130759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加密狗（USB Key）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91640" y="3310128"/>
            <a:ext cx="10972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46504" y="3328416"/>
            <a:ext cx="98755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按物理狗数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88920" y="3310128"/>
            <a:ext cx="31089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43784" y="3328416"/>
            <a:ext cx="299923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用网络狗服务器集中托管，避免逐台插拔、丢失与 USB 口占用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877056"/>
            <a:ext cx="14173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" y="3895344"/>
            <a:ext cx="130759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通道 / 端口数授权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91640" y="3877056"/>
            <a:ext cx="10972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46504" y="3895344"/>
            <a:ext cx="98755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按通道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88920" y="3877056"/>
            <a:ext cx="31089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43784" y="3895344"/>
            <a:ext cx="299923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注意单机通道上限，一拖多并行时容易触顶，需预留余量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443984"/>
            <a:ext cx="14173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" y="4462272"/>
            <a:ext cx="130759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云订阅 / 在线校验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91640" y="4443984"/>
            <a:ext cx="10972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46504" y="4462272"/>
            <a:ext cx="98755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按账号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88920" y="4443984"/>
            <a:ext cx="31089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43784" y="4462272"/>
            <a:ext cx="299923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需出网代理；离线环境改用离线激活文件或本地许可服务器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5175504"/>
            <a:ext cx="5623560" cy="731520"/>
          </a:xfrm>
          <a:prstGeom prst="roundRect">
            <a:avLst>
              <a:gd name="adj" fmla="val 4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5212080"/>
            <a:ext cx="5440680" cy="6583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3A3A35"/>
                </a:solidFill>
                <a:latin typeface="微软雅黑"/>
                <a:ea typeface="微软雅黑"/>
                <a:cs typeface="微软雅黑"/>
              </a:rPr>
              <a:t>选型建议：优先争取浮动许可（按并发计费）；只能节点锁定时，把供应商软件集中到一台设备服务机，由代理进程对外提供能力；仪器序列号绑定的无法靠架构绕开，只能按台数采购。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26480" y="1316736"/>
            <a:ext cx="5788152" cy="45902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1430">
            <a:solidFill>
              <a:srgbClr val="D9D6C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54496" y="1389888"/>
            <a:ext cx="553212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A8A8A2"/>
                </a:solidFill>
                <a:latin typeface="微软雅黑"/>
                <a:ea typeface="微软雅黑"/>
                <a:cs typeface="微软雅黑"/>
              </a:rPr>
              <a:t>预留区：本项目各供应商的授权清单与确认结果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6400800"/>
            <a:ext cx="11640312" cy="1280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446520"/>
            <a:ext cx="685800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左侧为授权形态与一拖多下的可行性判断；右侧留白用于填写现场清单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6446520"/>
            <a:ext cx="469087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计费口径决定架构：能共享的走集中部署，不能共享的只能按数量采购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01168"/>
            <a:ext cx="1088136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调用链路与 Runner 内部逻辑视图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58368"/>
            <a:ext cx="11155680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三层边界一次看清：整个调用链路、Runner 内部分层、测试台拓扑；耦合只走接口与进程边界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87552"/>
            <a:ext cx="11640312" cy="25603"/>
          </a:xfrm>
          <a:prstGeom prst="rect">
            <a:avLst/>
          </a:prstGeom>
          <a:solidFill>
            <a:srgbClr val="8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60704"/>
            <a:ext cx="804672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① 整个调用链路（粗粒度）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35024"/>
            <a:ext cx="105156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353312"/>
            <a:ext cx="978407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前端 SPA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</a:pPr>
            <a:r>
              <a:rPr sz="7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任务与执行界面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1335024"/>
            <a:ext cx="105156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6776" y="1353312"/>
            <a:ext cx="978407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后端 API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</a:pPr>
            <a:r>
              <a:rPr sz="7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FastAPI 路由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79" y="1335024"/>
            <a:ext cx="105156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2656" y="1353312"/>
            <a:ext cx="978407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Controller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</a:pPr>
            <a:r>
              <a:rPr sz="7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调度与占用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1335024"/>
            <a:ext cx="105156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88536" y="1353312"/>
            <a:ext cx="978407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Runner 进程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</a:pPr>
            <a:r>
              <a:rPr sz="7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执行代理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1335024"/>
            <a:ext cx="105156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14416" y="1353312"/>
            <a:ext cx="978407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驱动适配层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</a:pPr>
            <a:r>
              <a:rPr sz="7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统一能力接口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335024"/>
            <a:ext cx="105156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0296" y="1353312"/>
            <a:ext cx="978407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仪器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</a:pPr>
            <a:r>
              <a:rPr sz="7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VISA / 串口 / CAN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25880" y="1581912"/>
            <a:ext cx="274320" cy="0"/>
          </a:xfrm>
          <a:prstGeom prst="line">
            <a:avLst/>
          </a:prstGeom>
          <a:ln w="16510">
            <a:solidFill>
              <a:srgbClr val="5C5C5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69848" y="1865376"/>
            <a:ext cx="786384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HTTP / JSON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51760" y="1581912"/>
            <a:ext cx="274320" cy="0"/>
          </a:xfrm>
          <a:prstGeom prst="line">
            <a:avLst/>
          </a:prstGeom>
          <a:ln w="16510">
            <a:solidFill>
              <a:srgbClr val="5C5C5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395728" y="1865376"/>
            <a:ext cx="786384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REST 调用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77639" y="1581912"/>
            <a:ext cx="274320" cy="0"/>
          </a:xfrm>
          <a:prstGeom prst="line">
            <a:avLst/>
          </a:prstGeom>
          <a:ln w="16510">
            <a:solidFill>
              <a:srgbClr val="5C5C5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21607" y="1865376"/>
            <a:ext cx="786384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任务 + 参数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03519" y="1581912"/>
            <a:ext cx="274320" cy="0"/>
          </a:xfrm>
          <a:prstGeom prst="line">
            <a:avLst/>
          </a:prstGeom>
          <a:ln w="16510">
            <a:solidFill>
              <a:srgbClr val="5C5C5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47487" y="1865376"/>
            <a:ext cx="786384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进程内 import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29400" y="1581912"/>
            <a:ext cx="274320" cy="0"/>
          </a:xfrm>
          <a:prstGeom prst="line">
            <a:avLst/>
          </a:prstGeom>
          <a:ln w="16510">
            <a:solidFill>
              <a:srgbClr val="5C5C5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73368" y="1865376"/>
            <a:ext cx="786384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VISA / 串口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2157984"/>
            <a:ext cx="804672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② ATE Runner 内部逻辑视图（自上而下五层）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2432304"/>
            <a:ext cx="1188720" cy="566928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" y="2432304"/>
            <a:ext cx="111556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L5 入口层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36192" y="2432304"/>
            <a:ext cx="416052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91056" y="2450592"/>
            <a:ext cx="4050791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task-agent / CLI：接收任务、校验版本与指纹、登记执行上下文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9864" y="2432304"/>
            <a:ext cx="2377440" cy="566928"/>
          </a:xfrm>
          <a:prstGeom prst="roundRect">
            <a:avLst>
              <a:gd name="adj" fmla="val 5000"/>
            </a:avLst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24728" y="2450592"/>
            <a:ext cx="226771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耦合：同进程函数调用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3090672"/>
            <a:ext cx="1188720" cy="566928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3090672"/>
            <a:ext cx="111556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L4 编排层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36192" y="3090672"/>
            <a:ext cx="416052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91056" y="3108960"/>
            <a:ext cx="4050791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workspace / manifest / 模板：建运行目录、渲染用例、注入环境变量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9864" y="3090672"/>
            <a:ext cx="2377440" cy="566928"/>
          </a:xfrm>
          <a:prstGeom prst="roundRect">
            <a:avLst>
              <a:gd name="adj" fmla="val 5000"/>
            </a:avLst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24728" y="3108960"/>
            <a:ext cx="226771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耦合：子进程 python -m pytest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3749039"/>
            <a:ext cx="1188720" cy="566928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3749039"/>
            <a:ext cx="111556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L3 执行层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36192" y="3749039"/>
            <a:ext cx="416052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91056" y="3767327"/>
            <a:ext cx="4050791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pytest 进程 + conftest 夹具：会话建连、用例前后置、结果聚合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69864" y="3749039"/>
            <a:ext cx="2377440" cy="566928"/>
          </a:xfrm>
          <a:prstGeom prst="roundRect">
            <a:avLst>
              <a:gd name="adj" fmla="val 5000"/>
            </a:avLst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24728" y="3767327"/>
            <a:ext cx="226771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耦合：同进程 import（夹具注入）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" y="4407407"/>
            <a:ext cx="1188720" cy="566928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" y="4407407"/>
            <a:ext cx="111556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L2 适配层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536192" y="4407407"/>
            <a:ext cx="416052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91056" y="4425695"/>
            <a:ext cx="4050791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drivers：factory / transport / scpi / models，统一能力接口与错误模型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69864" y="4407407"/>
            <a:ext cx="2377440" cy="566928"/>
          </a:xfrm>
          <a:prstGeom prst="roundRect">
            <a:avLst>
              <a:gd name="adj" fmla="val 5000"/>
            </a:avLst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24728" y="4425695"/>
            <a:ext cx="226771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耦合：对象组合（transport 注入）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4320" y="5065775"/>
            <a:ext cx="1188720" cy="566928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0896" y="5065775"/>
            <a:ext cx="111556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L1 传输层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536192" y="5065775"/>
            <a:ext cx="416052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91056" y="5084063"/>
            <a:ext cx="4050791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VISA / socket / serial / CAN：报文收发、超时、重试与粘包处理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769864" y="5065775"/>
            <a:ext cx="2377440" cy="566928"/>
          </a:xfrm>
          <a:prstGeom prst="roundRect">
            <a:avLst>
              <a:gd name="adj" fmla="val 5000"/>
            </a:avLst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24728" y="5084063"/>
            <a:ext cx="226771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耦合：外部协议（至仪器）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" y="5724144"/>
            <a:ext cx="786384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耦合原则：上层只依赖下层接口、不依赖实现；跨进程边界一律以「运行目录 + 环境变量 + 退出码」传递，便于替换与仿真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1060704"/>
            <a:ext cx="338328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8B0F1A"/>
                </a:solidFill>
                <a:latin typeface="微软雅黑"/>
                <a:ea typeface="微软雅黑"/>
                <a:cs typeface="微软雅黑"/>
              </a:rPr>
              <a:t>③ 测试台可能拓扑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503920" y="1335024"/>
            <a:ext cx="3410712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13648" y="1408176"/>
            <a:ext cx="3191256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T1 单站单台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613648" y="1737360"/>
            <a:ext cx="932688" cy="347472"/>
          </a:xfrm>
          <a:prstGeom prst="roundRect">
            <a:avLst>
              <a:gd name="adj" fmla="val 4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控制机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564624" y="1911095"/>
            <a:ext cx="109728" cy="0"/>
          </a:xfrm>
          <a:prstGeom prst="line">
            <a:avLst/>
          </a:prstGeom>
          <a:ln w="13970">
            <a:solidFill>
              <a:srgbClr val="5C5C5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9692640" y="1737360"/>
            <a:ext cx="932688" cy="347472"/>
          </a:xfrm>
          <a:prstGeom prst="roundRect">
            <a:avLst>
              <a:gd name="adj" fmla="val 4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测试台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0643615" y="1911095"/>
            <a:ext cx="109729" cy="0"/>
          </a:xfrm>
          <a:prstGeom prst="line">
            <a:avLst/>
          </a:prstGeom>
          <a:ln w="13970">
            <a:solidFill>
              <a:srgbClr val="5C5C5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10771632" y="1737360"/>
            <a:ext cx="932688" cy="347472"/>
          </a:xfrm>
          <a:prstGeom prst="roundRect">
            <a:avLst>
              <a:gd name="adj" fmla="val 4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仪器 ×N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13648" y="2267712"/>
            <a:ext cx="3191256" cy="42062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一台控制机带一个测试台，台内多台仪器共用一条链路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503920" y="2862072"/>
            <a:ext cx="3410712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13648" y="2935224"/>
            <a:ext cx="3191256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T2 一控多台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613648" y="3264408"/>
            <a:ext cx="1325880" cy="347472"/>
          </a:xfrm>
          <a:prstGeom prst="roundRect">
            <a:avLst>
              <a:gd name="adj" fmla="val 4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控制机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9957815" y="3438144"/>
            <a:ext cx="109729" cy="0"/>
          </a:xfrm>
          <a:prstGeom prst="line">
            <a:avLst/>
          </a:prstGeom>
          <a:ln w="13970">
            <a:solidFill>
              <a:srgbClr val="5C5C5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10085832" y="3264408"/>
            <a:ext cx="1325880" cy="347472"/>
          </a:xfrm>
          <a:prstGeom prst="roundRect">
            <a:avLst>
              <a:gd name="adj" fmla="val 4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测试台 ×3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13648" y="3794760"/>
            <a:ext cx="3191256" cy="42062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多台并行或排队执行，Runner 多实例或单实例串行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503920" y="4389120"/>
            <a:ext cx="3410712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13648" y="4462272"/>
            <a:ext cx="3191256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T3 分布式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613648" y="4791456"/>
            <a:ext cx="932688" cy="347472"/>
          </a:xfrm>
          <a:prstGeom prst="roundRect">
            <a:avLst>
              <a:gd name="adj" fmla="val 4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Controller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564624" y="4965192"/>
            <a:ext cx="109728" cy="0"/>
          </a:xfrm>
          <a:prstGeom prst="line">
            <a:avLst/>
          </a:prstGeom>
          <a:ln w="13970">
            <a:solidFill>
              <a:srgbClr val="5C5C5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9692640" y="4791456"/>
            <a:ext cx="932688" cy="347472"/>
          </a:xfrm>
          <a:prstGeom prst="roundRect">
            <a:avLst>
              <a:gd name="adj" fmla="val 4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Runner ×3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0643615" y="4965192"/>
            <a:ext cx="109729" cy="0"/>
          </a:xfrm>
          <a:prstGeom prst="line">
            <a:avLst/>
          </a:prstGeom>
          <a:ln w="13970">
            <a:solidFill>
              <a:srgbClr val="5C5C5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10771632" y="4791456"/>
            <a:ext cx="932688" cy="347472"/>
          </a:xfrm>
          <a:prstGeom prst="roundRect">
            <a:avLst>
              <a:gd name="adj" fmla="val 4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仪器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13648" y="5321808"/>
            <a:ext cx="3191256" cy="42062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各测试台独立工控机，Controller 统一调度与汇总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6400800"/>
            <a:ext cx="11640312" cy="1280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446520"/>
            <a:ext cx="685800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① 每段链路以显式接口收敛，便于替换；② 五层自上而下只向下依赖；③ 拓扑差异由实例数与部署位置吸收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6446520"/>
            <a:ext cx="469087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>
                <a:solidFill>
                  <a:srgbClr val="5C5C56"/>
                </a:solidFill>
                <a:latin typeface="微软雅黑"/>
                <a:ea typeface="微软雅黑"/>
                <a:cs typeface="微软雅黑"/>
              </a:rPr>
              <a:t>同一份用例在三种拓扑下不改代码，只改部署参数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供应商设备软件的形态与 ATE 接入方式</dc:title>
  <dc:subject>供应商软件接入：阻断点、形态适配、运行流程、执行原理与授权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