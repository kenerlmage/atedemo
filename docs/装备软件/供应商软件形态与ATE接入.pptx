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问题背景（一）· 供应商软件接入的十二个阻断点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阻断点分布在网络、接口、运行环境、授权、合规五个方向；边界右侧的问题多需供应商配合，或在我方侧以代理、旁路方式绕开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210312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ATE 平台（我方可控）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61488" y="1078992"/>
            <a:ext cx="9153144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供应商软件与设备（交付形态各异，多数不可控）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210312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" y="153619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645919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· TPS 编排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99923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3108960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设备抽象层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统一能力接口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4462272"/>
            <a:ext cx="1883664" cy="128016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4572000"/>
            <a:ext cx="1810512" cy="10607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执行与追溯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85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Runner 执行 · 结果归档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42032" y="1371600"/>
            <a:ext cx="0" cy="4526280"/>
          </a:xfrm>
          <a:prstGeom prst="line">
            <a:avLst/>
          </a:prstGeom>
          <a:ln w="16510">
            <a:solidFill>
              <a:srgbClr val="8B0F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176272" y="5943600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接入边界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1371600"/>
            <a:ext cx="9153144" cy="4526280"/>
          </a:xfrm>
          <a:prstGeom prst="roundRect">
            <a:avLst>
              <a:gd name="adj" fmla="val 3000"/>
            </a:avLst>
          </a:prstGeom>
          <a:solidFill>
            <a:srgbClr val="F6F6F3"/>
          </a:solidFill>
          <a:ln w="1270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07792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99232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84648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4648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网口数量受限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9232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设备仅 1 个业务网口，已被既有测试网占用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89320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网络策略封闭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仅放行固定主机与网段，策略由供应商掌握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87968" y="1463040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979408" y="1554480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164824" y="1563624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64824" y="1563624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网络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1517904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跨网隔离与网闸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79408" y="1828800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跨网只允许单向、指定端口，无法下发指令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07792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999232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4648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84648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73552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无对外接口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99232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仅图形界面，无 CLI / API / 协议文档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97880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989320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74736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74736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接口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物理接口不匹配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设备只有 GPIB / RS232，机箱无对应接口卡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87968" y="2578608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79408" y="2670048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164824" y="2679192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164824" y="2679192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53728" y="2633472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无法安装 Runner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2944368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封闭系统或只读镜像，禁止第三方程序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07792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999232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4648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84648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系统与位数锁定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9232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仅支持 Win7 / 32 位，与 Runner 环境冲突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897880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989320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74736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环境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必须人工交互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需人工点击确认，无法无人值守长期运行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887968" y="3694176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979408" y="378561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164824" y="3794760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164824" y="3794760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53728" y="3749040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授权绑定 MAC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79408" y="4059936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绑定网卡 MAC 与机器指纹，迁机即失效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907792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999232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4648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184648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73552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授权并发不足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99232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加密狗或单机授权少于测试台数，无法并行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897880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989320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174736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174736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63640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合规不允许接入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无签名驱动、高危端口，IT 策略拒绝入网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87968" y="4809744"/>
            <a:ext cx="286207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979408" y="490118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164824" y="4910328"/>
            <a:ext cx="512064" cy="18288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164824" y="4910328"/>
            <a:ext cx="51206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3728" y="4864608"/>
            <a:ext cx="1856231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外网校验与回传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5175504"/>
            <a:ext cx="2679191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需连供应商云激活并回传数据，产线无外网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十二个阻断点中，网络类 3 项、接口类 2 项、环境类 3 项、授权类 2 项、合规类 2 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红色虚线为我方无法单方面突破的接入边界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问题背景（二）· 阻断机理图解 ①–⑥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逐项还原阻断发生的环节：端口被占、策略拒绝、单向网闸、无接口、接口不匹配、装不了代理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① 网口数量受限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设备仅 1 个业务网口，且已被既有测试网占满；ATE 侧无法在同一条链路上并存接入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920240"/>
            <a:ext cx="1188720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84831"/>
            <a:ext cx="100584" cy="164592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673351" y="2167128"/>
            <a:ext cx="79552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68879" y="1920240"/>
            <a:ext cx="114300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767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468880"/>
            <a:ext cx="9601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唯一网口已占用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6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② 网络策略封闭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设备侧白名单只放行指定主机与网段，ATE 主机既不在白名单、也无法修改设备策略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920240"/>
            <a:ext cx="1078992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10.0.5.99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13248" y="2167128"/>
            <a:ext cx="822960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36208" y="1920240"/>
            <a:ext cx="129844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设备（白名单）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6712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468880"/>
            <a:ext cx="132588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仅放行 10.0.5.20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6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③ 跨网隔离与网闸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3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两网之间串接单向隔离装置，只允许设备侧数据上报，ATE 的下发指令到不了设备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3" y="1901952"/>
            <a:ext cx="868680" cy="54864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设备网段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04703" y="1901952"/>
            <a:ext cx="1097280" cy="54864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测试网段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0343" y="1847088"/>
            <a:ext cx="365760" cy="658368"/>
          </a:xfrm>
          <a:prstGeom prst="rect">
            <a:avLst/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53143" y="2066543"/>
            <a:ext cx="457200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976103" y="2066543"/>
            <a:ext cx="228600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153143" y="2322576"/>
            <a:ext cx="1051560" cy="0"/>
          </a:xfrm>
          <a:prstGeom prst="line">
            <a:avLst/>
          </a:prstGeom>
          <a:ln w="1397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235439" y="2185416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3143" y="2542032"/>
            <a:ext cx="17373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反向指令被网闸阻断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④ 无对外接口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软件只有图形界面，无 CLI、API、协议文档；外部脚本无法触发动作、也无法取回数据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4048" y="4233672"/>
            <a:ext cx="1298448" cy="530352"/>
          </a:xfrm>
          <a:prstGeom prst="roundRect">
            <a:avLst>
              <a:gd name="adj" fmla="val 4000"/>
            </a:avLst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供应商软件（仅 GUI）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56816" y="4142231"/>
            <a:ext cx="54864" cy="603504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304288" y="4233672"/>
            <a:ext cx="1298448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外部脚本 / 自动化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11680" y="4507992"/>
            <a:ext cx="29260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00784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73936" y="4818888"/>
            <a:ext cx="17373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 CLI / API / 协议文档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4528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34256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⑤ 物理接口不匹配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6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设备只提供 GPIB / RS232 等专用口，产线工控机没有对应接口卡与驱动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34256" y="4251959"/>
            <a:ext cx="1243584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设备：GPIB / RS232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0" y="4498848"/>
            <a:ext cx="640080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217920" y="4251959"/>
            <a:ext cx="1444752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工控机：仅 USB / 网口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9864" y="422452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31536" y="4800600"/>
            <a:ext cx="11887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无对应接口卡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74736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3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⑥ 无法安装 Runner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3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交付系统封闭或镜像只读、无管理员权限，第三方执行代理无法安装与常驻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84463" y="4251959"/>
            <a:ext cx="148132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封闭系统 / 只读镜像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765792" y="4498848"/>
            <a:ext cx="621792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0387584" y="4288536"/>
            <a:ext cx="713232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56" name="&quot;No&quot; Symbol 55"/>
          <p:cNvSpPr/>
          <p:nvPr/>
        </p:nvSpPr>
        <p:spPr>
          <a:xfrm>
            <a:off x="10332719" y="4197096"/>
            <a:ext cx="841248" cy="841248"/>
          </a:xfrm>
          <a:prstGeom prst="noSmoking">
            <a:avLst/>
          </a:prstGeom>
          <a:noFill/>
          <a:ln w="304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59" y="4206240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1" y="4818888"/>
            <a:ext cx="15179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禁止安装第三方程序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① ② ③ 属网络与链路，④ ⑤ 属接口能力，⑥ 属运行环境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红线为该格阻断发生的具体位置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问题背景（三）· 阻断机理图解 ⑦–⑫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运行环境的第二类冲突、人工依赖、授权与合规：能连上也未必跑得起来、跑得久、跑得起量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⑦ 系统与位数锁定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软件只支持 Win7 / 32 位或特定内核版本，与 Runner 的 Win10 / 64 位环境不兼容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920240"/>
            <a:ext cx="129844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Win7 / 32 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82495" y="2167128"/>
            <a:ext cx="548641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31136" y="1920240"/>
            <a:ext cx="1481328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Win10 / 64 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1" y="2468880"/>
            <a:ext cx="132588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运行时环境冲突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⑧ 必须人工交互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软件无批处理模式，必须人工点击确认；无法作为服务常驻，产线做不到无人值守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920240"/>
            <a:ext cx="1389888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软件界面（人工确认）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24144" y="2167128"/>
            <a:ext cx="530352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54496" y="1920240"/>
            <a:ext cx="1408176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无人值守 / 后台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1304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2468880"/>
            <a:ext cx="14173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 7×24 自动执行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37160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144475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⑨ 授权绑定 MAC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283464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许可证绑定网卡 MAC 与机器指纹，迁机、换网卡、重装系统即失效，无法随平台复制部署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84463" y="1883664"/>
            <a:ext cx="877824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A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A1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73184" y="1920240"/>
            <a:ext cx="621792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许可证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162288" y="2176272"/>
            <a:ext cx="310896" cy="0"/>
          </a:xfrm>
          <a:prstGeom prst="line">
            <a:avLst/>
          </a:prstGeom>
          <a:ln w="1397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479024" y="1883664"/>
            <a:ext cx="1005840" cy="585216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机器 B</a:t>
            </a:r>
          </a:p>
          <a:p>
            <a:pPr algn="ctr"/>
            <a:r>
              <a:rPr sz="75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MAC B2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94976" y="2176272"/>
            <a:ext cx="384048" cy="0"/>
          </a:xfrm>
          <a:prstGeom prst="line">
            <a:avLst/>
          </a:prstGeom>
          <a:ln w="1397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158983" y="18928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4543" y="2487168"/>
            <a:ext cx="786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授权有效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1551" y="248716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迁机即失效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⑩ 授权并发不足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单机授权或加密狗数量少于测试台数量，多台并行时只有一台能拿到许可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6809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25272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3677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2121408" y="4123944"/>
            <a:ext cx="768096" cy="274320"/>
          </a:xfrm>
          <a:prstGeom prst="roundRect">
            <a:avLst>
              <a:gd name="adj" fmla="val 4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测试台 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505456" y="4398264"/>
            <a:ext cx="0" cy="292608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68096" y="4690872"/>
            <a:ext cx="1737360" cy="0"/>
          </a:xfrm>
          <a:prstGeom prst="line">
            <a:avLst/>
          </a:prstGeom>
          <a:ln w="1270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36776" y="4690872"/>
            <a:ext cx="0" cy="73152"/>
          </a:xfrm>
          <a:prstGeom prst="line">
            <a:avLst/>
          </a:prstGeom>
          <a:ln w="12700">
            <a:solidFill>
              <a:srgbClr val="5C5C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179576" y="4764024"/>
            <a:ext cx="914400" cy="310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1 个加密狗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4074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39" y="4407407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481888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无法并行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528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34256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⑪ 合规不允许接入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34256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无代码签名、驱动未认证、开放高危端口或缺少审计日志，入网审批不通过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4256" y="4105655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无签名驱动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34256" y="4434840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开放高危端口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4256" y="4764023"/>
            <a:ext cx="1188720" cy="27432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3A3A35"/>
                </a:solidFill>
                <a:latin typeface="微软雅黑"/>
                <a:ea typeface="微软雅黑"/>
                <a:cs typeface="微软雅黑"/>
              </a:rPr>
              <a:t>无审计日志</a:t>
            </a:r>
          </a:p>
        </p:txBody>
      </p:sp>
      <p:sp>
        <p:nvSpPr>
          <p:cNvPr id="53" name="Hexagon 52"/>
          <p:cNvSpPr/>
          <p:nvPr/>
        </p:nvSpPr>
        <p:spPr>
          <a:xfrm>
            <a:off x="6181344" y="4306824"/>
            <a:ext cx="1325880" cy="640080"/>
          </a:xfrm>
          <a:prstGeom prst="hexagon">
            <a:avLst/>
          </a:prstGeom>
          <a:solidFill>
            <a:srgbClr val="2B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IT 安全策略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522976" y="4562856"/>
            <a:ext cx="658368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724144" y="4297679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74736" y="3703320"/>
            <a:ext cx="3694176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3" y="3776472"/>
            <a:ext cx="34747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⑫ 外网校验与回传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4463" y="5166360"/>
            <a:ext cx="3474720" cy="69494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需连供应商云完成激活，并把工艺数据回传云端；产线无外网，数据也不允许出境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84463" y="4251959"/>
            <a:ext cx="1051560" cy="502920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供应商软件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336024" y="4498848"/>
            <a:ext cx="393191" cy="0"/>
          </a:xfrm>
          <a:prstGeom prst="line">
            <a:avLst/>
          </a:prstGeom>
          <a:ln w="12700">
            <a:solidFill>
              <a:srgbClr val="5C5C5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9729215" y="4160520"/>
            <a:ext cx="274320" cy="658368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>
              <a:lnSpc>
                <a:spcPct val="100000"/>
              </a:lnSpc>
            </a:pPr>
            <a:r>
              <a:rPr sz="6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无
外
网</a:t>
            </a:r>
          </a:p>
        </p:txBody>
      </p:sp>
      <p:sp>
        <p:nvSpPr>
          <p:cNvPr id="62" name="Cloud 61"/>
          <p:cNvSpPr/>
          <p:nvPr/>
        </p:nvSpPr>
        <p:spPr>
          <a:xfrm>
            <a:off x="10204703" y="4215383"/>
            <a:ext cx="1371600" cy="566928"/>
          </a:xfrm>
          <a:prstGeom prst="cloud">
            <a:avLst/>
          </a:prstGeom>
          <a:solidFill>
            <a:srgbClr val="ECECEC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73183" y="4206240"/>
            <a:ext cx="25603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01784" y="4855464"/>
            <a:ext cx="1874519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无法激活 / 工艺数据外传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⑦ ⑧ 属运行环境，⑨ ⑩ 属授权与商务，⑪ ⑫ 属合规与数据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红线为该格阻断发生的具体位置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供应商设备软件的形态与 ATE 接入方式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同一台设备可能同时提供多种形态；ATE 侧以统一的设备抽象层屏蔽差异，测试用例只面向能力接口编程，不直接依赖供应商实现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92024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① ATE 测试执行层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0048" y="1097280"/>
            <a:ext cx="356616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② 设备抽象与适配层（对外统一能力接口，屏蔽形态差异）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3136" y="1097280"/>
            <a:ext cx="5111496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8B0F1A"/>
                </a:solidFill>
                <a:latin typeface="微软雅黑"/>
                <a:ea typeface="微软雅黑"/>
                <a:cs typeface="微软雅黑"/>
              </a:rPr>
              <a:t>③ 供应商提供的软件形态（按提供方式分四类）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7984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291072" y="3657600"/>
            <a:ext cx="420624" cy="310896"/>
          </a:xfrm>
          <a:prstGeom prst="rightArrow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1371600"/>
            <a:ext cx="1920240" cy="4882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8B0F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4048" y="1517904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609344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测试用例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pytest 用例 / 测试程序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3145536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3236976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能力调用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连接 · 配置 · 触发 · 采集 · 判定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4773168"/>
            <a:ext cx="1700784" cy="1298448"/>
          </a:xfrm>
          <a:prstGeom prst="roundRect">
            <a:avLst>
              <a:gd name="adj" fmla="val 5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3" y="4864607"/>
            <a:ext cx="1627632" cy="11155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结果与追溯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900" b="0">
                <a:solidFill>
                  <a:srgbClr val="4A4A45"/>
                </a:solidFill>
                <a:latin typeface="微软雅黑"/>
                <a:ea typeface="微软雅黑"/>
                <a:cs typeface="微软雅黑"/>
              </a:rPr>
              <a:t>测量值、判定、日志与报告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0048" y="137160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61488" y="164363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40817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C-ABI 封装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ctypes / CFFI 加载 DLL，按头文件声明结构体与函数原型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70048" y="2199132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61488" y="2471166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2235708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适配器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直接导入供应商包，包装为统一设备类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0048" y="3026663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61488" y="3298697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4096" y="3063239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/ SCPI 客户端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PyVISA 打开资源，按手册下发命令、解析响应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70048" y="3854196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61488" y="4126229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4096" y="3890772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.NET 桥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comtypes 或 pythonnet 调 ActiveX、.NET 程序集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70048" y="4681728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1488" y="4953762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4096" y="4718304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进程调用器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subprocess 调厂商 exe，解析返回码与输出文件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70048" y="5509260"/>
            <a:ext cx="3566160" cy="745236"/>
          </a:xfrm>
          <a:prstGeom prst="roundRect">
            <a:avLst>
              <a:gd name="adj" fmla="val 5000"/>
            </a:avLst>
          </a:prstGeom>
          <a:solidFill>
            <a:srgbClr val="FBFBF9"/>
          </a:solidFill>
          <a:ln w="1143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1488" y="5781294"/>
            <a:ext cx="201168" cy="201168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54096" y="5545836"/>
            <a:ext cx="3090672" cy="6720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协议实现器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按私有协议手册自建串口 / CAN / TCP 报文收发与校验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03136" y="1371600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94576" y="1371600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二进制接口类（随驱动包分发）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03136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76288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DLL + 头文件（C/C++ SDK）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02852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95460" y="170078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68612" y="170078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COM / ActiveX 组件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695176" y="1828799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03136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76288" y="2176272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.NET 程序集（含 NuGet）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02852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95460" y="2176272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8612" y="2176272"/>
            <a:ext cx="198881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IVI / VXIplug&amp;play 驱动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1229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695176" y="2304288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03136" y="2871215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94576" y="2871215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语言绑定类（按语言分发）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03136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76288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Python 库（whl / .pyd）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02852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95460" y="3200399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68612" y="3200399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LabVIEW VI 库 / 驱动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695176" y="3328415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03136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76288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MATLAB / .mex 工具箱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02852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95460" y="3675887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8612" y="3675887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Java JAR / JNI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1695176" y="3803904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803136" y="4370831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94576" y="4370831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协议命令类（只给文档）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03136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76288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VISA 接口手册（SCPI 命令集）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02852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95460" y="4700016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68612" y="4700016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私有协议手册（串口 / CAN 报文）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695176" y="4828032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803136" y="5394959"/>
            <a:ext cx="5111496" cy="274320"/>
          </a:xfrm>
          <a:prstGeom prst="roundRect">
            <a:avLst>
              <a:gd name="adj" fmla="val 4000"/>
            </a:avLst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5394959"/>
            <a:ext cx="4928616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可执行与服务类（黑盒调用）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03136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76288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命令行工具（厂商 exe）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02852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95460" y="5724144"/>
            <a:ext cx="2519172" cy="4206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468612" y="5724144"/>
            <a:ext cx="2171699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REST / gRPC / Socket 服务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95176" y="5852160"/>
            <a:ext cx="146304" cy="164592"/>
          </a:xfrm>
          <a:prstGeom prst="roundRect">
            <a:avLst>
              <a:gd name="adj" fmla="val 12000"/>
            </a:avLst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图例：① C-ABI 封装　② Python 适配器　③ VISA/SCPI 客户端　④ COM/.NET 桥　⑤ 进程调用　⑥ 协议实现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形态越靠「文档」，封装工作量越大；同一设备多形态时优先选二进制接口或官方 Python 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01168"/>
            <a:ext cx="108813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整体运行流程 · 任务令驱动的测试闭环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15568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任务令下达 → 物料身份确认 → 用例自动执行 → 结果标准化 → MES 回传；每一环节写入同一追溯码，形成单件级可追溯闭环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87552"/>
            <a:ext cx="11640312" cy="25603"/>
          </a:xfrm>
          <a:prstGeom prst="rect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00200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① 任务令下达</a:t>
            </a:r>
          </a:p>
        </p:txBody>
      </p:sp>
      <p:sp>
        <p:nvSpPr>
          <p:cNvPr id="7" name="Rectangle 6"/>
          <p:cNvSpPr/>
          <p:nvPr/>
        </p:nvSpPr>
        <p:spPr>
          <a:xfrm>
            <a:off x="3666744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② 物料确认</a:t>
            </a:r>
          </a:p>
        </p:txBody>
      </p:sp>
      <p:sp>
        <p:nvSpPr>
          <p:cNvPr id="9" name="Rectangle 8"/>
          <p:cNvSpPr/>
          <p:nvPr/>
        </p:nvSpPr>
        <p:spPr>
          <a:xfrm>
            <a:off x="5733288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③ 任务派发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9831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9831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④ 用例执行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66376" y="1188720"/>
            <a:ext cx="2066543" cy="32918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6376" y="1188720"/>
            <a:ext cx="2066543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F4C81"/>
                </a:solidFill>
                <a:latin typeface="微软雅黑"/>
                <a:ea typeface="微软雅黑"/>
                <a:cs typeface="微软雅黑"/>
              </a:rPr>
              <a:t>⑤ 结果与回传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727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" y="15727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制造 IT / 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1572768"/>
            <a:ext cx="103327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4871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4871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产线终端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0200" y="2487168"/>
            <a:ext cx="10332720" cy="914400"/>
          </a:xfrm>
          <a:prstGeom prst="rect">
            <a:avLst/>
          </a:prstGeom>
          <a:solidFill>
            <a:srgbClr val="FBFBF9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4015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015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ATE Controller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401568"/>
            <a:ext cx="103327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3159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3159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Runner 执行机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4315968"/>
            <a:ext cx="10332720" cy="914400"/>
          </a:xfrm>
          <a:prstGeom prst="rect">
            <a:avLst/>
          </a:prstGeom>
          <a:solidFill>
            <a:srgbClr val="FBFBF9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5230368"/>
            <a:ext cx="1298448" cy="914400"/>
          </a:xfrm>
          <a:prstGeom prst="rect">
            <a:avLst/>
          </a:prstGeom>
          <a:solidFill>
            <a:srgbClr val="ECECEC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8" y="5230368"/>
            <a:ext cx="1261872" cy="9144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测试数据中心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5230368"/>
            <a:ext cx="1033272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9D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41932" y="17465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05940" y="19385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97964" y="17830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任务令下发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MES 生成工单待测清单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41932" y="26609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5940" y="28529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97964" y="26974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工位领取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终端拉取任务令明细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08476" y="26609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72484" y="28529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4508" y="26974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扫码确认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扫序列号，校验一致性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08476" y="35753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72484" y="37673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64508" y="36118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防错校验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序列号 ↔ 工单 ↔ 台位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75020" y="35753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939028" y="37673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31052" y="36118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任务派发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按台位下发测试任务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75020" y="44897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939028" y="46817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31052" y="45262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用例执行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TPS / pytest 驱动设备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41564" y="44897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05572" y="46817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97596" y="45262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原始结果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测量值 / 判定 / 日志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41564" y="54041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005572" y="55961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7596" y="54406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结果标准化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统一字段 / 单位 / 追溯码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08108" y="54041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072116" y="55961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64140" y="54406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任务令汇总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按工单聚合单件结论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008108" y="1746504"/>
            <a:ext cx="178308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072116" y="1938528"/>
            <a:ext cx="182880" cy="182880"/>
          </a:xfrm>
          <a:prstGeom prst="ellipse">
            <a:avLst/>
          </a:prstGeom>
          <a:solidFill>
            <a:srgbClr val="8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64140" y="1783080"/>
            <a:ext cx="1481328" cy="4937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141414"/>
                </a:solidFill>
                <a:latin typeface="微软雅黑"/>
                <a:ea typeface="微软雅黑"/>
                <a:cs typeface="微软雅黑"/>
              </a:rPr>
              <a:t>MES 回传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结果回传、任务令结案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633472" y="23134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525012" y="29443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700016" y="32278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591556" y="38587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766559" y="41422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658100" y="47731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833104" y="5056632"/>
            <a:ext cx="0" cy="3474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724644" y="5687568"/>
            <a:ext cx="283464" cy="0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0899648" y="2313432"/>
            <a:ext cx="0" cy="3090672"/>
          </a:xfrm>
          <a:prstGeom prst="line">
            <a:avLst/>
          </a:prstGeom>
          <a:ln w="19050">
            <a:solidFill>
              <a:srgbClr val="5C5C56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00200" y="6199632"/>
            <a:ext cx="10332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追溯链：单件序列号为唯一主键，串联任务令、扫码记录、执行日志、标准化结果与回传回执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400800"/>
            <a:ext cx="11640312" cy="12801"/>
          </a:xfrm>
          <a:prstGeom prst="rect">
            <a:avLst/>
          </a:prstGeom>
          <a:solidFill>
            <a:srgbClr val="D9D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6446520"/>
            <a:ext cx="68580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闭环要点：任务令唯一标识贯穿扫码、执行、结果与回传；任一异常台位可按追溯码反查到单件与具体工步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0" y="6446520"/>
            <a:ext cx="46908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5C5C56"/>
                </a:solidFill>
                <a:latin typeface="微软雅黑"/>
                <a:ea typeface="微软雅黑"/>
                <a:cs typeface="微软雅黑"/>
              </a:rPr>
              <a:t>回传失败进入重试队列，不阻塞下一件流转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供应商设备软件的形态与 ATE 接入方式</dc:title>
  <dc:subject>供应商软件接入：阻断点、形态适配与运行流程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