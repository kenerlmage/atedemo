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问题背景（一）· 供应商软件接入的十二个阻断点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阻断点分布在网络、接口、运行环境、授权、合规五个方向；边界右侧的问题多需供应商配合，或在我方侧以代理、旁路方式绕开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10312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ATE 平台（我方可控）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61488" y="1078992"/>
            <a:ext cx="9153144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供应商软件与设备（交付形态各异，多数不可控）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10312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153619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645919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· TPS 编排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99923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3108960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设备抽象层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统一能力接口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446227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4572000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执行与追溯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Runner 执行 · 结果归档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42032" y="1371600"/>
            <a:ext cx="0" cy="4526280"/>
          </a:xfrm>
          <a:prstGeom prst="line">
            <a:avLst/>
          </a:prstGeom>
          <a:ln w="16510">
            <a:solidFill>
              <a:srgbClr val="8B0F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176272" y="5943600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接入边界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1371600"/>
            <a:ext cx="9153144" cy="4526280"/>
          </a:xfrm>
          <a:prstGeom prst="roundRect">
            <a:avLst>
              <a:gd name="adj" fmla="val 3000"/>
            </a:avLst>
          </a:prstGeom>
          <a:solidFill>
            <a:srgbClr val="F6F6F3"/>
          </a:solidFill>
          <a:ln w="1270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07792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99232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84648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4648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网口数量受限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9232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个业务网口，已被既有测试网占用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89320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网络策略封闭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仅放行固定主机与网段，策略由供应商掌握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87968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979408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164824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64824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跨网隔离与网闸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9408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跨网只允许单向、指定端口，无法下发指令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07792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999232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4648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84648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3552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无对外接口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99232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仅图形界面，无 CLI / API / 协议文档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97880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89320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74736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74736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物理接口不匹配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设备只有 GPIB / RS232，机箱无对应接口卡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87968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79408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64824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164824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53728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无法安装 Runner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封闭系统或只读镜像，禁止第三方程序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07792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999232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4648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84648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系统与位数锁定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9232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仅支持 Win7 / 32 位，与 Runner 环境冲突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897880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989320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74736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必须人工交互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需人工点击确认，无法无人值守长期运行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887968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979408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164824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164824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53728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授权绑定 MAC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79408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绑定网卡 MAC 与机器指纹，迁机即失效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07792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999232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4648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184648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73552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授权并发不足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99232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加密狗或单机授权少于测试台数，无法并行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897880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989320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74736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174736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63640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合规不允许接入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无签名驱动、高危端口，IT 策略拒绝入网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87968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979408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164824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164824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3728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外网校验与回传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需连供应商云激活并回传数据，产线无外网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十二个阻断点中，网络类 3 项、接口类 2 项、环境类 3 项、授权类 2 项、合规类 2 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红色虚线为我方无法单方面突破的接入边界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问题背景（二）· 阻断机理图解 ①–⑥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逐项还原阻断发生的环节：端口被占、策略拒绝、单向网闸、无接口、接口不匹配、装不了代理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① 网口数量受限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个业务网口，且已被既有测试网占满；ATE 侧无法在同一条链路上并存接入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18872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84831"/>
            <a:ext cx="100584" cy="164592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673351" y="2167128"/>
            <a:ext cx="79552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68879" y="1920240"/>
            <a:ext cx="114300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767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468880"/>
            <a:ext cx="9601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唯一网口已占用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② 网络策略封闭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设备侧白名单只放行指定主机与网段，ATE 主机既不在白名单、也无法修改设备策略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920240"/>
            <a:ext cx="107899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10.0.5.99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2167128"/>
            <a:ext cx="82296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3620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设备（白名单）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671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仅放行 10.0.5.20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③ 跨网隔离与网闸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两网之间串接单向隔离装置，只允许设备侧数据上报，ATE 的下发指令到不了设备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3" y="1901952"/>
            <a:ext cx="868680" cy="54864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设备网段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04703" y="1901952"/>
            <a:ext cx="1097280" cy="54864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测试网段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0343" y="1847088"/>
            <a:ext cx="365760" cy="658368"/>
          </a:xfrm>
          <a:prstGeom prst="rect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53143" y="2066543"/>
            <a:ext cx="457200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976103" y="2066543"/>
            <a:ext cx="228600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153143" y="2322576"/>
            <a:ext cx="1051560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439" y="2185416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3143" y="2542032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反向指令被网闸阻断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④ 无对外接口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软件只有图形界面，无 CLI、API、协议文档；外部脚本无法触发动作、也无法取回数据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4048" y="4233672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供应商软件（仅 GUI）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56816" y="4142231"/>
            <a:ext cx="54864" cy="603504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304288" y="4233672"/>
            <a:ext cx="1298448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外部脚本 / 自动化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11680" y="4507992"/>
            <a:ext cx="29260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00784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73936" y="4818888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 CLI / API / 协议文档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⑤ 物理接口不匹配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设备只提供 GPIB / RS232 等专用口，产线工控机没有对应接口卡与驱动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34256" y="4251959"/>
            <a:ext cx="1243584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设备：GPIB / RS232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0" y="4498848"/>
            <a:ext cx="64008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217920" y="4251959"/>
            <a:ext cx="144475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工控机：仅 USB / 网口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9864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31536" y="4800600"/>
            <a:ext cx="11887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无对应接口卡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⑥ 无法安装 Runner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交付系统封闭或镜像只读、无管理员权限，第三方执行代理无法安装与常驻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84463" y="4251959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封闭系统 / 只读镜像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765792" y="4498848"/>
            <a:ext cx="62179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0387584" y="4288536"/>
            <a:ext cx="713232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56" name="&quot;No&quot; Symbol 55"/>
          <p:cNvSpPr/>
          <p:nvPr/>
        </p:nvSpPr>
        <p:spPr>
          <a:xfrm>
            <a:off x="10332719" y="4197096"/>
            <a:ext cx="841248" cy="841248"/>
          </a:xfrm>
          <a:prstGeom prst="noSmoking">
            <a:avLst/>
          </a:prstGeom>
          <a:noFill/>
          <a:ln w="304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59" y="420624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1" y="4818888"/>
            <a:ext cx="15179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禁止安装第三方程序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① ② ③ 属网络与链路，④ ⑤ 属接口能力，⑥ 属运行环境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红线为该格阻断发生的具体位置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问题背景（三）· 阻断机理图解 ⑦–⑫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运行环境的第二类冲突、人工依赖、授权与合规：能连上也未必跑得起来、跑得久、跑得起量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⑦ 系统与位数锁定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软件只支持 Win7 / 32 位或特定内核版本，与 Runner 的 Win10 / 64 位环境不兼容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Win7 / 32 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82495" y="2167128"/>
            <a:ext cx="548641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31136" y="1920240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Win10 / 64 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1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运行时环境冲突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⑧ 必须人工交互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软件无批处理模式，必须人工点击确认；无法作为服务常驻，产线做不到无人值守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920240"/>
            <a:ext cx="138988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软件界面（人工确认）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24144" y="2167128"/>
            <a:ext cx="53035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54496" y="1920240"/>
            <a:ext cx="1408176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无人值守 / 后台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1304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2468880"/>
            <a:ext cx="14173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 7×24 自动执行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⑨ 授权绑定 MAC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许可证绑定网卡 MAC 与机器指纹，迁机、换网卡、重装系统即失效，无法随平台复制部署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84463" y="1883664"/>
            <a:ext cx="877824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A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A1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73184" y="1920240"/>
            <a:ext cx="621792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许可证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162288" y="2176272"/>
            <a:ext cx="310896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479024" y="1883664"/>
            <a:ext cx="1005840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B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B2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94976" y="2176272"/>
            <a:ext cx="384048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158983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4543" y="248716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授权有效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1551" y="248716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迁机即失效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⑩ 授权并发不足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单机授权或加密狗数量少于测试台数量，多台并行时只有一台能拿到许可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809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25272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3677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12140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50545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68096" y="4690872"/>
            <a:ext cx="1737360" cy="0"/>
          </a:xfrm>
          <a:prstGeom prst="line">
            <a:avLst/>
          </a:prstGeom>
          <a:ln w="1270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36776" y="4690872"/>
            <a:ext cx="0" cy="73152"/>
          </a:xfrm>
          <a:prstGeom prst="line">
            <a:avLst/>
          </a:prstGeom>
          <a:ln w="1270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179576" y="4764024"/>
            <a:ext cx="914400" cy="310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1 个加密狗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4074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39" y="44074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481888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无法并行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⑪ 合规不允许接入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无代码签名、驱动未认证、开放高危端口或缺少审计日志，入网审批不通过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4256" y="4105655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无签名驱动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34256" y="4434840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开放高危端口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4256" y="4764023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无审计日志</a:t>
            </a:r>
          </a:p>
        </p:txBody>
      </p:sp>
      <p:sp>
        <p:nvSpPr>
          <p:cNvPr id="53" name="Hexagon 52"/>
          <p:cNvSpPr/>
          <p:nvPr/>
        </p:nvSpPr>
        <p:spPr>
          <a:xfrm>
            <a:off x="6181344" y="4306824"/>
            <a:ext cx="1325880" cy="640080"/>
          </a:xfrm>
          <a:prstGeom prst="hexagon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IT 安全策略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522976" y="4562856"/>
            <a:ext cx="65836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724144" y="4297679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⑫ 外网校验与回传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需连供应商云完成激活，并把工艺数据回传云端；产线无外网，数据也不允许出境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84463" y="4251959"/>
            <a:ext cx="105156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供应商软件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336024" y="4498848"/>
            <a:ext cx="393191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9729215" y="4160520"/>
            <a:ext cx="274320" cy="658368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6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无
外
网</a:t>
            </a:r>
          </a:p>
        </p:txBody>
      </p:sp>
      <p:sp>
        <p:nvSpPr>
          <p:cNvPr id="62" name="Cloud 61"/>
          <p:cNvSpPr/>
          <p:nvPr/>
        </p:nvSpPr>
        <p:spPr>
          <a:xfrm>
            <a:off x="10204703" y="4215383"/>
            <a:ext cx="1371600" cy="566928"/>
          </a:xfrm>
          <a:prstGeom prst="cloud">
            <a:avLst/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73183" y="420624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01784" y="4855464"/>
            <a:ext cx="1874519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无法激活 / 工艺数据外传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⑦ ⑧ 属运行环境，⑨ ⑩ 属授权与商务，⑪ ⑫ 属合规与数据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红线为该格阻断发生的具体位置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供应商设备软件的形态与 ATE 接入方式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同一台设备可能同时提供多种形态；ATE 侧以统一的设备抽象层屏蔽差异，测试用例只面向能力接口编程，不直接依赖供应商实现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9202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ATE 测试执行层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1097280"/>
            <a:ext cx="356616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设备抽象与适配层（对外统一能力接口，屏蔽形态差异）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3136" y="1097280"/>
            <a:ext cx="511149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供应商提供的软件形态（按提供方式分四类）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7984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291072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371600"/>
            <a:ext cx="1920240" cy="4882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4048" y="1517904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609344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/ 测试程序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3145536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3236976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能力调用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连接 · 配置 · 触发 · 采集 · 判定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4773168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3" y="4864607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测量值、判定、日志与报告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0048" y="137160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61488" y="164363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40817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C-ABI 封装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ctypes / CFFI 加载 DLL，按头文件声明结构体与函数原型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70048" y="2199132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61488" y="247116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2235708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适配器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直接导入供应商包，包装为统一设备类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048" y="3026663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61488" y="3298697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4096" y="3063239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/ SCPI 客户端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PyVISA 打开资源，按手册下发命令、解析响应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70048" y="3854196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61488" y="4126229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3890772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.NET 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comtypes 或 pythonnet 调 ActiveX、.NET 程序集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70048" y="4681728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1488" y="4953762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4718304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进程调用器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subprocess 调厂商 exe，解析返回码与输出文件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70048" y="550926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1488" y="578129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6" y="554583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协议实现器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按私有协议手册自建串口 / CAN / TCP 报文收发与校验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03136" y="1371600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94576" y="1371600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二进制接口类（随驱动包分发）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03136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DLL + 头文件（C/C++ SDK）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2852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5460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68612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ActiveX 组件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695176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03136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2176272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.NET 程序集（含 NuGet）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02852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5460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8612" y="2176272"/>
            <a:ext cx="198881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IVI / VXIplug&amp;play 驱动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1229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69517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03136" y="2871215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94576" y="2871215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语言绑定类（按语言分发）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03136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76288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库（whl / .pyd）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02852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95460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68612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LabVIEW VI 库 / 驱动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695176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03136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76288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MATLAB / .mex 工具箱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02852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95460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8612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Java JAR / JNI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1695176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136" y="4370831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94576" y="4370831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协议命令类（只给文档）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03136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76288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接口手册（SCPI 命令集）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2852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95460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68612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私有协议手册（串口 / CAN 报文）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695176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03136" y="5394959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5394959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可执行与服务类（黑盒调用）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03136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76288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命令行工具（厂商 exe）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02852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95460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468612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REST / gRPC / Socket 服务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95176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图例：① C-ABI 封装　② Python 适配器　③ VISA/SCPI 客户端　④ COM/.NET 桥　⑤ 进程调用　⑥ 协议实现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形态越靠「文档」，封装工作量越大；同一设备多形态时优先选二进制接口或官方 Python 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整体运行流程 · 任务令驱动的测试闭环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任务令下达 → 物料身份确认 → 用例自动执行 → 结果标准化 → MES 回传；每一环节写入同一追溯码，形成单件级可追溯闭环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00200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① 任务令下达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66744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② 物料确认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3288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③ 任务派发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9831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9831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④ 用例执行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66376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6376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⑤ 结果与回传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727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" y="15727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制造 IT / 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15727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4871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4871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产线终端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0200" y="2487168"/>
            <a:ext cx="10332720" cy="914400"/>
          </a:xfrm>
          <a:prstGeom prst="rect">
            <a:avLst/>
          </a:prstGeom>
          <a:solidFill>
            <a:srgbClr val="FBFBF9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4015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015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Controller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4015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3159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3159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Runner 执行机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4315968"/>
            <a:ext cx="10332720" cy="914400"/>
          </a:xfrm>
          <a:prstGeom prst="rect">
            <a:avLst/>
          </a:prstGeom>
          <a:solidFill>
            <a:srgbClr val="FBFBF9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52303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" y="52303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测试数据中心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52303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41932" y="17465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05940" y="19385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97964" y="17830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任务令下发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MES 生成工单待测清单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41932" y="26609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5940" y="28529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97964" y="26974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工位领取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终端拉取任务令明细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08476" y="26609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72484" y="28529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4508" y="26974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扫码确认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扫序列号，校验一致性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08476" y="35753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72484" y="37673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64508" y="36118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防错校验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序列号 ↔ 工单 ↔ 台位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75020" y="35753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39028" y="37673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31052" y="36118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任务派发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按台位下发测试任务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75020" y="44897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939028" y="46817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31052" y="45262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用例执行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TPS / pytest 驱动设备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41564" y="44897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05572" y="46817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97596" y="45262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原始结果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测量值 / 判定 / 日志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41564" y="54041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005572" y="55961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7596" y="54406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结果标准化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统一字段 / 单位 / 追溯码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08108" y="54041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072116" y="55961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64140" y="54406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任务令汇总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按工单聚合单件结论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008108" y="17465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072116" y="19385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64140" y="17830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MES 回传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结果回传、任务令结案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633472" y="23134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525012" y="29443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700016" y="32278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591556" y="38587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766559" y="41422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658100" y="47731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833104" y="50566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724644" y="56875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899648" y="2313432"/>
            <a:ext cx="0" cy="30906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00200" y="6199632"/>
            <a:ext cx="10332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追溯链：单件序列号为唯一主键，串联任务令、扫码记录、执行日志、标准化结果与回传回执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闭环要点：任务令唯一标识贯穿扫码、执行、结果与回传；任一异常台位可按追溯码反查到单件与具体工步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回传失败进入重试队列，不阻塞下一件流转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执行自动化原理 · 脚本化、环境、生命周期与人工介入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流程自动化解决「按什么顺序做什么」，执行自动化解决「由谁、在什么环境里、把它跑对」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274320" y="1188720"/>
            <a:ext cx="1664208" cy="457200"/>
          </a:xfrm>
          <a:prstGeom prst="homePlate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编排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脚本化</a:t>
            </a:r>
          </a:p>
        </p:txBody>
      </p:sp>
      <p:sp>
        <p:nvSpPr>
          <p:cNvPr id="7" name="Chevron 6"/>
          <p:cNvSpPr/>
          <p:nvPr/>
        </p:nvSpPr>
        <p:spPr>
          <a:xfrm>
            <a:off x="192024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825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自动部署</a:t>
            </a:r>
          </a:p>
        </p:txBody>
      </p:sp>
      <p:sp>
        <p:nvSpPr>
          <p:cNvPr id="9" name="Chevron 8"/>
          <p:cNvSpPr/>
          <p:nvPr/>
        </p:nvSpPr>
        <p:spPr>
          <a:xfrm>
            <a:off x="356616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初始化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17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建连 / 复位</a:t>
            </a:r>
          </a:p>
        </p:txBody>
      </p:sp>
      <p:sp>
        <p:nvSpPr>
          <p:cNvPr id="11" name="Chevron 10"/>
          <p:cNvSpPr/>
          <p:nvPr/>
        </p:nvSpPr>
        <p:spPr>
          <a:xfrm>
            <a:off x="521208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④ 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009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驱动 + 人工</a:t>
            </a:r>
          </a:p>
        </p:txBody>
      </p:sp>
      <p:sp>
        <p:nvSpPr>
          <p:cNvPr id="13" name="Chevron 12"/>
          <p:cNvSpPr/>
          <p:nvPr/>
        </p:nvSpPr>
        <p:spPr>
          <a:xfrm>
            <a:off x="685800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⑤ 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阈值 / 断言</a:t>
            </a:r>
          </a:p>
        </p:txBody>
      </p:sp>
      <p:sp>
        <p:nvSpPr>
          <p:cNvPr id="15" name="Chevron 14"/>
          <p:cNvSpPr/>
          <p:nvPr/>
        </p:nvSpPr>
        <p:spPr>
          <a:xfrm>
            <a:off x="850392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⑥ 终止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释放 / 下电</a:t>
            </a:r>
          </a:p>
        </p:txBody>
      </p:sp>
      <p:sp>
        <p:nvSpPr>
          <p:cNvPr id="17" name="Chevron 16"/>
          <p:cNvSpPr/>
          <p:nvPr/>
        </p:nvSpPr>
        <p:spPr>
          <a:xfrm>
            <a:off x="1014984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⑦ 归档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785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结果标准化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029968"/>
            <a:ext cx="548640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一次执行的生命周期（时间轴）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2304288"/>
            <a:ext cx="277063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41401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2395728"/>
            <a:ext cx="227685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测试流程脚本化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2724912"/>
            <a:ext cx="2551176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把测试意图写成可执行、可版本化的声明，而非口头工艺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236976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291840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工步声明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TPS 声明工步顺序、参数与判定条件，逻辑不进代码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114800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169663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用例生成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平台按模板渲染 pytest 用例文件，减少手写与漂移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992624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5047488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参数注入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设备连接、仿真模式、环境变量运行时注入，脚本不写死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27832" y="2304288"/>
            <a:ext cx="277063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37560" y="241401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2395728"/>
            <a:ext cx="227685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软件与环境自动部署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2724912"/>
            <a:ext cx="2551176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执行前把「跑什么」与「在哪跑」一次性准备到位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19272" y="3236976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92424" y="3291840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随包分发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Runner、驱动包与依赖随安装包下发，现场免搭建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9272" y="4114800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2424" y="4169663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版本与指纹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启动校验版本、驱动与解释器指纹，不一致即拒绝执行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9272" y="4992624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92424" y="5047488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运行隔离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每任务独立运行目录，互不污染，执行后可完整回溯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1344" y="2304288"/>
            <a:ext cx="277063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91072" y="241401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2395728"/>
            <a:ext cx="227685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初始化与终止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2724912"/>
            <a:ext cx="2551176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让每次执行都从确定状态开始、回到安全状态结束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3" y="3236976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45936" y="3291840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初始化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建连、复位、量程与校准装载、仿真模式注入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72783" y="4114800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45936" y="4169663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终止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用例后置与会话收尾统一释放连接、下电、还原配置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72783" y="4992624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45936" y="5047488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异常兜底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失败与超时同样触发终止，避免设备被长期占用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34856" y="2304288"/>
            <a:ext cx="277063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44584" y="241401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37192" y="2395728"/>
            <a:ext cx="227685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人工参与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44584" y="2724912"/>
            <a:ext cx="2551176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把必须由人完成的动作变成流程里的显式节点，而非隐含操作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26296" y="3236976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99448" y="3291840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人工工步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扫码、装夹、目视判定以独立工步插入，不嵌进脚本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26296" y="4114800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99448" y="4169663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等待与放行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平台等待人工确认信号，超时按策略挂起或判失败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26296" y="4992624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9448" y="5047488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异常接管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自动步骤失败可转人工处置，并记录处置人与时间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961888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035040"/>
            <a:ext cx="672084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四类机制共同保证：脚本可版本化、环境可复制、执行可终止、人工可插拔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60" y="6035040"/>
            <a:ext cx="46908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任一机制缺失，自动化都会退化为人工点检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供应商设备软件的形态与 ATE 接入方式</dc:title>
  <dc:subject>供应商软件接入：阻断点、形态适配、运行流程与执行原理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