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造光刻机的测试装备：换个角度看 ASML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ASML 不自己造所有零件，测试因此被分散在三个地方——不是一个车间、一台机器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89888"/>
            <a:ext cx="585216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64008" cy="131673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6656" y="150876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① 模块设计与制造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79222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Carl Zeiss SMT / TRUMPF / VDL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048256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光学件、光源模块、精密结构件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0428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23E"/>
                </a:solidFill>
                <a:latin typeface="微软雅黑"/>
                <a:ea typeface="微软雅黑"/>
                <a:cs typeface="微软雅黑"/>
              </a:rPr>
              <a:t>在供应商厂内完成零件级与模块级测试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246120" y="2724912"/>
            <a:ext cx="201168" cy="91440"/>
          </a:xfrm>
          <a:prstGeom prst="downArrow">
            <a:avLst/>
          </a:prstGeom>
          <a:solidFill>
            <a:srgbClr val="C0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585216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02920" y="2871216"/>
            <a:ext cx="64008" cy="131673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" y="299008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② 电子与电气集成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73552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Prodrive / Neways 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529584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驱动板、控制板、线束、接口模块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78561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23E"/>
                </a:solidFill>
                <a:latin typeface="微软雅黑"/>
                <a:ea typeface="微软雅黑"/>
                <a:cs typeface="微软雅黑"/>
              </a:rPr>
              <a:t>ICT、FCT、温循老化，平台化 ATE 的主场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246120" y="4206240"/>
            <a:ext cx="201168" cy="91440"/>
          </a:xfrm>
          <a:prstGeom prst="downArrow">
            <a:avLst/>
          </a:prstGeom>
          <a:solidFill>
            <a:srgbClr val="C0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02920" y="4352544"/>
            <a:ext cx="585216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02920" y="4352544"/>
            <a:ext cx="64008" cy="131673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6" y="447141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③ 总装与集成测试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75488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ASML Veldhoven 洁净室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01091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整机（光路、工件台、控制系统）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52669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423E"/>
                </a:solidFill>
                <a:latin typeface="微软雅黑"/>
                <a:ea typeface="微软雅黑"/>
                <a:cs typeface="微软雅黑"/>
              </a:rPr>
              <a:t>集成、qualification、SPC 与 PFMEA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389888"/>
            <a:ext cx="5102352" cy="2231136"/>
          </a:xfrm>
          <a:prstGeom prst="roundRect">
            <a:avLst>
              <a:gd name="adj" fmla="val 7000"/>
            </a:avLst>
          </a:prstGeom>
          <a:solidFill>
            <a:srgbClr val="FFF8EC"/>
          </a:solidFill>
          <a:ln w="1778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84848" y="1517904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本章的范围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1828800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只讨论「部件与模块怎么被自动测」：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L1 光学件 · L2 电子模块 · L3 机电模块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不讨论整机验收（L4）——那是设备商在客户厂房里做的事，与 ATE 不是同一类问题。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785615"/>
            <a:ext cx="5102352" cy="2395728"/>
          </a:xfrm>
          <a:prstGeom prst="roundRect">
            <a:avLst>
              <a:gd name="adj" fmla="val 7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84848" y="3913632"/>
            <a:ext cx="4709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三条先记住的结论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261104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C3A36"/>
                </a:solidFill>
                <a:latin typeface="微软雅黑"/>
                <a:ea typeface="微软雅黑"/>
                <a:cs typeface="微软雅黑"/>
              </a:rPr>
              <a:t>1. 层越高越像 ATE，层越低越像计量。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4828032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C3A36"/>
                </a:solidFill>
                <a:latin typeface="微软雅黑"/>
                <a:ea typeface="微软雅黑"/>
                <a:cs typeface="微软雅黑"/>
              </a:rPr>
              <a:t>2. 同一句「自动测试」，四层由四种完全不同的装备承担。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39496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C3A36"/>
                </a:solidFill>
                <a:latin typeface="微软雅黑"/>
                <a:ea typeface="微软雅黑"/>
                <a:cs typeface="微软雅黑"/>
              </a:rPr>
              <a:t>3. 真正与我们同构的是 L2 与 L3：多品种、小批量、夹具各异。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依据：ZEISS SMT 资料、Prodrive / Neways 制造服务页、ASML 招聘岗位描述　｜　分层为本文判断，详见 05、06 两篇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制造链的四层，与每层在测什么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模块化外包 + 洁净室总装：测试被拆到供应商厂、电子厂与总装厂三处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pic>
        <p:nvPicPr>
          <p:cNvPr id="6" name="Picture 5" descr="ASML制造链与测试装备分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911" y="1115568"/>
            <a:ext cx="9135872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橙框标记的两层（L2 电子模块、L3 机电模块）是我们的目标场景；L1 是计量、L4 是系统验收，均不在 ATE 范畴。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图：ASML制造链与测试装备分层.png（自制，2400×1350）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四类测试手段 × 四层被测对象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电性、计量、功能性能、环境可靠性——每类的装备与供应商都不同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pic>
        <p:nvPicPr>
          <p:cNvPr id="6" name="Picture 5" descr="部件测试装备谱系矩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911" y="1115568"/>
            <a:ext cx="9135872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橙框六格才是「装备制造用 ATE」的主战场；L1 的计量与 L4 的系统测试混进来，会把讨论带偏。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图：部件测试装备谱系矩阵.png（自制，2400×1350）　｜　具体测试项按通用工程实践归纳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三个判断：做哪一层、差什么、不做什么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目标场景决定架构取舍，缺口决定投入顺序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① 与量产 ATE 的分野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532120" cy="310896"/>
          </a:xfrm>
          <a:prstGeom prst="roundRect">
            <a:avLst>
              <a:gd name="adj" fmla="val 6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6184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61848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量产 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1848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装备制造用测试台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202082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批量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020824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百万件级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20824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每月几十到几百件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95728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F8F8F6"/>
          </a:solidFill>
          <a:ln w="1016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" y="249631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节拍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496312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压到秒级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96312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次要，允许分钟级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71216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297180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被测件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971800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引脚定义固定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9718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每型号不同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46704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F8F8F6"/>
          </a:solidFill>
          <a:ln w="1016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" y="34472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换型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44728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少但要极快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44728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频繁，可人工介入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22191"/>
            <a:ext cx="55321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792" y="392277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92277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抽样统计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922776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全量可追溯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5532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结论：我们的架构匹配度在右侧那一列——不是性能不够，而是场景本来就不同。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298448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② 现有形态的四个缺口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1572768"/>
            <a:ext cx="530352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355080" y="1572768"/>
            <a:ext cx="54864" cy="67665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10528" y="1645920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site / 工位抽象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1920240"/>
            <a:ext cx="4983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无，台位靠人工约定 → 一拖多无法并行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2359152"/>
            <a:ext cx="530352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355080" y="2359152"/>
            <a:ext cx="54864" cy="67665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10528" y="2432304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夹具与接线描述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706624"/>
            <a:ext cx="4983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只有仪器地址，没有「测什么接哪个针」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145536"/>
            <a:ext cx="530352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355080" y="3145536"/>
            <a:ext cx="54864" cy="67665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10528" y="3218688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非电信号数据模型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493008"/>
            <a:ext cx="4983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波形、图像、面形只能存路径，无法比较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3931920"/>
            <a:ext cx="530352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6355080" y="3931920"/>
            <a:ext cx="54864" cy="676656"/>
          </a:xfrm>
          <a:prstGeom prst="roundRect">
            <a:avLst>
              <a:gd name="adj" fmla="val 0"/>
            </a:avLst>
          </a:prstGeom>
          <a:solidFill>
            <a:srgbClr val="B07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10528" y="4005072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参数闭环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4279392"/>
            <a:ext cx="4983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只判 pass/fail，偏差变不成下一轮参数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84632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③ 明确不做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5120640"/>
            <a:ext cx="5303520" cy="1042415"/>
          </a:xfrm>
          <a:prstGeom prst="roundRect">
            <a:avLst>
              <a:gd name="adj" fmla="val 7000"/>
            </a:avLst>
          </a:prstGeom>
          <a:solidFill>
            <a:srgbClr val="FAF6F4"/>
          </a:solidFill>
          <a:ln w="12700">
            <a:solidFill>
              <a:srgbClr val="E2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10528" y="5212080"/>
            <a:ext cx="499262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A4642"/>
                </a:solidFill>
                <a:latin typeface="微软雅黑"/>
                <a:ea typeface="微软雅黑"/>
                <a:cs typeface="微软雅黑"/>
              </a:rPr>
              <a:t>不做 L1 的计量仪器（干涉仪是另一个行业）；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4642"/>
                </a:solidFill>
                <a:latin typeface="微软雅黑"/>
                <a:ea typeface="微软雅黑"/>
                <a:cs typeface="微软雅黑"/>
              </a:rPr>
              <a:t>不做 L4 的整机验收（边界在客户厂房）；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A4642"/>
                </a:solidFill>
                <a:latin typeface="微软雅黑"/>
                <a:ea typeface="微软雅黑"/>
                <a:cs typeface="微软雅黑"/>
              </a:rPr>
              <a:t>不与专用 per-pin ATE 比性能（百 MHz 级 PXI 已够）。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92240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判断依据：ASML 制造链分层（05）与测试装备谱系（06）；数值为工程通例，非厂商内部数据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来源与口径：哪些是事实，哪些是判断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这一页建议保留——它是这份材料能否被追问的基础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35024"/>
            <a:ext cx="5532120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公开事实（可直接引用）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Zeiss 镜片工序链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抛光 → CCOS → 离子束修形 → 镀膜 → 面形量测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14015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Zeiss 计量要求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5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面形误差与粗糙度同时达标，靠干涉仪等计量设备支撑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Prodrive 制造服务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3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列出全流程测试自动化、温湿度测试、洁净室装配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94175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Neways 半导体能力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1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6,700 m² 以上洁净室（最高 ISO 5）、微电子封装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3425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ASML 集成测试岗位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集成多子系统、qualification、SPC 与 PFMEA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7433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供应链结构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1207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光学 Zeiss、激光 TRUMPF、精密加工 VDL 等一级供应商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35024"/>
            <a:ext cx="5468112" cy="431596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524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本文判断（须标明）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7393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四层划分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L1 光学件 / L2 电子模块 / L3 机电模块 / L4 整机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5176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装备归属映射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8950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哪一层由 ATE、哪一层由计量、哪一层由系统测试承担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29584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测试项清单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6732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按半导体设备制造通用工程实践归纳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我们的切入点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451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030"/>
                </a:solidFill>
                <a:latin typeface="微软雅黑"/>
                <a:ea typeface="微软雅黑"/>
                <a:cs typeface="微软雅黑"/>
              </a:rPr>
              <a:t>L2 / L3 的电性、功能性能与环境可靠性测试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79008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588873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汇报口径：讲「这类测试在工程上如何分层、每层需要什么能力」，不讲「ASML 某台设备的具体型号」——后者无公开资料。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完整引用清单见 docs/友商调研/README.md（R1–R16）；图片来源为自制图表，非网页截图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