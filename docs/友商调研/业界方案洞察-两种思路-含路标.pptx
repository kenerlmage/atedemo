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业界方案洞察：两种思路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19456"/>
            <a:ext cx="3255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 平台化 · 南方公司 中心化下发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16752" y="603504"/>
            <a:ext cx="7315" cy="5504688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58521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　美国国家仪器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9584" y="612648"/>
            <a:ext cx="22311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平台化路线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822960"/>
            <a:ext cx="5248656" cy="5486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822960"/>
            <a:ext cx="41148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891540"/>
            <a:ext cx="49743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1976 年成立于奥斯汀，2023 年并入 Emerson；以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软件平台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为核心、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模块化硬件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为承载，服务半导体、汽车、航空航天与院校科研；1986 年发布 LabVIEW，确立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虚拟仪器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路线。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5248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1618488"/>
            <a:ext cx="5248656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66420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" y="1732788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888236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序列编排、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并行与多工位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、结果入库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66420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00984" y="1732788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1888236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图形化开发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；仪器连接与驱动调用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35915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648" y="2427732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2583180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工位与引脚映射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；对接探针台、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5915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00984" y="2427732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2583180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机箱加模块，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背板同步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，换模块换仪器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05409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2648" y="3122676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278124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统一会话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GPIB/LXI/PXI，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类驱动互换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05409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00984" y="3122676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0984" y="3278124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台式面板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操作模块，面板可复用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785615"/>
            <a:ext cx="5248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3959352"/>
            <a:ext cx="5248656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02336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0233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分布式拓扑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192524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设备分散，按接口协作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2336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0233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4192524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组合覆盖品类需求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425696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425696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5948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PXI、VISA/IVI、STDF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425696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425696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45948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脚本（DSL）声明意图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585216"/>
            <a:ext cx="2962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南方公司（华为）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612648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中心化下发路线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4" y="822960"/>
            <a:ext cx="5394960" cy="5486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272784" y="822960"/>
            <a:ext cx="41148" cy="548640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891540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面向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终端设备制造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通信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领域；测试软件集中在中心侧维护，按工位与槽位实时下发，以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统一基线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保证多地产线运行同一版本，测试动作以脚本编排。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144475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方案要点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4" y="1618488"/>
            <a:ext cx="5394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1664208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1664208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DSL 驱动设备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833372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以脚本描述测试动作，执行端解释并驱动仪器与柜体设备。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2073859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2073859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中心化部署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243023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测试软件集中于中心，版本统一维护，不散落在各工位。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2483510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483510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实时下发机柜—框—槽位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652674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按工位与槽位粒度推送软件与配置，改版即下发。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2893161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893161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脚本高度复用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062325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同一脚本跨机型、跨工位复用，减少重复编写。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3302812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3302812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动作抽象与编排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3471976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多数测试动作抽象为原语，按流程自由编排组合。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72784" y="3785615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公司特性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72784" y="3959352"/>
            <a:ext cx="5394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72784" y="4023360"/>
            <a:ext cx="2578608" cy="713232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6272784" y="4023360"/>
            <a:ext cx="36576" cy="713232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2512" y="4087368"/>
            <a:ext cx="2377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软件基线程度高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2512" y="4261104"/>
            <a:ext cx="2377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测试程序以基线版本统一管理，各工位运行同一基线，版本可追溯。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9408" y="4023360"/>
            <a:ext cx="2578608" cy="713232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979408" y="4023360"/>
            <a:ext cx="36576" cy="713232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89136" y="4087368"/>
            <a:ext cx="2377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执行自动化水平高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89136" y="4261104"/>
            <a:ext cx="2377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从下发、执行到结果回收由系统完成，人工介入少、节拍稳定。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2064" y="517550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两种思路对照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2064" y="5358384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2064" y="5431536"/>
            <a:ext cx="11155680" cy="201168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03504" y="5463540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463540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NI：平台化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55664" y="5463540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南方公司：中心化下发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5664708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部署形态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0" y="5664708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分散：Host、机箱、仪器与测试台经网络协作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5664" y="5664708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集中：软件在中心，按槽位下发到机柜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" y="5829300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504" y="5865876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测试描述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0" y="5865876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图形化程序与序列编排，驱动适配仪器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55664" y="5865876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DSL 脚本声明动作，动作抽象为原语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" y="6030468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" y="6067044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复用方式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0" y="6067044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模块组合复用硬件，标准接口换生态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55664" y="6067044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脚本与基线复用，中心改版整体下发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2064" y="6231636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" y="6291072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判断：差别不在工具，而在重心——NI 把能力放在可组合的硬件与开放接口上，适配多品种小批量；南方公司把能力放在可下发的软件基线与脚本复用上，适配机型集中、版本一致性要求高的产线。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4" y="6528816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部分引自公开产品资料；南方公司部分为访谈与内部归纳，未引用其产品名称；路线判断为本文观点。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 的 ATE 路标与价值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19456"/>
            <a:ext cx="3255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四个阶段 · 五条价值 · 三点取用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585216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技术路标：从仪器控制到平台化 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790956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042415"/>
            <a:ext cx="11155680" cy="10972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5206" y="980693"/>
            <a:ext cx="123444" cy="123444"/>
          </a:xfrm>
          <a:prstGeom prst="ellipse">
            <a:avLst/>
          </a:prstGeom>
          <a:solidFill>
            <a:srgbClr val="8B1A1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70431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1976—1995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62455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仪器控制与总线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91055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首款 GPIB 接口板，解决计算机与仪器互联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IEEE 488 总线随仪器普及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驱动与 VISA 抽象层成形</a:t>
            </a:r>
          </a:p>
        </p:txBody>
      </p:sp>
      <p:sp>
        <p:nvSpPr>
          <p:cNvPr id="12" name="Oval 11"/>
          <p:cNvSpPr/>
          <p:nvPr/>
        </p:nvSpPr>
        <p:spPr>
          <a:xfrm>
            <a:off x="3339846" y="980693"/>
            <a:ext cx="123444" cy="123444"/>
          </a:xfrm>
          <a:prstGeom prst="ellipse">
            <a:avLst/>
          </a:prstGeom>
          <a:solidFill>
            <a:srgbClr val="1F3F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1170431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1996—2010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1362455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模块化与标准化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591055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1997 年推出 PXI 标准，随后组建 PXI 系统联盟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TestStand 以序列方式管理测试执行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IVI 类驱动推动仪器可互换</a:t>
            </a:r>
          </a:p>
        </p:txBody>
      </p:sp>
      <p:sp>
        <p:nvSpPr>
          <p:cNvPr id="16" name="Oval 15"/>
          <p:cNvSpPr/>
          <p:nvPr/>
        </p:nvSpPr>
        <p:spPr>
          <a:xfrm>
            <a:off x="6174486" y="980693"/>
            <a:ext cx="123444" cy="123444"/>
          </a:xfrm>
          <a:prstGeom prst="ellipse">
            <a:avLst/>
          </a:prstGeom>
          <a:solidFill>
            <a:srgbClr val="1F3F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170431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2011—2019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1362455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平台化 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591055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基于 PXI 与 TestStand 形成半导体测试系统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TSM 提供多工位、引脚与通道映射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InstrumentStudio 软面板降低调试门槛</a:t>
            </a:r>
          </a:p>
        </p:txBody>
      </p:sp>
      <p:sp>
        <p:nvSpPr>
          <p:cNvPr id="20" name="Oval 19"/>
          <p:cNvSpPr/>
          <p:nvPr/>
        </p:nvSpPr>
        <p:spPr>
          <a:xfrm>
            <a:off x="9009126" y="980693"/>
            <a:ext cx="123444" cy="123444"/>
          </a:xfrm>
          <a:prstGeom prst="ellipse">
            <a:avLst/>
          </a:prstGeom>
          <a:solidFill>
            <a:srgbClr val="1F3F6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170431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2020—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1362455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系统级与生态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1591055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从芯片测试扩展到板级与系统级测试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面向电池、ADAS、通信的测试方案</a:t>
            </a:r>
          </a:p>
          <a:p>
            <a:pPr algn="l">
              <a:lnSpc>
                <a:spcPct val="12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2023 年并入 Emerson，成为测试与测量业务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2487168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价值：NI 为什么能以平台方式做 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2692908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" y="2724912"/>
            <a:ext cx="21214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12064" y="2724912"/>
            <a:ext cx="2121408" cy="4114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" y="281635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303580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一套硬件覆盖多需求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3419856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 模块按测量类型组合，减少专用整机数量。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0632" y="2724912"/>
            <a:ext cx="21214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770632" y="2724912"/>
            <a:ext cx="2121408" cy="4114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889503" y="281635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9503" y="303580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改型依靠软件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9503" y="3419856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测量能力由程序与模块决定，改型周期短。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724912"/>
            <a:ext cx="21214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29200" y="2724912"/>
            <a:ext cx="2121408" cy="4114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48072" y="281635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303580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仪器可替换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8072" y="3419856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VISA / IVI 与标准总线，避免被单一供应商锁定。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7767" y="2724912"/>
            <a:ext cx="21214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287767" y="2724912"/>
            <a:ext cx="2121408" cy="4114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06640" y="281635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3580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分层可分工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3419856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执行、测量、驱动分离，团队按角色并行开发。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46336" y="2724912"/>
            <a:ext cx="21214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9546336" y="2724912"/>
            <a:ext cx="2121408" cy="4114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665208" y="281635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5208" y="3035808"/>
            <a:ext cx="1883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生态与人才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8" y="3419856"/>
            <a:ext cx="1883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工具链成熟、资料与工程师充足，维护门槛低。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4187952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对我们的取用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" y="4393692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2064" y="4425696"/>
            <a:ext cx="11155680" cy="4023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12064" y="4425696"/>
            <a:ext cx="32004" cy="402336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76656" y="4544568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可复用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4544568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分层与标准接口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4544568"/>
            <a:ext cx="8595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执行、测量、驱动三层分工，接口走 VISA / IVI 与 PXI 一类公开标准，仪器可换。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" y="4882896"/>
            <a:ext cx="11155680" cy="4023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12064" y="4882896"/>
            <a:ext cx="32004" cy="402336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76656" y="5001768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可复用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5001768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仿真先行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0" y="5001768"/>
            <a:ext cx="8595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先用仿真设备跑通流程与结果通道，再接入实机，缩短联调期。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" y="5340096"/>
            <a:ext cx="11155680" cy="402336"/>
          </a:xfrm>
          <a:prstGeom prst="rect">
            <a:avLst/>
          </a:prstGeom>
          <a:solidFill>
            <a:srgbClr val="FA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12064" y="5340096"/>
            <a:ext cx="32004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76656" y="5458968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需评估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98448" y="5458968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适用边界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5458968"/>
            <a:ext cx="8595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该路线的价值前提是多品种小批量；单品种大批量仍应对比 per-pin 专机方案的产出与成本。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" y="5888736"/>
            <a:ext cx="11155680" cy="10972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" y="5934456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NI 的路标是一条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把测量能力从专用硬件搬到软件与模块上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的路径；它的价值来自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可组合、可替换、可分工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，代价是在单品种大批量的极限性能上让位于 per-pin 专机。取用时应取其</a:t>
            </a:r>
            <a:r>
              <a:rPr sz="72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分层与标准</a:t>
            </a:r>
            <a:r>
              <a:rPr sz="72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，而非取其全部形态。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" y="6492240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公开公司沿革与产品资料（GPIB、PXI、TestStand、TSM、InstrumentStudio、Emerson 并购）；年份以公开发布时间为准，价值归纳与取用判断为本文观点。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