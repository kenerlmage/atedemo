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jp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01168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1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业界方案洞察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0" y="310896"/>
            <a:ext cx="35295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84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NI 方案的拓扑、组件与仪器虚拟化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603504"/>
            <a:ext cx="11155680" cy="64008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12064" y="603504"/>
            <a:ext cx="457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685800"/>
            <a:ext cx="1083564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73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美国国家仪器（National Instruments）成立于 1976 年，总部位于美国得克萨斯州奥斯汀，2023 年并入 Emerson，作为其测试与测量业务运营；软件体系以 1986 年发布的 LabVIEW 为起点，向上延伸出 TestStand 测试执行软件与面向半导体测试的 TestStand Semiconductor Module，硬件侧以 PXI 模块化平台为主。本页说明该方案的硬件拓扑、三大组件的落点与仪器虚拟化相关做法。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335024"/>
            <a:ext cx="1481328" cy="566928"/>
          </a:xfrm>
          <a:prstGeom prst="rect">
            <a:avLst/>
          </a:prstGeom>
          <a:solidFill>
            <a:srgbClr val="F1F3F6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12064" y="1335024"/>
            <a:ext cx="36576" cy="566928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1376172"/>
            <a:ext cx="512063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1741932"/>
            <a:ext cx="140817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MES 产线系统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39696" y="1335024"/>
            <a:ext cx="1316736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2139696" y="1335024"/>
            <a:ext cx="36576" cy="566928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i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1376172"/>
            <a:ext cx="512063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76272" y="1741932"/>
            <a:ext cx="124358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程序库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2736" y="1335024"/>
            <a:ext cx="1316736" cy="566928"/>
          </a:xfrm>
          <a:prstGeom prst="rect">
            <a:avLst/>
          </a:prstGeom>
          <a:solidFill>
            <a:srgbClr val="F1F3F6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02736" y="1335024"/>
            <a:ext cx="36576" cy="566928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072" y="1376172"/>
            <a:ext cx="512063" cy="320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39312" y="1741932"/>
            <a:ext cx="124358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结果库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65776" y="1335024"/>
            <a:ext cx="1609344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065776" y="1335024"/>
            <a:ext cx="36576" cy="566928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4416" y="1376172"/>
            <a:ext cx="512063" cy="3200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02352" y="1741932"/>
            <a:ext cx="153619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分析平台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52728" y="1901952"/>
            <a:ext cx="0" cy="64008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798064" y="1901952"/>
            <a:ext cx="0" cy="64008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261104" y="1901952"/>
            <a:ext cx="0" cy="64008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870448" y="1901952"/>
            <a:ext cx="0" cy="64008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52728" y="1965960"/>
            <a:ext cx="4617720" cy="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20240" y="2029968"/>
            <a:ext cx="2651760" cy="530352"/>
          </a:xfrm>
          <a:prstGeom prst="rect">
            <a:avLst/>
          </a:prstGeom>
          <a:solidFill>
            <a:srgbClr val="F1F3F6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920240" y="2029968"/>
            <a:ext cx="36576" cy="53035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swit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8376" y="2071116"/>
            <a:ext cx="475487" cy="29717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956816" y="2400300"/>
            <a:ext cx="257860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工业以太网交换机（千兆 · 环网 · VLAN）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46120" y="1965960"/>
            <a:ext cx="0" cy="64008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6120" y="2560320"/>
            <a:ext cx="0" cy="128016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05840" y="2688336"/>
            <a:ext cx="448056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1005840" y="2688336"/>
            <a:ext cx="36576" cy="658368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p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0088" y="2729484"/>
            <a:ext cx="512063" cy="32004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42416" y="3186684"/>
            <a:ext cx="440740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工业控制计算机（Host）：测试执行 · 工位扩展 · 操作界面 · 驱动</a:t>
            </a:r>
          </a:p>
        </p:txBody>
      </p:sp>
      <p:sp>
        <p:nvSpPr>
          <p:cNvPr id="38" name="Oval 37"/>
          <p:cNvSpPr/>
          <p:nvPr/>
        </p:nvSpPr>
        <p:spPr>
          <a:xfrm>
            <a:off x="5257800" y="2734056"/>
            <a:ext cx="182880" cy="182880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2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39" name="Oval 38"/>
          <p:cNvSpPr/>
          <p:nvPr/>
        </p:nvSpPr>
        <p:spPr>
          <a:xfrm>
            <a:off x="5038344" y="2734056"/>
            <a:ext cx="182880" cy="182880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2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246120" y="3346704"/>
            <a:ext cx="0" cy="64008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563624" y="3410712"/>
            <a:ext cx="4133088" cy="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563624" y="3410712"/>
            <a:ext cx="0" cy="64008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666744" y="3410712"/>
            <a:ext cx="0" cy="64008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696712" y="3410712"/>
            <a:ext cx="0" cy="64008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12064" y="3474720"/>
            <a:ext cx="2103120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12064" y="3474720"/>
            <a:ext cx="36576" cy="62179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v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7592" y="3515868"/>
            <a:ext cx="512063" cy="32004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48640" y="3936491"/>
            <a:ext cx="2029967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测量程序（LabVIEW）</a:t>
            </a:r>
          </a:p>
        </p:txBody>
      </p:sp>
      <p:sp>
        <p:nvSpPr>
          <p:cNvPr id="49" name="Oval 48"/>
          <p:cNvSpPr/>
          <p:nvPr/>
        </p:nvSpPr>
        <p:spPr>
          <a:xfrm>
            <a:off x="2386584" y="3520439"/>
            <a:ext cx="182880" cy="182880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2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98064" y="3474720"/>
            <a:ext cx="1737360" cy="621792"/>
          </a:xfrm>
          <a:prstGeom prst="rect">
            <a:avLst/>
          </a:prstGeom>
          <a:solidFill>
            <a:srgbClr val="F1F3F6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2798064" y="3474720"/>
            <a:ext cx="36576" cy="62179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driv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0712" y="3515868"/>
            <a:ext cx="512063" cy="32004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2834640" y="3936491"/>
            <a:ext cx="1664207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仪器驱动（SCPI / IVI）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18304" y="3474720"/>
            <a:ext cx="1956816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4718304" y="3474720"/>
            <a:ext cx="36576" cy="62179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crossb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0680" y="3515868"/>
            <a:ext cx="512063" cy="3200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754880" y="3936491"/>
            <a:ext cx="188366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开关与路径（资源仲裁）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563624" y="4096512"/>
            <a:ext cx="0" cy="64008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666744" y="4096512"/>
            <a:ext cx="0" cy="64008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696712" y="4096512"/>
            <a:ext cx="0" cy="64008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563624" y="4160520"/>
            <a:ext cx="4133088" cy="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563624" y="4160520"/>
            <a:ext cx="0" cy="64008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666744" y="4160520"/>
            <a:ext cx="0" cy="64008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696712" y="4160520"/>
            <a:ext cx="0" cy="64008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512064" y="4224528"/>
            <a:ext cx="2103120" cy="694944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512064" y="4224528"/>
            <a:ext cx="36576" cy="694944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node_chassis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07592" y="4265676"/>
            <a:ext cx="512063" cy="32004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548640" y="4759452"/>
            <a:ext cx="2029967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模块化机箱（PXI）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98064" y="4224528"/>
            <a:ext cx="1737360" cy="694944"/>
          </a:xfrm>
          <a:prstGeom prst="rect">
            <a:avLst/>
          </a:prstGeom>
          <a:solidFill>
            <a:srgbClr val="F1F3F6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2798064" y="4224528"/>
            <a:ext cx="36576" cy="694944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crossb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10712" y="4265676"/>
            <a:ext cx="512063" cy="32004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2834640" y="4759452"/>
            <a:ext cx="1664207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开关与矩阵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718304" y="4224528"/>
            <a:ext cx="1956816" cy="694944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4718304" y="4224528"/>
            <a:ext cx="36576" cy="694944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nst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40680" y="4265676"/>
            <a:ext cx="512063" cy="32004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4754880" y="4759452"/>
            <a:ext cx="188366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外挂仪器（LXI / GPIB / USB）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563624" y="4919472"/>
            <a:ext cx="0" cy="64008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3666744" y="4919472"/>
            <a:ext cx="0" cy="64008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5696712" y="4919472"/>
            <a:ext cx="0" cy="64008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563624" y="4983480"/>
            <a:ext cx="4133088" cy="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66543" y="4983480"/>
            <a:ext cx="0" cy="64008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257800" y="4983480"/>
            <a:ext cx="0" cy="64008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512064" y="5047488"/>
            <a:ext cx="3108960" cy="512064"/>
          </a:xfrm>
          <a:prstGeom prst="rect">
            <a:avLst/>
          </a:prstGeom>
          <a:solidFill>
            <a:srgbClr val="F1F3F6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512064" y="5047488"/>
            <a:ext cx="36576" cy="5120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fixtur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43430" y="5088636"/>
            <a:ext cx="446227" cy="278892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548640" y="5399532"/>
            <a:ext cx="303580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夹具与针床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840480" y="5047488"/>
            <a:ext cx="2834640" cy="512064"/>
          </a:xfrm>
          <a:prstGeom prst="rect">
            <a:avLst/>
          </a:prstGeom>
          <a:solidFill>
            <a:srgbClr val="FFFFFF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3840480" y="5047488"/>
            <a:ext cx="36576" cy="5120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du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34686" y="5088636"/>
            <a:ext cx="446227" cy="278892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3877056" y="5399532"/>
            <a:ext cx="276148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被测件工位 DUT × N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3621024" y="5303520"/>
            <a:ext cx="219456" cy="0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512064" y="5596128"/>
            <a:ext cx="6163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连线为通路示意：控制与数据（TCP/IP、PCIe、背板触发）、信号（电缆与针床接触）；节点图形为示意，机箱为产品图。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76288" y="1316736"/>
            <a:ext cx="479145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9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三大组件：官方功能描述（引自 ni.com）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876288" y="1508760"/>
            <a:ext cx="4791456" cy="10972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876288" y="1572768"/>
            <a:ext cx="182880" cy="182880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2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123175" y="1554480"/>
            <a:ext cx="10058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TestStand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174736" y="1554480"/>
            <a:ext cx="34930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00" b="0" i="1">
                <a:solidFill>
                  <a:srgbClr val="4A4844"/>
                </a:solidFill>
                <a:latin typeface="微软雅黑"/>
                <a:ea typeface="微软雅黑"/>
                <a:cs typeface="微软雅黑"/>
              </a:rPr>
              <a:t>“Off-the-shelf test management software for validation &amp; production test.”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174736" y="1874519"/>
            <a:ext cx="34930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现成的测试管理软件，用于验证测试与生产测试。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876288" y="2139696"/>
            <a:ext cx="4791456" cy="7315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876288" y="2212848"/>
            <a:ext cx="182880" cy="182880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2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123175" y="2194560"/>
            <a:ext cx="10058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LabVIEW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174736" y="2194560"/>
            <a:ext cx="34930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00" b="0" i="1">
                <a:solidFill>
                  <a:srgbClr val="4A4844"/>
                </a:solidFill>
                <a:latin typeface="微软雅黑"/>
                <a:ea typeface="微软雅黑"/>
                <a:cs typeface="微软雅黑"/>
              </a:rPr>
              <a:t>“A graphical programming environment engineers use to develop automated production, validation &amp; research test systems.”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174736" y="2514600"/>
            <a:ext cx="34930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工程师用于开发自动化生产、验证与研究类测试系统的图形化编程环境。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876288" y="2779776"/>
            <a:ext cx="4791456" cy="7315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876288" y="2852927"/>
            <a:ext cx="182880" cy="182880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2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123175" y="2834639"/>
            <a:ext cx="10058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TSM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174736" y="2834639"/>
            <a:ext cx="34930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00" b="0" i="1">
                <a:solidFill>
                  <a:srgbClr val="4A4844"/>
                </a:solidFill>
                <a:latin typeface="微软雅黑"/>
                <a:ea typeface="微软雅黑"/>
                <a:cs typeface="微软雅黑"/>
              </a:rPr>
              <a:t>“Extends the TestStand environment to help you develop, debug, deploy, and maintain semiconductor test systems.”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174736" y="3154679"/>
            <a:ext cx="34930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在 TestStand 环境之上扩展，用于开发、调试、部署与维护半导体测试系统。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876288" y="3419856"/>
            <a:ext cx="4791456" cy="7315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876288" y="3493008"/>
            <a:ext cx="479145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9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仪器虚拟化：从理念到仿真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876288" y="3685032"/>
            <a:ext cx="4791456" cy="10972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876288" y="3703320"/>
            <a:ext cx="38404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10" b="1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理念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78624" y="3694176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5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软件定义仪器功能与前面板，虚拟仪器概念自 1986 年沿用。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876288" y="3941063"/>
            <a:ext cx="38404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10" b="1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硬件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278624" y="3931920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5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PXI 模块按测量类型组合，换模块即改变仪器构成。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76288" y="4178807"/>
            <a:ext cx="38404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10" b="1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抽象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278624" y="4169663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5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NI-VISA 与 IVI 驱动统一会话，更换总线不改上层调用。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876288" y="4416551"/>
            <a:ext cx="38404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10" b="1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面板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278624" y="4407407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5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InstrumentStudio 以台式面板呈现模块化仪器。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76288" y="4654295"/>
            <a:ext cx="38404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10" b="1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仿真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278624" y="4645151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5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NI MAX 可建仿真设备，无硬件亦可开发验证流程。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76288" y="4864608"/>
            <a:ext cx="479145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9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虚拟化在产业中的应用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876288" y="5056632"/>
            <a:ext cx="4791456" cy="10972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876288" y="5065776"/>
            <a:ext cx="1106424" cy="219456"/>
          </a:xfrm>
          <a:prstGeom prst="rect">
            <a:avLst/>
          </a:prstGeom>
          <a:solidFill>
            <a:srgbClr val="F1F3F6"/>
          </a:solidFill>
          <a:ln w="762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6876288" y="5106924"/>
            <a:ext cx="11064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半导体晶圆与封测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055863" y="5065776"/>
            <a:ext cx="1106424" cy="219456"/>
          </a:xfrm>
          <a:prstGeom prst="rect">
            <a:avLst/>
          </a:prstGeom>
          <a:solidFill>
            <a:srgbClr val="F1F3F6"/>
          </a:solidFill>
          <a:ln w="762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8055863" y="5106924"/>
            <a:ext cx="11064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汽车电子与 ECU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235440" y="5065776"/>
            <a:ext cx="1106424" cy="219456"/>
          </a:xfrm>
          <a:prstGeom prst="rect">
            <a:avLst/>
          </a:prstGeom>
          <a:solidFill>
            <a:srgbClr val="F1F3F6"/>
          </a:solidFill>
          <a:ln w="762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9235440" y="5106924"/>
            <a:ext cx="11064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航空航天与国防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415016" y="5065776"/>
            <a:ext cx="1106424" cy="219456"/>
          </a:xfrm>
          <a:prstGeom prst="rect">
            <a:avLst/>
          </a:prstGeom>
          <a:solidFill>
            <a:srgbClr val="F1F3F6"/>
          </a:solidFill>
          <a:ln w="762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10415016" y="5106924"/>
            <a:ext cx="11064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消费电子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876288" y="5321808"/>
            <a:ext cx="1106424" cy="219456"/>
          </a:xfrm>
          <a:prstGeom prst="rect">
            <a:avLst/>
          </a:prstGeom>
          <a:solidFill>
            <a:srgbClr val="F1F3F6"/>
          </a:solidFill>
          <a:ln w="762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6876288" y="5362956"/>
            <a:ext cx="11064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通信设备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055863" y="5321808"/>
            <a:ext cx="1106424" cy="219456"/>
          </a:xfrm>
          <a:prstGeom prst="rect">
            <a:avLst/>
          </a:prstGeom>
          <a:solidFill>
            <a:srgbClr val="F1F3F6"/>
          </a:solidFill>
          <a:ln w="762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8055863" y="5362956"/>
            <a:ext cx="11064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能源与电力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235440" y="5321808"/>
            <a:ext cx="1106424" cy="219456"/>
          </a:xfrm>
          <a:prstGeom prst="rect">
            <a:avLst/>
          </a:prstGeom>
          <a:solidFill>
            <a:srgbClr val="F1F3F6"/>
          </a:solidFill>
          <a:ln w="762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9235440" y="5362956"/>
            <a:ext cx="11064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医疗电子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415016" y="5321808"/>
            <a:ext cx="1106424" cy="219456"/>
          </a:xfrm>
          <a:prstGeom prst="rect">
            <a:avLst/>
          </a:prstGeom>
          <a:solidFill>
            <a:srgbClr val="F1F3F6"/>
          </a:solidFill>
          <a:ln w="762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10415016" y="5362956"/>
            <a:ext cx="11064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科研与院校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876288" y="561441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适用：多品种中小批量、机箱内 4 至 16 工位并行；受限：成本敏感的单品种大批量。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12064" y="5888736"/>
            <a:ext cx="11155680" cy="9144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12064" y="5943600"/>
            <a:ext cx="4754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24128" y="5943600"/>
            <a:ext cx="106070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60" b="0" i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组件分工清晰：执行（TestStand）、测量（LabVIEW）、工位扩展（TSM）各归其位；仪器虚拟化使其在硬件不变的前提下通过软件调整测量能力，并已在半导体、汽车、航空航天、通信等行业形成成熟应用。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12064" y="6483096"/>
            <a:ext cx="10515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资料来源：NI 公开产品页（What Is TestStand、LabVIEW、TestStand Semiconductor Module）；三大组件描述为官方原文引用，中文为直译；节点划分、编号与适用性判断为本文归纳。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1247120" y="6528816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80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1 /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01168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1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业界方案洞察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0" y="310896"/>
            <a:ext cx="35295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84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TPS 脚本的 DSL 形制及其来源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603504"/>
            <a:ext cx="11155680" cy="64008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12064" y="603504"/>
            <a:ext cx="457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685800"/>
            <a:ext cx="1083564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73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以类 DSL 描述测试步骤的 TPS，在业界有明确谱系：ATLAS 由航空无线电公司（ARINC）于 1960 年代为机载设备测试开发，后由 IEEE 标准化为 416 与 716（C/ATLAS）；2000 年后由 IEEE 1641（信号与测试定义）与 IEEE 1671（ATML）承接。半导体 ATE 侧未形成公开统一语言，厂商各自私有，如 Teradyne IG-XL 与 Advantest SmarTest。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335024"/>
            <a:ext cx="3054096" cy="713232"/>
          </a:xfrm>
          <a:prstGeom prst="rect">
            <a:avLst/>
          </a:prstGeom>
          <a:solidFill>
            <a:srgbClr val="F1F3F6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12064" y="1335024"/>
            <a:ext cx="41148" cy="71323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99032"/>
            <a:ext cx="9601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1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1960s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554480"/>
            <a:ext cx="28529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ARINC ATLAS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728216"/>
            <a:ext cx="2852927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航空无线电公司为机载设备测试开发，以信号与动作描述测试过程。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39112" y="2048256"/>
            <a:ext cx="0" cy="146304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12064" y="2194560"/>
            <a:ext cx="3054096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12064" y="2194560"/>
            <a:ext cx="41148" cy="71323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258568"/>
            <a:ext cx="9601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1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1984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414015"/>
            <a:ext cx="28529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IEEE 416 ATLAS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587752"/>
            <a:ext cx="2852927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成为跨系统的通用测试语言标准，按级别定义语言子集。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39112" y="2907791"/>
            <a:ext cx="0" cy="146305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2064" y="3054096"/>
            <a:ext cx="3054096" cy="713232"/>
          </a:xfrm>
          <a:prstGeom prst="rect">
            <a:avLst/>
          </a:prstGeom>
          <a:solidFill>
            <a:srgbClr val="F1F3F6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12064" y="3054096"/>
            <a:ext cx="41148" cy="71323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118103"/>
            <a:ext cx="9601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1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1985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3273552"/>
            <a:ext cx="28529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IEEE 716 C/ATLAS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3447288"/>
            <a:ext cx="2852927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面向商用测试系统的子集，用于 TPS 编写与移植。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39112" y="3767328"/>
            <a:ext cx="0" cy="146303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12064" y="3913631"/>
            <a:ext cx="3054096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12064" y="3913631"/>
            <a:ext cx="41148" cy="71323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977639"/>
            <a:ext cx="9601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1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2004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4133087"/>
            <a:ext cx="28529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IEEE 1641 STD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4306823"/>
            <a:ext cx="2852927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以基本信号模型描述测试需求，替代 ATLAS 的表述方式。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039112" y="4626864"/>
            <a:ext cx="0" cy="146303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12064" y="4773167"/>
            <a:ext cx="3054096" cy="713232"/>
          </a:xfrm>
          <a:prstGeom prst="rect">
            <a:avLst/>
          </a:prstGeom>
          <a:solidFill>
            <a:srgbClr val="F1F3F6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12064" y="4773167"/>
            <a:ext cx="41148" cy="71323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837175"/>
            <a:ext cx="9601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1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2006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4992623"/>
            <a:ext cx="28529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IEEE 1671 ATML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5166359"/>
            <a:ext cx="2852927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以 XML 交换测试信息：测试描述、仪器与结果。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22191" y="2194560"/>
            <a:ext cx="2834640" cy="713232"/>
          </a:xfrm>
          <a:prstGeom prst="rect">
            <a:avLst/>
          </a:prstGeom>
          <a:solidFill>
            <a:srgbClr val="F1F3F6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3822191" y="2194560"/>
            <a:ext cx="41148" cy="71323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22776" y="2258568"/>
            <a:ext cx="9601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1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同期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2776" y="2414015"/>
            <a:ext cx="26334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厂商私有形制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22776" y="2587752"/>
            <a:ext cx="2633472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半导体与板级 ATE 未统一语言：</a:t>
            </a:r>
          </a:p>
          <a:p>
            <a:pPr algn="l">
              <a:lnSpc>
                <a:spcPct val="110000"/>
              </a:lnSpc>
            </a:pPr>
            <a:r>
              <a:rPr sz="59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Teradyne IG-XL 以图形化环境组织测试程序；</a:t>
            </a:r>
          </a:p>
          <a:p>
            <a:pPr algn="l">
              <a:lnSpc>
                <a:spcPct val="110000"/>
              </a:lnSpc>
            </a:pPr>
            <a:r>
              <a:rPr sz="59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Advantest SmarTest 为 V93000 系统软件。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566160" y="2551176"/>
            <a:ext cx="256031" cy="0"/>
          </a:xfrm>
          <a:prstGeom prst="line">
            <a:avLst/>
          </a:prstGeom>
          <a:ln w="12700">
            <a:solidFill>
              <a:srgbClr val="7A76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822191" y="3054096"/>
            <a:ext cx="28346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8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① 语言与执行分离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22191" y="3218688"/>
            <a:ext cx="2834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ATLAS 只描述信号与动作，由编译器映射到具体仪器；我们以 JSON 描述、pytest 执行，属同一分工。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22191" y="3840480"/>
            <a:ext cx="28346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8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② 动词可对齐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22191" y="4005072"/>
            <a:ext cx="2834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apply、measure、compare、connect 是 ATLAS 的核心动词，与 TPS 中的动作名一一对应。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22191" y="4626864"/>
            <a:ext cx="28346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8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③ 有标准可引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22191" y="4791456"/>
            <a:ext cx="2834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对外可称参照 IEEE 416 / 716 与 IEEE 1641 的表述方式，较「自研 DSL」更易被评审接受。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76288" y="1316736"/>
            <a:ext cx="479145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9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术语对照：ATLAS 动词与 TPS 字段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76288" y="1508760"/>
            <a:ext cx="4791456" cy="10972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76288" y="1554480"/>
            <a:ext cx="4791456" cy="219456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967727" y="1586484"/>
            <a:ext cx="15544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ATLAS 语句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58784" y="1586484"/>
            <a:ext cx="11887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TPS 字段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84080" y="1586484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含义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76288" y="1773936"/>
            <a:ext cx="4791456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967727" y="1856231"/>
            <a:ext cx="1554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APPLY / SETUP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58784" y="1856231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30" b="0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apply / setup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1856231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施加激励、设置量程与通道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76288" y="2103120"/>
            <a:ext cx="4791456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967727" y="2185415"/>
            <a:ext cx="1554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MEASURE (MEAS)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58784" y="2185415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30" b="0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measure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2185415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采集响应并换算为工程量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76288" y="2432303"/>
            <a:ext cx="4791456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6967727" y="2514599"/>
            <a:ext cx="1554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COMPARE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58784" y="2514599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30" b="0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limit / compare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4080" y="2514599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与上下限比较，给出合格判定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76288" y="2761487"/>
            <a:ext cx="4791456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6967727" y="2843783"/>
            <a:ext cx="1554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CONNECT / DISCONNECT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58784" y="2843783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30" b="0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connect / route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84080" y="2843783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接通或断开指定通路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76288" y="3182112"/>
            <a:ext cx="479145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9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可引用出处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76288" y="3374136"/>
            <a:ext cx="4791456" cy="10972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76288" y="3383280"/>
            <a:ext cx="31089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R1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87183" y="33787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IEEE Std 416-1984（ATLAS）　ATLAS 最初为航空应用开发，由 ARINC 提出。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76288" y="3675888"/>
            <a:ext cx="31089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R2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87183" y="3671316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IEEE Std 716-1985 / 1995（C/ATLAS）　416 的子集，面向商用自动测试系统。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76288" y="3968496"/>
            <a:ext cx="31089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R3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87183" y="396392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IEEE Std 1641-2004 / 2022（Signal and Test Definition）　承接 ATLAS 的信号描述。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76288" y="4261104"/>
            <a:ext cx="31089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R4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87183" y="425653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IEEE Std 1671（ATML）　以 XML 交换测试描述、仪器与结果信息。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76288" y="4553712"/>
            <a:ext cx="31089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R5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87183" y="454914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Teradyne IG-XL 产品页；Advantest SmarTest（V93000 系统软件）。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76288" y="4956048"/>
            <a:ext cx="479145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9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事实与判断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876288" y="5148072"/>
            <a:ext cx="4791456" cy="10972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76288" y="5157216"/>
            <a:ext cx="479145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630" b="0" i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事实：ATLAS 由 ARINC 提出并由 IEEE 416 / 716 标准化；IEEE 1641 与 ATML 为其后续。</a:t>
            </a:r>
          </a:p>
          <a:p>
            <a:pPr algn="l">
              <a:lnSpc>
                <a:spcPct val="124000"/>
              </a:lnSpc>
            </a:pPr>
            <a:r>
              <a:rPr sz="630" b="0" i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判断：我们的 TPS 与之属形制同源（动作—信号—判据三要素），但无公开证据表明存在代码级移植；半导体侧语言为厂商私有，不存在可直接对标的公开标准。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12064" y="5888736"/>
            <a:ext cx="11155680" cy="9144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12064" y="5943600"/>
            <a:ext cx="4754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4128" y="5943600"/>
            <a:ext cx="106070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60" b="0" i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类 DSL 的 TPS 并非某家厂商的独创：其形制可追溯到 ARINC 的 ATLAS，并经 IEEE 416 / 716 标准化、由 1641 与 ATML 延续；对外表述时注明这一谱系，比笼统称为自研 DSL 更有依据。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2064" y="6483096"/>
            <a:ext cx="10515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资料来源：IEEE 标准页（416、716、1641）、ATML 相关文献、Teradyne 与 Advantest 公开产品资料；与本文 TPS 的对应关系为归纳判断。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247120" y="6528816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80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