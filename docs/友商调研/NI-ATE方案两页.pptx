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NI 的 ATE 方案：一个机箱、一套软件、两条回路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566928"/>
            <a:ext cx="10789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软件全部围绕「序列」组织：TestStand 调度、LabVIEW 测量、TSM 把 site 与引脚接进来、PXI 提供仪器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83680"/>
            <a:ext cx="365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pic>
        <p:nvPicPr>
          <p:cNvPr id="6" name="Picture 5" descr="tile_testst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14400"/>
            <a:ext cx="2746171" cy="9326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4048" y="914400"/>
            <a:ext cx="2746171" cy="932688"/>
          </a:xfrm>
          <a:prstGeom prst="roundRect">
            <a:avLst>
              <a:gd name="adj" fmla="val 3000"/>
            </a:avLst>
          </a:prstGeom>
          <a:noFill/>
          <a:ln w="1143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4048" y="1865376"/>
            <a:ext cx="274617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TestStand　序列编辑器</a:t>
            </a:r>
          </a:p>
        </p:txBody>
      </p:sp>
      <p:pic>
        <p:nvPicPr>
          <p:cNvPr id="9" name="Picture 8" descr="tile_lab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523" y="914400"/>
            <a:ext cx="2746171" cy="9326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6523" y="914400"/>
            <a:ext cx="2746171" cy="932688"/>
          </a:xfrm>
          <a:prstGeom prst="roundRect">
            <a:avLst>
              <a:gd name="adj" fmla="val 3000"/>
            </a:avLst>
          </a:prstGeom>
          <a:noFill/>
          <a:ln w="1143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76523" y="1865376"/>
            <a:ext cx="274617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LabVIEW　图形化测量代码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8999" y="914400"/>
            <a:ext cx="2746171" cy="932688"/>
          </a:xfrm>
          <a:prstGeom prst="roundRect">
            <a:avLst>
              <a:gd name="adj" fmla="val 5000"/>
            </a:avLst>
          </a:prstGeom>
          <a:solidFill>
            <a:srgbClr val="FAFAF8"/>
          </a:solidFill>
          <a:ln w="15240">
            <a:solidFill>
              <a:srgbClr val="B0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42151" y="987552"/>
            <a:ext cx="259986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B0761C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0439" y="1225296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114870" y="1225296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969300" y="1225296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260439" y="1353312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114870" y="1353312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969300" y="1353312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260439" y="1481328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114870" y="1481328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969300" y="1481328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260439" y="1609344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114870" y="1609344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969300" y="1609344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42151" y="1700784"/>
            <a:ext cx="2599867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Site × Pin 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8999" y="1865376"/>
            <a:ext cx="274617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TSM　多工位 pin map（示意）</a:t>
            </a:r>
          </a:p>
        </p:txBody>
      </p:sp>
      <p:pic>
        <p:nvPicPr>
          <p:cNvPr id="28" name="Picture 27" descr="tile_px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475" y="914400"/>
            <a:ext cx="2746171" cy="93268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061475" y="914400"/>
            <a:ext cx="2746171" cy="932688"/>
          </a:xfrm>
          <a:prstGeom prst="roundRect">
            <a:avLst>
              <a:gd name="adj" fmla="val 3000"/>
            </a:avLst>
          </a:prstGeom>
          <a:noFill/>
          <a:ln w="1143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61475" y="1865376"/>
            <a:ext cx="274617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PXI + InstrumentStudio　机箱与仪器面板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2231136"/>
            <a:ext cx="11420856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12064" y="2304288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系统拓扑（单站点，多 site 在同一机箱内并行）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542032"/>
            <a:ext cx="4069080" cy="475488"/>
          </a:xfrm>
          <a:prstGeom prst="roundRect">
            <a:avLst>
              <a:gd name="adj" fmla="val 6000"/>
            </a:avLst>
          </a:prstGeom>
          <a:solidFill>
            <a:srgbClr val="F6F1EA"/>
          </a:solidFill>
          <a:ln w="12700">
            <a:solidFill>
              <a:srgbClr val="B0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2596896"/>
            <a:ext cx="3840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>
                <a:solidFill>
                  <a:srgbClr val="B0761C"/>
                </a:solidFill>
                <a:latin typeface="微软雅黑"/>
                <a:ea typeface="微软雅黑"/>
                <a:cs typeface="微软雅黑"/>
              </a:rPr>
              <a:t>中心层：程序库与数据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2779776"/>
            <a:ext cx="3840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SystemLink（部署/资产/结果）· DIAdem（分析报告）· MES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600" y="2542032"/>
            <a:ext cx="3246120" cy="475488"/>
          </a:xfrm>
          <a:prstGeom prst="roundRect">
            <a:avLst>
              <a:gd name="adj" fmla="val 6000"/>
            </a:avLst>
          </a:prstGeom>
          <a:solidFill>
            <a:srgbClr val="F6F1EA"/>
          </a:solidFill>
          <a:ln w="12700">
            <a:solidFill>
              <a:srgbClr val="B0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910328" y="2596896"/>
            <a:ext cx="3017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>
                <a:solidFill>
                  <a:srgbClr val="B0761C"/>
                </a:solidFill>
                <a:latin typeface="微软雅黑"/>
                <a:ea typeface="微软雅黑"/>
                <a:cs typeface="微软雅黑"/>
              </a:rPr>
              <a:t>程序与配置下发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0328" y="2779776"/>
            <a:ext cx="3017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.seq + pin map + 限值表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2542032"/>
            <a:ext cx="3401568" cy="475488"/>
          </a:xfrm>
          <a:prstGeom prst="roundRect">
            <a:avLst>
              <a:gd name="adj" fmla="val 6000"/>
            </a:avLst>
          </a:prstGeom>
          <a:solidFill>
            <a:srgbClr val="F6F1EA"/>
          </a:solidFill>
          <a:ln w="12700">
            <a:solidFill>
              <a:srgbClr val="B0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39327" y="2596896"/>
            <a:ext cx="3200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>
                <a:solidFill>
                  <a:srgbClr val="B0761C"/>
                </a:solidFill>
                <a:latin typeface="微软雅黑"/>
                <a:ea typeface="微软雅黑"/>
                <a:cs typeface="微软雅黑"/>
              </a:rPr>
              <a:t>结果回流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2779776"/>
            <a:ext cx="3200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结果库 / STDF → 看板与追溯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2331720" y="3054096"/>
            <a:ext cx="201168" cy="146304"/>
          </a:xfrm>
          <a:prstGeom prst="downArrow">
            <a:avLst/>
          </a:prstGeom>
          <a:solidFill>
            <a:srgbClr val="C8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Up Arrow 42"/>
          <p:cNvSpPr/>
          <p:nvPr/>
        </p:nvSpPr>
        <p:spPr>
          <a:xfrm>
            <a:off x="9921240" y="3054096"/>
            <a:ext cx="201168" cy="146304"/>
          </a:xfrm>
          <a:prstGeom prst="upArrow">
            <a:avLst/>
          </a:prstGeom>
          <a:solidFill>
            <a:srgbClr val="C8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548640" y="3218688"/>
            <a:ext cx="6035040" cy="676656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6510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76656" y="3273552"/>
            <a:ext cx="5669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站点层：工控机 / PXI 嵌入式控制器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3474720"/>
            <a:ext cx="5669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TestStand Engine（主线程 + 每 site 一线程）· TSM（site / pin map / binning）· LabVIEW Runtime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3657600"/>
            <a:ext cx="5669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NI MAX（发现与配置）· TestStand Operator Interface（操作界面）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0" y="3218688"/>
            <a:ext cx="4864608" cy="676656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6510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894576" y="327355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并行模型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3474720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Batch：各 site 同步推进；Parallel：各 site 独立走完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94576" y="3657600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每个 site 复制一份序列副本 → 变量空间互不干扰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3520440" y="3913632"/>
            <a:ext cx="201168" cy="146304"/>
          </a:xfrm>
          <a:prstGeom prst="downArrow">
            <a:avLst/>
          </a:prstGeom>
          <a:solidFill>
            <a:srgbClr val="C8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548640" y="4078224"/>
            <a:ext cx="3749039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0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58368" y="4133087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20606A"/>
                </a:solidFill>
                <a:latin typeface="微软雅黑"/>
                <a:ea typeface="微软雅黑"/>
                <a:cs typeface="微软雅黑"/>
              </a:rPr>
              <a:t>PXIe 机箱（18 槽）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4334256"/>
            <a:ext cx="3566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数字 / 模拟 / RF 模块</a:t>
            </a:r>
          </a:p>
          <a:p>
            <a:pPr algn="l">
              <a:lnSpc>
                <a:spcPct val="100000"/>
              </a:lnSpc>
            </a:pPr>
            <a:r>
              <a:rPr sz="64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时钟与触发背板路由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43984" y="4078224"/>
            <a:ext cx="32918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0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553712" y="4133087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20606A"/>
                </a:solidFill>
                <a:latin typeface="微软雅黑"/>
                <a:ea typeface="微软雅黑"/>
                <a:cs typeface="微软雅黑"/>
              </a:rPr>
              <a:t>开关与矩阵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53712" y="4334256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Switch Executive 配路径</a:t>
            </a:r>
          </a:p>
          <a:p>
            <a:pPr algn="l">
              <a:lnSpc>
                <a:spcPct val="100000"/>
              </a:lnSpc>
            </a:pPr>
            <a:r>
              <a:rPr sz="64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共享资源互斥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82127" y="4078224"/>
            <a:ext cx="3749039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0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991856" y="4133087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20606A"/>
                </a:solidFill>
                <a:latin typeface="微软雅黑"/>
                <a:ea typeface="微软雅黑"/>
                <a:cs typeface="微软雅黑"/>
              </a:rPr>
              <a:t>外挂仪器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91856" y="4334256"/>
            <a:ext cx="3566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LXI / GPIB / USB</a:t>
            </a:r>
          </a:p>
          <a:p>
            <a:pPr algn="l">
              <a:lnSpc>
                <a:spcPct val="100000"/>
              </a:lnSpc>
            </a:pPr>
            <a:r>
              <a:rPr sz="64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统一走 NI-VISA 会话</a:t>
            </a:r>
          </a:p>
        </p:txBody>
      </p:sp>
      <p:sp>
        <p:nvSpPr>
          <p:cNvPr id="62" name="Down Arrow 61"/>
          <p:cNvSpPr/>
          <p:nvPr/>
        </p:nvSpPr>
        <p:spPr>
          <a:xfrm>
            <a:off x="2377440" y="4754879"/>
            <a:ext cx="201168" cy="146304"/>
          </a:xfrm>
          <a:prstGeom prst="downArrow">
            <a:avLst/>
          </a:prstGeom>
          <a:solidFill>
            <a:srgbClr val="C8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548640" y="4919472"/>
            <a:ext cx="5394960" cy="274320"/>
          </a:xfrm>
          <a:prstGeom prst="roundRect">
            <a:avLst>
              <a:gd name="adj" fmla="val 10000"/>
            </a:avLst>
          </a:prstGeom>
          <a:solidFill>
            <a:srgbClr val="EFF4EF"/>
          </a:solidFill>
          <a:ln w="15240">
            <a:solidFill>
              <a:srgbClr val="2F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58368" y="4956048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夹具 / 针床 / DUT × N（site 0…n）　·　Handler 上下料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44768" y="4919472"/>
            <a:ext cx="5486400" cy="274320"/>
          </a:xfrm>
          <a:prstGeom prst="roundRect">
            <a:avLst>
              <a:gd name="adj" fmla="val 10000"/>
            </a:avLst>
          </a:prstGeom>
          <a:solidFill>
            <a:srgbClr val="F7F2F2"/>
          </a:solidFill>
          <a:ln w="1524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254496" y="4956048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两条回路：程序与结果走网络（秒级）；仪器动作走背板（微秒级）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" y="5358384"/>
            <a:ext cx="114208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44423E"/>
                </a:solidFill>
                <a:latin typeface="微软雅黑"/>
                <a:ea typeface="微软雅黑"/>
                <a:cs typeface="微软雅黑"/>
              </a:rPr>
              <a:t>拓扑要点：① 一站点一机箱，多 site 靠同一机箱内的并行线程，不靠多台 PC；② 共享仪器是并行的唯一硬约束；③ 中心只发程序与收结果，不参与实时回路。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8" y="656539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9A9892"/>
                </a:solidFill>
                <a:latin typeface="微软雅黑"/>
                <a:ea typeface="微软雅黑"/>
                <a:cs typeface="微软雅黑"/>
              </a:rPr>
              <a:t>图注：TestStand / LabVIEW / PXI 图为 ni.com 产品页配图；TSM 图块为 pin map 结构示意，非软件截图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组件各管一段，边界清楚才是可换型的前提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566928"/>
            <a:ext cx="10789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九个组件、三段责任：执行（TestStand / TSM）、测量（LabVIEW / 仪器）、数据（SystemLink / DIAdem）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83680"/>
            <a:ext cx="365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pic>
        <p:nvPicPr>
          <p:cNvPr id="6" name="Picture 5" descr="tile_pxi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877824"/>
            <a:ext cx="2746171" cy="7680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4048" y="877824"/>
            <a:ext cx="2746171" cy="768096"/>
          </a:xfrm>
          <a:prstGeom prst="roundRect">
            <a:avLst>
              <a:gd name="adj" fmla="val 3000"/>
            </a:avLst>
          </a:prstGeom>
          <a:noFill/>
          <a:ln w="1143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4048" y="1664207"/>
            <a:ext cx="274617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InstrumentStudio　通道与量程试探</a:t>
            </a:r>
          </a:p>
        </p:txBody>
      </p:sp>
      <p:pic>
        <p:nvPicPr>
          <p:cNvPr id="9" name="Picture 8" descr="tile_teststand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523" y="877824"/>
            <a:ext cx="2746171" cy="7680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76523" y="877824"/>
            <a:ext cx="2746171" cy="768096"/>
          </a:xfrm>
          <a:prstGeom prst="roundRect">
            <a:avLst>
              <a:gd name="adj" fmla="val 3000"/>
            </a:avLst>
          </a:prstGeom>
          <a:noFill/>
          <a:ln w="1143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76523" y="1664207"/>
            <a:ext cx="274617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TestStand　结果与流程模型</a:t>
            </a:r>
          </a:p>
        </p:txBody>
      </p:sp>
      <p:pic>
        <p:nvPicPr>
          <p:cNvPr id="12" name="Picture 11" descr="tile_labview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999" y="877824"/>
            <a:ext cx="2746171" cy="7680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68999" y="877824"/>
            <a:ext cx="2746171" cy="768096"/>
          </a:xfrm>
          <a:prstGeom prst="roundRect">
            <a:avLst>
              <a:gd name="adj" fmla="val 3000"/>
            </a:avLst>
          </a:prstGeom>
          <a:noFill/>
          <a:ln w="1143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68999" y="1664207"/>
            <a:ext cx="274617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LabVIEW　VI 与前面板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877824"/>
            <a:ext cx="2746171" cy="768096"/>
          </a:xfrm>
          <a:prstGeom prst="roundRect">
            <a:avLst>
              <a:gd name="adj" fmla="val 5000"/>
            </a:avLst>
          </a:prstGeom>
          <a:solidFill>
            <a:srgbClr val="FAFAF8"/>
          </a:solidFill>
          <a:ln w="15240">
            <a:solidFill>
              <a:srgbClr val="2F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34627" y="950976"/>
            <a:ext cx="259986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NI MAX / VISA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2915" y="1188720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0007346" y="1188720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0861776" y="1188720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152915" y="1316736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0007346" y="1316736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0861776" y="1316736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152915" y="1444752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0007346" y="1444752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861776" y="1444752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152915" y="1572768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0007346" y="1572768"/>
            <a:ext cx="836142" cy="109728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0861776" y="1572768"/>
            <a:ext cx="836142" cy="109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34627" y="1499616"/>
            <a:ext cx="2599867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Site × Pin 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1475" y="1664207"/>
            <a:ext cx="274617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8A8882"/>
                </a:solidFill>
                <a:latin typeface="微软雅黑"/>
                <a:ea typeface="微软雅黑"/>
                <a:cs typeface="微软雅黑"/>
              </a:rPr>
              <a:t>NI MAX / VISA　发现与驱动（示意）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1883664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组件作用（按责任段排列）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2066543"/>
            <a:ext cx="7452360" cy="237744"/>
          </a:xfrm>
          <a:prstGeom prst="roundRect">
            <a:avLst>
              <a:gd name="adj" fmla="val 4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3776" y="2103120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组件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2103120"/>
            <a:ext cx="4297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作用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2103120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2304287"/>
            <a:ext cx="745236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384048" y="2304287"/>
            <a:ext cx="32004" cy="329184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93776" y="2386583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8" y="2386583"/>
            <a:ext cx="4261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序列引擎与执行器：解释 step、跑流程模型、收结果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2386583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2656331"/>
            <a:ext cx="7452360" cy="329184"/>
          </a:xfrm>
          <a:prstGeom prst="roundRect">
            <a:avLst>
              <a:gd name="adj" fmla="val 5000"/>
            </a:avLst>
          </a:prstGeom>
          <a:solidFill>
            <a:srgbClr val="FAFAF8"/>
          </a:solidFill>
          <a:ln w="889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84048" y="2656331"/>
            <a:ext cx="32004" cy="329184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93776" y="2738627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95728" y="2738627"/>
            <a:ext cx="4261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半导体扩展：site 抽象、pin map、多工位复用、binning/STDF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84848" y="2738627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" y="3008375"/>
            <a:ext cx="745236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4048" y="3008375"/>
            <a:ext cx="32004" cy="329184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93776" y="3090671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95728" y="3090671"/>
            <a:ext cx="4261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测量代码本体：一个 step 一个 VI，采集与判定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3090671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" y="3360420"/>
            <a:ext cx="7452360" cy="329184"/>
          </a:xfrm>
          <a:prstGeom prst="roundRect">
            <a:avLst>
              <a:gd name="adj" fmla="val 5000"/>
            </a:avLst>
          </a:prstGeom>
          <a:solidFill>
            <a:srgbClr val="FAFAF8"/>
          </a:solidFill>
          <a:ln w="889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384048" y="3360420"/>
            <a:ext cx="32004" cy="329184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93776" y="3442715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95728" y="3442715"/>
            <a:ext cx="4261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仪器软面板：调试期试探参数、确认通道，量产不用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3442715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4048" y="3712463"/>
            <a:ext cx="745236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384048" y="3712463"/>
            <a:ext cx="32004" cy="329184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93776" y="3794759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Switch Executive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95728" y="3794759"/>
            <a:ext cx="4261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开关与矩阵路径配置、共享资源互斥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4848" y="3794759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4048" y="4064507"/>
            <a:ext cx="7452360" cy="329184"/>
          </a:xfrm>
          <a:prstGeom prst="roundRect">
            <a:avLst>
              <a:gd name="adj" fmla="val 5000"/>
            </a:avLst>
          </a:prstGeom>
          <a:solidFill>
            <a:srgbClr val="FAFAF8"/>
          </a:solidFill>
          <a:ln w="889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384048" y="4064507"/>
            <a:ext cx="32004" cy="329184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493776" y="4146803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NI-VISA / 488.2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95728" y="4146803"/>
            <a:ext cx="4261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统一会话层：LAN / GPIB / USB 同一套 API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4848" y="4146803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4048" y="4416552"/>
            <a:ext cx="745236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384048" y="4416552"/>
            <a:ext cx="32004" cy="329184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93776" y="4498848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NI-DAQmx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95728" y="4498848"/>
            <a:ext cx="4261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传感器与模拟量采集、定时与触发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84848" y="4498848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4048" y="4768596"/>
            <a:ext cx="7452360" cy="329184"/>
          </a:xfrm>
          <a:prstGeom prst="roundRect">
            <a:avLst>
              <a:gd name="adj" fmla="val 5000"/>
            </a:avLst>
          </a:prstGeom>
          <a:solidFill>
            <a:srgbClr val="FAFAF8"/>
          </a:solidFill>
          <a:ln w="889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384048" y="4768596"/>
            <a:ext cx="32004" cy="329184"/>
          </a:xfrm>
          <a:prstGeom prst="roundRect">
            <a:avLst>
              <a:gd name="adj" fmla="val 0"/>
            </a:avLst>
          </a:prstGeom>
          <a:solidFill>
            <a:srgbClr val="20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93776" y="4850892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PXI Platform Services / MAX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95728" y="4850892"/>
            <a:ext cx="4261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机箱模块发现、时钟触发路由、自检与固件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84848" y="485089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20606A"/>
                </a:solidFill>
                <a:latin typeface="微软雅黑"/>
                <a:ea typeface="微软雅黑"/>
                <a:cs typeface="微软雅黑"/>
              </a:rPr>
              <a:t>平台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4048" y="5120640"/>
            <a:ext cx="7452360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384048" y="5120640"/>
            <a:ext cx="32004" cy="329184"/>
          </a:xfrm>
          <a:prstGeom prst="roundRect">
            <a:avLst>
              <a:gd name="adj" fmla="val 0"/>
            </a:avLst>
          </a:prstGeom>
          <a:solidFill>
            <a:srgbClr val="5C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93776" y="5202936"/>
            <a:ext cx="1847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SystemLink / DIAdem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95728" y="5202936"/>
            <a:ext cx="4261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3A3834"/>
                </a:solidFill>
                <a:latin typeface="微软雅黑"/>
                <a:ea typeface="微软雅黑"/>
                <a:cs typeface="微软雅黑"/>
              </a:rPr>
              <a:t>机群与数据管理、离线分析与报告生成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84848" y="5202936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5C3A7A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46720" y="1883664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一次运行的责任链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46720" y="2103120"/>
            <a:ext cx="3749039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8046720" y="2103120"/>
            <a:ext cx="32004" cy="457200"/>
          </a:xfrm>
          <a:prstGeom prst="roundRect">
            <a:avLst>
              <a:gd name="adj" fmla="val 0"/>
            </a:avLst>
          </a:prstGeom>
          <a:solidFill>
            <a:srgbClr val="20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8174736" y="2157984"/>
            <a:ext cx="3566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20606A"/>
                </a:solidFill>
                <a:latin typeface="微软雅黑"/>
                <a:ea typeface="微软雅黑"/>
                <a:cs typeface="微软雅黑"/>
              </a:rPr>
              <a:t>① MAX 配置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74736" y="2340863"/>
            <a:ext cx="3566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机箱 / 模块 / 触发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046720" y="2615184"/>
            <a:ext cx="3749039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8046720" y="2615184"/>
            <a:ext cx="32004" cy="45720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8174736" y="2670048"/>
            <a:ext cx="3566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② TestStand 起序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74736" y="2852928"/>
            <a:ext cx="3566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选模型，进 PreUUT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046720" y="3127248"/>
            <a:ext cx="3749039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8046720" y="3127248"/>
            <a:ext cx="32004" cy="45720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8174736" y="3182112"/>
            <a:ext cx="3566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③ TSM 分 site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74736" y="3364991"/>
            <a:ext cx="3566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复制序列到线程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046720" y="3639312"/>
            <a:ext cx="3749039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ounded Rectangle 94"/>
          <p:cNvSpPr/>
          <p:nvPr/>
        </p:nvSpPr>
        <p:spPr>
          <a:xfrm>
            <a:off x="8046720" y="3639312"/>
            <a:ext cx="32004" cy="457200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8174736" y="3694176"/>
            <a:ext cx="3566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④ LabVIEW + 驱动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74736" y="3877056"/>
            <a:ext cx="3566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VI 调 VISA / DAQmx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046720" y="4151376"/>
            <a:ext cx="3749039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ounded Rectangle 98"/>
          <p:cNvSpPr/>
          <p:nvPr/>
        </p:nvSpPr>
        <p:spPr>
          <a:xfrm>
            <a:off x="8046720" y="4151376"/>
            <a:ext cx="32004" cy="457200"/>
          </a:xfrm>
          <a:prstGeom prst="roundRect">
            <a:avLst>
              <a:gd name="adj" fmla="val 0"/>
            </a:avLst>
          </a:prstGeom>
          <a:solidFill>
            <a:srgbClr val="5C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8174736" y="4206240"/>
            <a:ext cx="3566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5C3A7A"/>
                </a:solidFill>
                <a:latin typeface="微软雅黑"/>
                <a:ea typeface="微软雅黑"/>
                <a:cs typeface="微软雅黑"/>
              </a:rPr>
              <a:t>⑤ 判 bin 归档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74736" y="4389120"/>
            <a:ext cx="3566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6C6A66"/>
                </a:solidFill>
                <a:latin typeface="微软雅黑"/>
                <a:ea typeface="微软雅黑"/>
                <a:cs typeface="微软雅黑"/>
              </a:rPr>
              <a:t>结果库 / STDF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046720" y="4681727"/>
            <a:ext cx="3749039" cy="566928"/>
          </a:xfrm>
          <a:prstGeom prst="roundRect">
            <a:avLst>
              <a:gd name="adj" fmla="val 6000"/>
            </a:avLst>
          </a:prstGeom>
          <a:solidFill>
            <a:srgbClr val="FFF9EE"/>
          </a:solidFill>
          <a:ln w="13970">
            <a:solidFill>
              <a:srgbClr val="B0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8165592" y="473659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4A3A1E"/>
                </a:solidFill>
                <a:latin typeface="微软雅黑"/>
                <a:ea typeface="微软雅黑"/>
                <a:cs typeface="微软雅黑"/>
              </a:rPr>
              <a:t>边界：调试工具（InstrumentStudio）与量产执行（TestStand 序列）是两套东西，混用会成为隐患。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84048" y="5504688"/>
            <a:ext cx="11420856" cy="969264"/>
          </a:xfrm>
          <a:prstGeom prst="roundRect">
            <a:avLst>
              <a:gd name="adj" fmla="val 5000"/>
            </a:avLst>
          </a:prstGeom>
          <a:solidFill>
            <a:srgbClr val="F7F4F0"/>
          </a:solidFill>
          <a:ln w="12700">
            <a:solidFill>
              <a:srgbClr val="DE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512064" y="5577840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友商特点（NI）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2064" y="5779007"/>
            <a:ext cx="27637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分层卖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2064" y="5961888"/>
            <a:ext cx="276377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4C4A46"/>
                </a:solidFill>
                <a:latin typeface="微软雅黑"/>
                <a:ea typeface="微软雅黑"/>
                <a:cs typeface="微软雅黑"/>
              </a:rPr>
              <a:t>仪器、驱动、执行、数据分四段，任一段可换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85566" y="5779007"/>
            <a:ext cx="27637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以序列为中心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85566" y="5961888"/>
            <a:ext cx="276377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4C4A46"/>
                </a:solidFill>
                <a:latin typeface="微软雅黑"/>
                <a:ea typeface="微软雅黑"/>
                <a:cs typeface="微软雅黑"/>
              </a:rPr>
              <a:t>流程模型固化 UUT 循环与 binning，测试者只写 step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59068" y="5779007"/>
            <a:ext cx="27637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site 是一等公民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59068" y="5961888"/>
            <a:ext cx="276377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4C4A46"/>
                </a:solidFill>
                <a:latin typeface="微软雅黑"/>
                <a:ea typeface="微软雅黑"/>
                <a:cs typeface="微软雅黑"/>
              </a:rPr>
              <a:t>TSM 把多工位做成配置，而不是改代码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32570" y="5779007"/>
            <a:ext cx="27637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生态即护城河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32570" y="5961888"/>
            <a:ext cx="276377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4C4A46"/>
                </a:solidFill>
                <a:latin typeface="微软雅黑"/>
                <a:ea typeface="微软雅黑"/>
                <a:cs typeface="微软雅黑"/>
              </a:rPr>
              <a:t>模块 + 驱动 + 认证工程师，替换成本在生态不在代码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4048" y="656539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9A9892"/>
                </a:solidFill>
                <a:latin typeface="微软雅黑"/>
                <a:ea typeface="微软雅黑"/>
                <a:cs typeface="微软雅黑"/>
              </a:rPr>
              <a:t>组件作用依据 NI 官方文档与产品页；「友商特点」为本文归纳，用于选型对照而非评价优劣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