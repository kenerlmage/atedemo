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19456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291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第一篇　硬件拓扑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40080"/>
            <a:ext cx="11155680" cy="58521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40080"/>
            <a:ext cx="45720" cy="58521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731520"/>
            <a:ext cx="10835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美国国家仪器（National Instruments，简称 NI）成立于 1976 年，总部位于美国得克萨斯州奥斯汀，长期提供模块化仪器、测试执行软件与系统集成工具；2023 年并入 Emerson，作为其测试与测量业务运营。其 PXI 模块化平台与 TestStand 测试执行软件在电子、汽车与半导体测试领域应用广泛。本页基于其公开资料，说明该方案的硬件拓扑与适用场景。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389888"/>
            <a:ext cx="1627632" cy="51206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1389888"/>
            <a:ext cx="41148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72184"/>
            <a:ext cx="142646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1426463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任务令 · 结果回传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389888"/>
            <a:ext cx="1481328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286000" y="1389888"/>
            <a:ext cx="41148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472184"/>
            <a:ext cx="1280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1655064"/>
            <a:ext cx="1280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序列与配置版本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2" y="1389888"/>
            <a:ext cx="1481328" cy="51206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913632" y="1389888"/>
            <a:ext cx="41148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472184"/>
            <a:ext cx="128016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655064"/>
            <a:ext cx="1280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原始数据 · 追溯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1264" y="1389888"/>
            <a:ext cx="1645920" cy="51206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541264" y="1389888"/>
            <a:ext cx="41148" cy="5120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1472184"/>
            <a:ext cx="1444751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1655064"/>
            <a:ext cx="1444751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报表 · 良率趋势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25880" y="1901952"/>
            <a:ext cx="0" cy="146304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26664" y="1901952"/>
            <a:ext cx="0" cy="146304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54296" y="1901952"/>
            <a:ext cx="0" cy="146304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64224" y="1901952"/>
            <a:ext cx="0" cy="146304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325880" y="2048256"/>
            <a:ext cx="5038344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395728" y="2121408"/>
            <a:ext cx="3291840" cy="493776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395728" y="2121408"/>
            <a:ext cx="41148" cy="49377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05456" y="2203703"/>
            <a:ext cx="25968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5456" y="2386584"/>
            <a:ext cx="259689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千兆 · 环网冗余 · VLAN 隔离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221284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L3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41648" y="2048256"/>
            <a:ext cx="0" cy="73152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41648" y="2615184"/>
            <a:ext cx="0" cy="14630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0" y="2633472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TCP/IP 千兆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2779776"/>
            <a:ext cx="466344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737360" y="2779776"/>
            <a:ext cx="41148" cy="56692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47088" y="2862072"/>
            <a:ext cx="396849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47088" y="3044952"/>
            <a:ext cx="3968496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测试执行软件 · 测量程序 · 操作界面 · 设备驱动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871216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17520" y="3346704"/>
            <a:ext cx="0" cy="164592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00784" y="3511296"/>
            <a:ext cx="4663440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00784" y="3511296"/>
            <a:ext cx="0" cy="237743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904487" y="3511296"/>
            <a:ext cx="0" cy="237743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25896" y="3511296"/>
            <a:ext cx="0" cy="237743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663440" y="3346704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PCIe / 以太网　背板触发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" y="3767328"/>
            <a:ext cx="2377440" cy="78638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12064" y="3767328"/>
            <a:ext cx="41148" cy="78638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node_chas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959941"/>
            <a:ext cx="621792" cy="401156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30936" y="3959941"/>
            <a:ext cx="621792" cy="401156"/>
          </a:xfrm>
          <a:prstGeom prst="rect">
            <a:avLst/>
          </a:prstGeom>
          <a:noFill/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344168" y="3849624"/>
            <a:ext cx="9601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44168" y="4032504"/>
            <a:ext cx="960119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数字 / 模拟 / 射频模块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40864" y="385876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27248" y="3767328"/>
            <a:ext cx="1554480" cy="786384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127248" y="3767328"/>
            <a:ext cx="41148" cy="78638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36976" y="3849624"/>
            <a:ext cx="859536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6976" y="4032504"/>
            <a:ext cx="85953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通道扩展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路径互斥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33088" y="385876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64608" y="3767328"/>
            <a:ext cx="2322576" cy="78638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4864608" y="3767328"/>
            <a:ext cx="41148" cy="78638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74336" y="3849624"/>
            <a:ext cx="1627631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4336" y="4032504"/>
            <a:ext cx="1627631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LXI / GPIB / USB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统一会话访问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8544" y="385876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700784" y="4553712"/>
            <a:ext cx="0" cy="18288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904487" y="4553712"/>
            <a:ext cx="0" cy="18288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025896" y="4553712"/>
            <a:ext cx="0" cy="18288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00784" y="4736592"/>
            <a:ext cx="4325112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377440" y="4736592"/>
            <a:ext cx="0" cy="14630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815584" y="4736592"/>
            <a:ext cx="0" cy="14630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127248" y="4754880"/>
            <a:ext cx="17373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信号电缆 / 背板触发总线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2064" y="4901184"/>
            <a:ext cx="3749039" cy="530352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512064" y="4901184"/>
            <a:ext cx="41148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4983480"/>
            <a:ext cx="354787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" y="5166360"/>
            <a:ext cx="3547872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机械定位 · 信号引出 · 品种更换整体替换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43984" y="4901184"/>
            <a:ext cx="2743200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443984" y="4901184"/>
            <a:ext cx="41148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53712" y="4983480"/>
            <a:ext cx="25420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53712" y="5166360"/>
            <a:ext cx="2542032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并行执行 · 手动或自动上下料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261104" y="5166360"/>
            <a:ext cx="182880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187952" y="5212080"/>
            <a:ext cx="31089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接触</a:t>
            </a:r>
          </a:p>
        </p:txBody>
      </p:sp>
      <p:pic>
        <p:nvPicPr>
          <p:cNvPr id="82" name="Picture 81" descr="rep_px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371600"/>
            <a:ext cx="4334256" cy="1133856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7333488" y="1371600"/>
            <a:ext cx="4334256" cy="1133856"/>
          </a:xfrm>
          <a:prstGeom prst="rect">
            <a:avLst/>
          </a:prstGeom>
          <a:noFill/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333488" y="2532888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1　模块化机箱与仪器配置界面（ni.com 产品资料）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3488" y="2706624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拓扑说明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33488" y="2916936"/>
            <a:ext cx="43342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33488" y="296265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17536" y="2962656"/>
            <a:ext cx="39502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单站点纵向结构：中心层承担程序下发与结果回收，控制层承担全部实时测试动作。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33488" y="352958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17536" y="3529584"/>
            <a:ext cx="39502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多工位由机箱内并行执行实现，不通过增加控制计算机数量扩展工位；程序与结果走工业以太网，仪器控制信号走背板触发与专用电缆，两条通路相互独立。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33488" y="4114800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33488" y="4325112"/>
            <a:ext cx="43342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33488" y="435254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424927" y="441655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多品种、中小批量、引脚数中等以上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9376" y="441655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33488" y="462686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7424927" y="469087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单一机箱内 4 至 16 工位并行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09376" y="46908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33488" y="4901183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424927" y="496519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数字、模拟与射频混合测量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09376" y="496519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33488" y="517550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7424927" y="523951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成本敏感的单品种大批量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09376" y="523951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33488" y="544982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424927" y="551383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需与既有非 NI 仪器深度耦合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09376" y="551383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2064" y="5797296"/>
            <a:ext cx="11155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12064" y="5797296"/>
            <a:ext cx="45720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586130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5568" y="5870448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该方案以单一控制节点承载多工位并行，扩展工位不依赖增加计算机数量；程序与结果、仪器控制分走两条通路。适用于中等规模、品种较多的量产线；适用性判断以功能覆盖与工程成本为依据，不含价格因素。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2064" y="6419088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公开产品资料与公司信息；节点划分与适用性判断为本文归纳。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19456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2918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第二篇　软件架构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40080"/>
            <a:ext cx="11155680" cy="58521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40080"/>
            <a:ext cx="45720" cy="58521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731520"/>
            <a:ext cx="10835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 的软件体系以 LabVIEW（1986 年首次发布）为基础，向上延伸出 TestStand 测试执行软件，以及面向半导体测试的 TestStand Semiconductor Module。其公开资料将测量、测试执行与数据管理划分为相对独立的产品线，各自独立发布与升级。本页说明该方案的软件分层与适用场景。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2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1389888"/>
            <a:ext cx="2103120" cy="53035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12064" y="1389888"/>
            <a:ext cx="41148" cy="53035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72184"/>
            <a:ext cx="140817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操作界面（HMI）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1408175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启动 · 监视 · 异常处置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148132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应用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89888"/>
            <a:ext cx="2066543" cy="53035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743200" y="1389888"/>
            <a:ext cx="41148" cy="53035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1472184"/>
            <a:ext cx="137159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1655064"/>
            <a:ext cx="1371599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序列与版本下发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148132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389888"/>
            <a:ext cx="2286000" cy="53035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901184" y="1389888"/>
            <a:ext cx="41148" cy="53035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472184"/>
            <a:ext cx="159105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结果查询与报表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655064"/>
            <a:ext cx="1591055" cy="228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合格率 · 追溯查询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48132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应用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63624" y="1920240"/>
            <a:ext cx="0" cy="21945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63624" y="2139696"/>
            <a:ext cx="1271016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34640" y="2139696"/>
            <a:ext cx="0" cy="20116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76472" y="1920240"/>
            <a:ext cx="0" cy="42062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44184" y="1920240"/>
            <a:ext cx="0" cy="21945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120640" y="2139696"/>
            <a:ext cx="923544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20640" y="2139696"/>
            <a:ext cx="0" cy="20116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20240" y="1975104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调用接口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2359152"/>
            <a:ext cx="2962656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12064" y="2359152"/>
            <a:ext cx="41148" cy="60350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2441448"/>
            <a:ext cx="22677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测试执行引擎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24328"/>
            <a:ext cx="226771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流程组织 · 步骤调度 · 超时与异常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450592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9312" y="2359152"/>
            <a:ext cx="1700784" cy="60350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639312" y="2359152"/>
            <a:ext cx="41148" cy="60350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2441448"/>
            <a:ext cx="100584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工位管理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262432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多工位并行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合格性判定与分档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1456" y="2450592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2359152"/>
            <a:ext cx="1700784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486400" y="2359152"/>
            <a:ext cx="41148" cy="60350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96128" y="2441448"/>
            <a:ext cx="100584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结果归档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6128" y="2624328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统一格式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批次与序列号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2450592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74720" y="2660904"/>
            <a:ext cx="164592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40096" y="2660904"/>
            <a:ext cx="146304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93392" y="2962656"/>
            <a:ext cx="0" cy="21945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920240" y="3182112"/>
            <a:ext cx="73152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20240" y="3182112"/>
            <a:ext cx="0" cy="237744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489704" y="2962656"/>
            <a:ext cx="0" cy="45720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36792" y="2962656"/>
            <a:ext cx="0" cy="45720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72000" y="3054096"/>
            <a:ext cx="11887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调用测量接口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" y="3438144"/>
            <a:ext cx="2761488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12064" y="3438144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node_l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605980"/>
            <a:ext cx="585216" cy="37755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30936" y="3605980"/>
            <a:ext cx="585216" cy="377558"/>
          </a:xfrm>
          <a:prstGeom prst="rect">
            <a:avLst/>
          </a:prstGeom>
          <a:noFill/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307592" y="3520439"/>
            <a:ext cx="1380743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07592" y="3703320"/>
            <a:ext cx="13807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激励施加 · 信号采集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数据换算与限值比较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24912" y="3529584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38144" y="3438144"/>
            <a:ext cx="1828800" cy="71323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438144" y="3438144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47872" y="3520439"/>
            <a:ext cx="1133855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47872" y="3703320"/>
            <a:ext cx="11338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会话管理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SCPI · IVI · 寄存器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18304" y="3529584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13248" y="3438144"/>
            <a:ext cx="1773936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13248" y="3438144"/>
            <a:ext cx="41148" cy="71323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22976" y="3520439"/>
            <a:ext cx="1078991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22976" y="3703320"/>
            <a:ext cx="107899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通路互斥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共享资源仲裁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38544" y="3529584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24528" y="4151376"/>
            <a:ext cx="0" cy="256032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3749039" y="4407408"/>
            <a:ext cx="475489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49039" y="4407408"/>
            <a:ext cx="0" cy="20116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300216" y="4151376"/>
            <a:ext cx="0" cy="45720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663440" y="4206240"/>
            <a:ext cx="8229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资源请求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2064" y="4626864"/>
            <a:ext cx="2962656" cy="603504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512064" y="4626864"/>
            <a:ext cx="41148" cy="60350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" y="4709159"/>
            <a:ext cx="226771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资源配置与自检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" y="4892040"/>
            <a:ext cx="2267712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通道映射 · 时钟与触发 · 固件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4718303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平台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39312" y="4626864"/>
            <a:ext cx="1700784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639312" y="4626864"/>
            <a:ext cx="41148" cy="60350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39" y="4709159"/>
            <a:ext cx="100584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机箱与模块管理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49039" y="4892040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资源发现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设备拓扑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91456" y="4718303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平台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0" y="4626864"/>
            <a:ext cx="1700784" cy="603504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5486400" y="4626864"/>
            <a:ext cx="41148" cy="60350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96128" y="4709159"/>
            <a:ext cx="100584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3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设备维护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96128" y="4892040"/>
            <a:ext cx="100584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校准记录</a:t>
            </a:r>
          </a:p>
          <a:p>
            <a:pPr algn="l">
              <a:lnSpc>
                <a:spcPct val="112000"/>
              </a:lnSpc>
            </a:pPr>
            <a:r>
              <a:rPr sz="61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备件与生命周期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38544" y="4718303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58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平台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474720" y="4928616"/>
            <a:ext cx="164592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0096" y="4928616"/>
            <a:ext cx="146304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97280" y="5248656"/>
            <a:ext cx="34747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层间以配置与调用约定衔接，箭头表示调用方向</a:t>
            </a:r>
          </a:p>
        </p:txBody>
      </p:sp>
      <p:pic>
        <p:nvPicPr>
          <p:cNvPr id="94" name="Picture 93" descr="rep_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371600"/>
            <a:ext cx="2121408" cy="1060704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7333488" y="1371600"/>
            <a:ext cx="2121408" cy="1060704"/>
          </a:xfrm>
          <a:prstGeom prst="rect">
            <a:avLst/>
          </a:prstGeom>
          <a:noFill/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333488" y="2459736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1　测试执行软件</a:t>
            </a:r>
          </a:p>
        </p:txBody>
      </p:sp>
      <p:pic>
        <p:nvPicPr>
          <p:cNvPr id="97" name="Picture 96" descr="rep_l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1371600"/>
            <a:ext cx="2121408" cy="1060704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9546336" y="1371600"/>
            <a:ext cx="2121408" cy="1060704"/>
          </a:xfrm>
          <a:prstGeom prst="rect">
            <a:avLst/>
          </a:prstGeom>
          <a:noFill/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546336" y="2459736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 2　测量开发环境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33488" y="2633472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架构特征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33488" y="2843784"/>
            <a:ext cx="43342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33488" y="288950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（一）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17536" y="2889504"/>
            <a:ext cx="3950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层次职责单一：应用层不涉及测量，测量层不涉及流程，任一层调整不影响相邻层。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33488" y="3474720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（二）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7536" y="3474720"/>
            <a:ext cx="39502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流程与测量分离、结果出口统一：换被测对象主要改测量层与流程配置，换仪器主要改测量层；各层结果按统一格式归档，供中心侧汇总与追溯。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33488" y="4114800"/>
            <a:ext cx="43342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33488" y="4325112"/>
            <a:ext cx="43342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333488" y="435254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424927" y="441655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流程稳定、需长期维护的量产线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09376" y="441655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333488" y="462686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424927" y="469087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测试项由工艺定义、软件仅作组织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009376" y="469087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33488" y="4901183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7424927" y="496519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多品种小批量、换型频繁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009376" y="496519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33488" y="5175504"/>
            <a:ext cx="4334256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7424927" y="523951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频繁变更的研发验证阶段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09376" y="523951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333488" y="5449824"/>
            <a:ext cx="4334256" cy="274320"/>
          </a:xfrm>
          <a:prstGeom prst="rect">
            <a:avLst/>
          </a:prstGeom>
          <a:solidFill>
            <a:srgbClr val="F7F6F3"/>
          </a:solidFill>
          <a:ln w="635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7424927" y="5513832"/>
            <a:ext cx="3493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仅需轻量单工位执行的小型工位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09376" y="5513832"/>
            <a:ext cx="5669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12064" y="5797296"/>
            <a:ext cx="11155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12064" y="5797296"/>
            <a:ext cx="45720" cy="53035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080" y="5861304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5568" y="5870448"/>
            <a:ext cx="10424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软件按应用、执行、测量、平台四层划分，流程与测量分离使换型与换仪器的影响范围可控；该结构适合流程稳定、需长期维护的量产场景，研发验证阶段因配置与授权调整周期较长而相对受限。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2064" y="6419088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公开产品资料与公司信息；四层划分与适用性判断为本文归纳，非厂商官方分类。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