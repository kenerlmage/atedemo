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业界 ATE 实现的三条路线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5953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专用机、模块化平台、设备内建量测 —— 三条路线解决的不是同一个问题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16736"/>
            <a:ext cx="3621024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316736"/>
            <a:ext cx="3621024" cy="749808"/>
          </a:xfrm>
          <a:prstGeom prst="roundRect">
            <a:avLst>
              <a:gd name="adj" fmla="val 6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621024" cy="329184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7512" y="13898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路线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910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专用 per-pin 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28800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8E8E8"/>
                </a:solidFill>
                <a:latin typeface="微软雅黑"/>
                <a:ea typeface="微软雅黑"/>
                <a:cs typeface="微软雅黑"/>
              </a:rPr>
              <a:t>Advantest · Teradyne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" y="2194560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9224" y="2194560"/>
            <a:ext cx="54864" cy="585216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2240279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硬件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9304" y="2231136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专用机柜 + 通道板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05456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每引脚独立时序与电平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" y="2852928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49224" y="2852928"/>
            <a:ext cx="54864" cy="585216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289864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软件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9304" y="2889504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专有测试语言 + 编译器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63824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向量与时序编译成通道微码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" y="3511296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49224" y="3511296"/>
            <a:ext cx="54864" cy="585216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557015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水平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9304" y="3547872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ps 级偏斜、Gbps 级速率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22191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高引脚数 SoC 的量产主力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" y="4169664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49224" y="4169664"/>
            <a:ext cx="54864" cy="585216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421538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" y="4206240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加通道板，受机柜限制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480560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换型需重新编译与验证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" y="4846320"/>
            <a:ext cx="3328416" cy="301752"/>
          </a:xfrm>
          <a:prstGeom prst="roundRect">
            <a:avLst>
              <a:gd name="adj" fmla="val 14000"/>
            </a:avLst>
          </a:prstGeom>
          <a:solidFill>
            <a:srgbClr val="F6F7F5"/>
          </a:solidFill>
          <a:ln w="11430">
            <a:solidFill>
              <a:srgbClr val="CE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8952" y="4901184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强项：引脚密度、时序精度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" y="5175504"/>
            <a:ext cx="3328416" cy="301752"/>
          </a:xfrm>
          <a:prstGeom prst="roundRect">
            <a:avLst>
              <a:gd name="adj" fmla="val 14000"/>
            </a:avLst>
          </a:prstGeom>
          <a:solidFill>
            <a:srgbClr val="FAF8F6"/>
          </a:solidFill>
          <a:ln w="11430">
            <a:solidFill>
              <a:srgbClr val="E4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8952" y="5230368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85C58"/>
                </a:solidFill>
                <a:latin typeface="微软雅黑"/>
                <a:ea typeface="微软雅黑"/>
                <a:cs typeface="微软雅黑"/>
              </a:rPr>
              <a:t>弱项：封闭、单价高、改型慢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5112" y="1316736"/>
            <a:ext cx="3621024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325112" y="1316736"/>
            <a:ext cx="3621024" cy="749808"/>
          </a:xfrm>
          <a:prstGeom prst="roundRect">
            <a:avLst>
              <a:gd name="adj" fmla="val 600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4325112" y="1737360"/>
            <a:ext cx="3621024" cy="329184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89703" y="13898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路线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9703" y="15910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模块化平台（NI）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9703" y="1828800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8E8E8"/>
                </a:solidFill>
                <a:latin typeface="微软雅黑"/>
                <a:ea typeface="微软雅黑"/>
                <a:cs typeface="微软雅黑"/>
              </a:rPr>
              <a:t>STS T1 / T2 / T4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71416" y="2194560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471416" y="2194560"/>
            <a:ext cx="54864" cy="585216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99431" y="2240279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硬件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2231136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PXI 机箱 + 模块仪器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9431" y="2505456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18 槽机箱，1/2/4 台可选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1416" y="2852928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4471416" y="2852928"/>
            <a:ext cx="54864" cy="585216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99431" y="289864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软件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11496" y="2889504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执行器 + 驱动 + 配置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9431" y="3163824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TestStand + TSM：site 与 pin map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71416" y="3511296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4471416" y="3511296"/>
            <a:ext cx="54864" cy="585216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99431" y="3557015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水平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3547872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32 通道 / 100 MVector/s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9431" y="3822191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边沿 39.0625 ps，256 通道同步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71416" y="4169664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4471416" y="4169664"/>
            <a:ext cx="54864" cy="585216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599431" y="421538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扩展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11496" y="4206240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加模块、加机箱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99431" y="4480560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同一套软件覆盖 T1 到 T4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71416" y="4846320"/>
            <a:ext cx="3328416" cy="301752"/>
          </a:xfrm>
          <a:prstGeom prst="roundRect">
            <a:avLst>
              <a:gd name="adj" fmla="val 14000"/>
            </a:avLst>
          </a:prstGeom>
          <a:solidFill>
            <a:srgbClr val="F6F7F5"/>
          </a:solidFill>
          <a:ln w="11430">
            <a:solidFill>
              <a:srgbClr val="CE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581144" y="4901184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强项：开放、可裁剪、可复用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71416" y="5175504"/>
            <a:ext cx="3328416" cy="301752"/>
          </a:xfrm>
          <a:prstGeom prst="roundRect">
            <a:avLst>
              <a:gd name="adj" fmla="val 14000"/>
            </a:avLst>
          </a:prstGeom>
          <a:solidFill>
            <a:srgbClr val="FAF8F6"/>
          </a:solidFill>
          <a:ln w="11430">
            <a:solidFill>
              <a:srgbClr val="E4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581144" y="5230368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85C58"/>
                </a:solidFill>
                <a:latin typeface="微软雅黑"/>
                <a:ea typeface="微软雅黑"/>
                <a:cs typeface="微软雅黑"/>
              </a:rPr>
              <a:t>弱项：单通道性能不及专用机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47304" y="1316736"/>
            <a:ext cx="3621024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8147304" y="1316736"/>
            <a:ext cx="3621024" cy="749808"/>
          </a:xfrm>
          <a:prstGeom prst="roundRect">
            <a:avLst>
              <a:gd name="adj" fmla="val 600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8147304" y="1737360"/>
            <a:ext cx="3621024" cy="329184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311896" y="1389888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路线 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11896" y="15910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设备内建量测（ASML）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11896" y="1828800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E8E8E8"/>
                </a:solidFill>
                <a:latin typeface="微软雅黑"/>
                <a:ea typeface="微软雅黑"/>
                <a:cs typeface="微软雅黑"/>
              </a:rPr>
              <a:t>TWINSCAN · YieldStar · HMI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93608" y="2194560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8293608" y="2194560"/>
            <a:ext cx="54864" cy="585216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8421624" y="2240279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硬件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33688" y="2231136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设备本体 + 内建传感器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21624" y="2505456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对准、调平、量测机台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93608" y="2852928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8293608" y="2852928"/>
            <a:ext cx="54864" cy="585216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421624" y="289864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软件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33688" y="2889504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控制软件 + 计算模型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21624" y="3163824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先建模预测，再用测量校正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93608" y="3511296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8293608" y="3511296"/>
            <a:ext cx="54864" cy="585216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421624" y="3557015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水平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33688" y="3547872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overlay / focus 纳米级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21624" y="3822191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9 束电子束做单 die 检测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93608" y="4169664"/>
            <a:ext cx="3328416" cy="585216"/>
          </a:xfrm>
          <a:prstGeom prst="roundRect">
            <a:avLst>
              <a:gd name="adj" fmla="val 10000"/>
            </a:avLst>
          </a:prstGeom>
          <a:solidFill>
            <a:srgbClr val="F8F8F6"/>
          </a:solidFill>
          <a:ln w="12700">
            <a:solidFill>
              <a:srgbClr val="E2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8293608" y="4169664"/>
            <a:ext cx="54864" cy="585216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421624" y="421538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扩展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33688" y="4206240"/>
            <a:ext cx="259689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加传感器、改模型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21624" y="4480560"/>
            <a:ext cx="3163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投入大，且需整机标定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293608" y="4846320"/>
            <a:ext cx="3328416" cy="301752"/>
          </a:xfrm>
          <a:prstGeom prst="roundRect">
            <a:avLst>
              <a:gd name="adj" fmla="val 14000"/>
            </a:avLst>
          </a:prstGeom>
          <a:solidFill>
            <a:srgbClr val="F6F7F5"/>
          </a:solidFill>
          <a:ln w="11430">
            <a:solidFill>
              <a:srgbClr val="CE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8403336" y="4901184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强项：精度可追溯、参数收敛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93608" y="5175504"/>
            <a:ext cx="3328416" cy="301752"/>
          </a:xfrm>
          <a:prstGeom prst="roundRect">
            <a:avLst>
              <a:gd name="adj" fmla="val 14000"/>
            </a:avLst>
          </a:prstGeom>
          <a:solidFill>
            <a:srgbClr val="FAF8F6"/>
          </a:solidFill>
          <a:ln w="11430">
            <a:solidFill>
              <a:srgbClr val="E4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8403336" y="5230368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85C58"/>
                </a:solidFill>
                <a:latin typeface="微软雅黑"/>
                <a:ea typeface="微软雅黑"/>
                <a:cs typeface="微软雅黑"/>
              </a:rPr>
              <a:t>弱项：投入大、只适用可测物理量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2920" y="5632704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7F4F0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685800" y="5705856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我们的位置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59618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既不在 A（重资产专用机），也不是 C（自研量测硬件）；走 B 的轻量形态 —— 用既有测试台仪器，配自研执行器与适配层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6492240"/>
            <a:ext cx="10789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来源：NI 官方产品与文档、ASML 产品页、Advantest 产品页　｜　引用清单见 docs/友商调研/README.md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两条路线的软件骨架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5953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NI 用分层解耦吸收硬件差异，ASML 用测量闭环收敛参数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① NI：执行器与仪器解耦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532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L4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170992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报告与数据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1993392"/>
            <a:ext cx="4526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结果标准化、MES 对接、追溯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32688" y="2359152"/>
            <a:ext cx="182880" cy="73152"/>
          </a:xfrm>
          <a:prstGeom prst="downArrow">
            <a:avLst/>
          </a:prstGeom>
          <a:solidFill>
            <a:srgbClr val="B6B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02920" y="2450592"/>
            <a:ext cx="5532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53288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执行器 TestStand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2816352"/>
            <a:ext cx="4526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序列、步骤类型、流程模型、并行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32688" y="3182112"/>
            <a:ext cx="182880" cy="73152"/>
          </a:xfrm>
          <a:prstGeom prst="downArrow">
            <a:avLst/>
          </a:prstGeom>
          <a:solidFill>
            <a:srgbClr val="B6B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02920" y="3273552"/>
            <a:ext cx="5532120" cy="71323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2032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3364992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0F4C81"/>
                </a:solidFill>
                <a:latin typeface="微软雅黑"/>
                <a:ea typeface="微软雅黑"/>
                <a:cs typeface="微软雅黑"/>
              </a:rPr>
              <a:t>L3.5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335584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半导体扩展 TSM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639312"/>
            <a:ext cx="4526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site 划分、pin map、半导体专用步骤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32688" y="4005072"/>
            <a:ext cx="182880" cy="73152"/>
          </a:xfrm>
          <a:prstGeom prst="downArrow">
            <a:avLst/>
          </a:prstGeom>
          <a:solidFill>
            <a:srgbClr val="B6B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02920" y="4096512"/>
            <a:ext cx="5532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4187952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L2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417880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驱动层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4462272"/>
            <a:ext cx="4526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模块 API（IVI 风格），测量抽象成函数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32688" y="4828032"/>
            <a:ext cx="182880" cy="73152"/>
          </a:xfrm>
          <a:prstGeom prst="downArrow">
            <a:avLst/>
          </a:prstGeom>
          <a:solidFill>
            <a:srgbClr val="B6B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02920" y="4919472"/>
            <a:ext cx="55321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5010912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" y="500176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PXI 机箱与模块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6" y="5285232"/>
            <a:ext cx="4526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背板同步、DUT 接口板、模块仪器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97296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4525E"/>
                </a:solidFill>
                <a:latin typeface="微软雅黑"/>
                <a:ea typeface="微软雅黑"/>
                <a:cs typeface="微软雅黑"/>
              </a:rPr>
              <a:t>关键：TestStand 本身不懂 site，是 TSM 把 site / pin 概念注入进去的 —— 通用执行器保持通用，行业语义靠插件挂载。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1298448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② ASML：测量结果反哺参数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1682496"/>
            <a:ext cx="23774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84264" y="17739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2103120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计算光刻给出掩模与工艺窗口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1682496"/>
            <a:ext cx="23774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98864" y="17739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2103120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扫描机曝光，内建对准与调平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3529584"/>
            <a:ext cx="23774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98864" y="362102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8864" y="3950208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YieldStar 测 overlay，HMI 测缺陷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3529584"/>
            <a:ext cx="23774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684264" y="362102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84264" y="3950208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偏差归因，生成补偿参数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015984" y="2066543"/>
            <a:ext cx="384048" cy="164592"/>
          </a:xfrm>
          <a:prstGeom prst="rightArrow">
            <a:avLst/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Down Arrow 44"/>
          <p:cNvSpPr/>
          <p:nvPr/>
        </p:nvSpPr>
        <p:spPr>
          <a:xfrm>
            <a:off x="10113264" y="2743200"/>
            <a:ext cx="164592" cy="658368"/>
          </a:xfrm>
          <a:prstGeom prst="downArrow">
            <a:avLst/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Left Arrow 45"/>
          <p:cNvSpPr/>
          <p:nvPr/>
        </p:nvSpPr>
        <p:spPr>
          <a:xfrm>
            <a:off x="6784848" y="3840480"/>
            <a:ext cx="384048" cy="164592"/>
          </a:xfrm>
          <a:prstGeom prst="leftArrow">
            <a:avLst/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Up Arrow 46"/>
          <p:cNvSpPr/>
          <p:nvPr/>
        </p:nvSpPr>
        <p:spPr>
          <a:xfrm>
            <a:off x="6675120" y="2743200"/>
            <a:ext cx="164592" cy="658368"/>
          </a:xfrm>
          <a:prstGeom prst="upArrow">
            <a:avLst/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82127" y="2688336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F6B57"/>
                </a:solidFill>
                <a:latin typeface="微软雅黑"/>
                <a:ea typeface="微软雅黑"/>
                <a:cs typeface="微软雅黑"/>
              </a:rPr>
              <a:t>闭环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681728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与 NI 的互补关系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4956048"/>
            <a:ext cx="5212080" cy="1005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601968" y="5047488"/>
            <a:ext cx="49011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640"/>
                </a:solidFill>
                <a:latin typeface="微软雅黑"/>
                <a:ea typeface="微软雅黑"/>
                <a:cs typeface="微软雅黑"/>
              </a:rPr>
              <a:t>NI 解决「接得进来、换得动」——降低接入成本；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640"/>
                </a:solidFill>
                <a:latin typeface="微软雅黑"/>
                <a:ea typeface="微软雅黑"/>
                <a:cs typeface="微软雅黑"/>
              </a:rPr>
              <a:t>ASML 解决「跑得稳、越跑越准」——降低参数漂移。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4640"/>
                </a:solidFill>
                <a:latin typeface="微软雅黑"/>
                <a:ea typeface="微软雅黑"/>
                <a:cs typeface="微软雅黑"/>
              </a:rPr>
              <a:t>一个改软件边界，一个改数据模型。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92240"/>
            <a:ext cx="10789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来源：NI TestStand / TSM 手册与产品页；ASML 产品页与 Measuring accuracy 页　｜　详见 docs/友商调研/02、03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0241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可落地的四项改造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5953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两项来自 NI，两项来自 ASML；均不动测试台硬件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43584"/>
            <a:ext cx="2331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改造项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24358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243584"/>
            <a:ext cx="3063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我们现在的状况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43584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改造后的目标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11183112" cy="18288"/>
          </a:xfrm>
          <a:prstGeom prst="roundRect">
            <a:avLst>
              <a:gd name="adj" fmla="val 0"/>
            </a:avLst>
          </a:prstGeom>
          <a:solidFill>
            <a:srgbClr val="D8D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1118311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02920" y="1627632"/>
            <a:ext cx="54864" cy="932688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58368" y="19019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195681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901952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引入 site 抽象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93852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NI / TSM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01952"/>
            <a:ext cx="3063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无。一台 Runner 管多个台位时靠人工约定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901952"/>
            <a:ext cx="3840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台位逻辑隔离，资源不冲突，可并行编排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70048"/>
            <a:ext cx="1118311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02920" y="2670048"/>
            <a:ext cx="54864" cy="932688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58368" y="2944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299923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944368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逻辑资源名 → 物理地址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980944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NI / pin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944368"/>
            <a:ext cx="3063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地址写死在驱动配置里，换仪器要改代码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944368"/>
            <a:ext cx="3840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只改映射表，TPS 与驱动都不动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712463"/>
            <a:ext cx="1118311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02920" y="3712463"/>
            <a:ext cx="54864" cy="932688"/>
          </a:xfrm>
          <a:prstGeom prst="roundRect">
            <a:avLst>
              <a:gd name="adj" fmla="val 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58368" y="398678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04164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986783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固化生命周期六段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023359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NI / 流程模型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986783"/>
            <a:ext cx="3063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用例作者可绕过预检与释放，直接跑断言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986783"/>
            <a:ext cx="3840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预检→建连→执行→判定→释放→归档，不可跳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754880"/>
            <a:ext cx="1118311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4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502920" y="4754880"/>
            <a:ext cx="54864" cy="932688"/>
          </a:xfrm>
          <a:prstGeom prst="roundRect">
            <a:avLst>
              <a:gd name="adj" fmla="val 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58368" y="50292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508406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029200"/>
            <a:ext cx="2331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8181A"/>
                </a:solidFill>
                <a:latin typeface="微软雅黑"/>
                <a:ea typeface="微软雅黑"/>
                <a:cs typeface="微软雅黑"/>
              </a:rPr>
              <a:t>偏差归因字段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5065776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ASML / 闭环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5029200"/>
            <a:ext cx="3063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结果偏 pass/fail，失败原因留在日志里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029200"/>
            <a:ext cx="38404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C4034"/>
                </a:solidFill>
                <a:latin typeface="微软雅黑"/>
                <a:ea typeface="微软雅黑"/>
                <a:cs typeface="微软雅黑"/>
              </a:rPr>
              <a:t>设备/夹具/环境/程序四类归因，随结果回传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870448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F7F4F0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85800" y="5980176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A4640"/>
                </a:solidFill>
                <a:latin typeface="微软雅黑"/>
                <a:ea typeface="微软雅黑"/>
                <a:cs typeface="微软雅黑"/>
              </a:rPr>
              <a:t>四项都不改硬件，只改软件边界与数据模型；最急的是第 1 项 —— site 抽象是「一拖多」能否成立的分水岭。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92240"/>
            <a:ext cx="10789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6948E"/>
                </a:solidFill>
                <a:latin typeface="微软雅黑"/>
                <a:ea typeface="微软雅黑"/>
                <a:cs typeface="微软雅黑"/>
              </a:rPr>
              <a:t>判断依据：NI 的 site / pin map 抽象与 ASML 的偏差归因闭环；对应改造点在 docs/友商调研/04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