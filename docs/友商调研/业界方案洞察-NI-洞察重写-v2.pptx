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46304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9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业界方案洞察：NI 在 ATE 领域的优秀实践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19456"/>
            <a:ext cx="34381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软件拓扑 · 设备虚拟化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493776"/>
            <a:ext cx="11155680" cy="12801"/>
          </a:xfrm>
          <a:prstGeom prst="rect">
            <a:avLst/>
          </a:prstGeom>
          <a:solidFill>
            <a:srgbClr val="AD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566928"/>
            <a:ext cx="11155680" cy="877824"/>
          </a:xfrm>
          <a:prstGeom prst="rect">
            <a:avLst/>
          </a:prstGeom>
          <a:solidFill>
            <a:srgbClr val="ED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12064" y="566928"/>
            <a:ext cx="43891" cy="87782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0080"/>
            <a:ext cx="27432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洞察结论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822960"/>
            <a:ext cx="1084478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NI 在 ATE 行业的实践可以概括为一句：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把测试能力从专用硬件搬到软件与标准接口之上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。其上以 TestStand 管理测试执行与多工位调度、以 LabVIEW 承载测量程序、以 TSM 将半导体工位与引脚概念引入执行层，其下以 NI-VISA 与 IVI 统一仪器访问、以 PXI 平台承载通道与同步；层间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单向依赖、同层可替换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，使更换仪器与新增机型不必改写测试程序。与之配套的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设备虚拟化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让仪器能被描述、被仿真、被类驱动映射，因而无实机亦可联调、跨形态只需配置。两者共同的作用是把</a:t>
            </a:r>
            <a:r>
              <a:rPr sz="75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机型切换成本与联调周期</a:t>
            </a:r>
            <a:r>
              <a:rPr sz="75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从硬件侧移到软件侧。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1572768"/>
            <a:ext cx="10972" cy="4663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2064" y="1554480"/>
            <a:ext cx="53035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4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的系统拓扑（自下而上：被测件至产线系统）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1751076"/>
            <a:ext cx="530352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" y="1792224"/>
            <a:ext cx="1225296" cy="402336"/>
          </a:xfrm>
          <a:prstGeom prst="rect">
            <a:avLst/>
          </a:prstGeom>
          <a:solidFill>
            <a:srgbClr val="F1F3F6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12064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05" y="1833372"/>
            <a:ext cx="321012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" y="2034540"/>
            <a:ext cx="11704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产线系统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47088" y="1792224"/>
            <a:ext cx="1133856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847088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509" y="1833372"/>
            <a:ext cx="321012" cy="201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74519" y="2034540"/>
            <a:ext cx="10789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90672" y="1792224"/>
            <a:ext cx="1133856" cy="402336"/>
          </a:xfrm>
          <a:prstGeom prst="rect">
            <a:avLst/>
          </a:prstGeom>
          <a:solidFill>
            <a:srgbClr val="F1F3F6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090672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093" y="1833372"/>
            <a:ext cx="321012" cy="2011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18103" y="2034540"/>
            <a:ext cx="107899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1792224"/>
            <a:ext cx="1609344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34256" y="1792224"/>
            <a:ext cx="29260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21" y="1833372"/>
            <a:ext cx="321012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61688" y="2034540"/>
            <a:ext cx="15544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分析平台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2286000"/>
            <a:ext cx="4663440" cy="237744"/>
          </a:xfrm>
          <a:prstGeom prst="rect">
            <a:avLst/>
          </a:prstGeom>
          <a:solidFill>
            <a:srgbClr val="F1F3F6"/>
          </a:solidFill>
          <a:ln w="889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2336292"/>
            <a:ext cx="4663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6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工业以太网交换机（千兆 · 环网 · VLAN）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2615184"/>
            <a:ext cx="466344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05840" y="261518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2462" y="2656332"/>
            <a:ext cx="350195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33272" y="2875788"/>
            <a:ext cx="460857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工业控制计算机（Host）：测试执行 · 工位扩展 · 操作界面 · 驱动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" y="3127248"/>
            <a:ext cx="17373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12064" y="3127248"/>
            <a:ext cx="29260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v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237" y="3168396"/>
            <a:ext cx="321012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9496" y="3369564"/>
            <a:ext cx="168249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测量程序（LabVIEW）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3127248"/>
            <a:ext cx="1572768" cy="402336"/>
          </a:xfrm>
          <a:prstGeom prst="rect">
            <a:avLst/>
          </a:prstGeom>
          <a:solidFill>
            <a:srgbClr val="F1F3F6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395728" y="3127248"/>
            <a:ext cx="29260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ri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1605" y="3168396"/>
            <a:ext cx="321012" cy="2011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423160" y="3369564"/>
            <a:ext cx="151790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仪器驱动（SCPI / IVI）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3127248"/>
            <a:ext cx="18288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114800" y="3127248"/>
            <a:ext cx="29260" cy="40233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ross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8693" y="3168396"/>
            <a:ext cx="321012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142232" y="3369564"/>
            <a:ext cx="1773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开关与路径（资源仲裁）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3621024"/>
            <a:ext cx="173736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12064" y="362102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hassis_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2944" y="3662172"/>
            <a:ext cx="355600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9496" y="3881628"/>
            <a:ext cx="1682495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模块化机箱（PXI）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95728" y="3621024"/>
            <a:ext cx="1572768" cy="420624"/>
          </a:xfrm>
          <a:prstGeom prst="rect">
            <a:avLst/>
          </a:prstGeom>
          <a:solidFill>
            <a:srgbClr val="F1F3F6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395728" y="362102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wit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7014" y="3662172"/>
            <a:ext cx="350195" cy="2194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423160" y="3881628"/>
            <a:ext cx="151790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3621024"/>
            <a:ext cx="1828800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114800" y="3621024"/>
            <a:ext cx="29260" cy="42062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nst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4102" y="3662172"/>
            <a:ext cx="350195" cy="21945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142232" y="3881628"/>
            <a:ext cx="177393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外挂仪器（LXI / GPIB / USB）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" y="4114800"/>
            <a:ext cx="2651760" cy="347472"/>
          </a:xfrm>
          <a:prstGeom prst="rect">
            <a:avLst/>
          </a:prstGeom>
          <a:solidFill>
            <a:srgbClr val="F1F3F6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12064" y="4114800"/>
            <a:ext cx="29260" cy="34747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fixtu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1212" y="4155948"/>
            <a:ext cx="233463" cy="14630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39496" y="4302252"/>
            <a:ext cx="2596896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11296" y="4114800"/>
            <a:ext cx="2432304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511296" y="4114800"/>
            <a:ext cx="29260" cy="34747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du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0716" y="4155948"/>
            <a:ext cx="233463" cy="14630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538727" y="4302252"/>
            <a:ext cx="23774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5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 DUT × 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24712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414016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657600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138928" y="2194560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337560" y="2523744"/>
            <a:ext cx="0" cy="91440"/>
          </a:xfrm>
          <a:prstGeom prst="line">
            <a:avLst/>
          </a:prstGeom>
          <a:ln w="9525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337560" y="3035808"/>
            <a:ext cx="0" cy="91440"/>
          </a:xfrm>
          <a:prstGeom prst="line">
            <a:avLst/>
          </a:prstGeom>
          <a:ln w="9525">
            <a:solidFill>
              <a:srgbClr val="3C3A3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380744" y="3529584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182112" y="3529584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029200" y="3529584"/>
            <a:ext cx="0" cy="9144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837943" y="4041648"/>
            <a:ext cx="0" cy="36576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27448" y="4041648"/>
            <a:ext cx="0" cy="36576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163824" y="4288536"/>
            <a:ext cx="347472" cy="0"/>
          </a:xfrm>
          <a:prstGeom prst="line">
            <a:avLst/>
          </a:prstGeom>
          <a:ln w="8890">
            <a:solidFill>
              <a:srgbClr val="3C3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12064" y="4498848"/>
            <a:ext cx="5303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3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连线为通路示意：控制与数据（TCP/IP、PCIe、背板触发）、信号（电缆与针床接触）；机箱为产品图，其余图形为示意。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" y="4700016"/>
            <a:ext cx="5303520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40" b="1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三大组件：官方功能描述（引自 ni.com）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" y="4896612"/>
            <a:ext cx="5303520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2064" y="4919472"/>
            <a:ext cx="457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2" name="Picture 81" descr="ni_TestStand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7784" y="4937759"/>
            <a:ext cx="365760" cy="3657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42415" y="491032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80160" y="490118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160" y="5065776"/>
            <a:ext cx="453542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Off-the-shelf test management software for validation &amp; production test.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0160" y="5202936"/>
            <a:ext cx="4535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现成的测试管理软件，用于验证测试与生产测试。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2064" y="5376672"/>
            <a:ext cx="457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ni_LabVIEW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784" y="5394959"/>
            <a:ext cx="365760" cy="3657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42415" y="536752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80160" y="535838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0160" y="5522976"/>
            <a:ext cx="453542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A graphical programming environment engineers use to develop automated production, validation &amp; research test systems.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0160" y="5660136"/>
            <a:ext cx="4535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工程师用于开发自动化生产、验证与研究类测试系统的图形化编程环境。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2064" y="5833872"/>
            <a:ext cx="45720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6C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4" name="Picture 93" descr="ni_TSM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784" y="5852159"/>
            <a:ext cx="365760" cy="3657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42415" y="5824728"/>
            <a:ext cx="2560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80160" y="5815584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0160" y="5980176"/>
            <a:ext cx="453542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" b="0" i="1">
                <a:solidFill>
                  <a:srgbClr val="4A4844"/>
                </a:solidFill>
                <a:latin typeface="微软雅黑"/>
                <a:ea typeface="微软雅黑"/>
                <a:cs typeface="微软雅黑"/>
              </a:rPr>
              <a:t>Extends the TestStand environment to help you develop, debug, deploy, and maintain semiconductor test systems.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80160" y="6117336"/>
            <a:ext cx="45354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在 TestStand 环境之上扩展，用于开发、调试、部署与维护半导体测试系统。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45936" y="1591056"/>
            <a:ext cx="53218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的软件拓扑思想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45936" y="1787652"/>
            <a:ext cx="5321808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45936" y="1938528"/>
            <a:ext cx="5321808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NI 把测试软件分成五层：最上面是产线与数据，接着是管测试流程的，再往下是写测试程序的、连仪器的，最下面是机箱与仪器本身。规则只有一条——</a:t>
            </a:r>
            <a:r>
              <a:rPr sz="120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上层调用紧邻的下层，下层不反过来依赖上层</a:t>
            </a:r>
            <a:r>
              <a:rPr sz="120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。这样换一台仪器，只要最下面的接口没变，上面的测试程序一行都不用改；增加一个机型，也只需换配置。测量结果以统一格式交给产线系统，测试程序不负责出报表。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45936" y="3749039"/>
            <a:ext cx="5321808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NI 的设备虚拟化思想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45936" y="3945635"/>
            <a:ext cx="5321808" cy="9144"/>
          </a:xfrm>
          <a:prstGeom prst="rect">
            <a:avLst/>
          </a:prstGeom>
          <a:solidFill>
            <a:srgbClr val="C6C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45936" y="4096512"/>
            <a:ext cx="532180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NI 把仪器当作</a:t>
            </a:r>
            <a:r>
              <a:rPr sz="120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一组能力</a:t>
            </a:r>
            <a:r>
              <a:rPr sz="120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来看：几个通道、多大范围、多快的采样、怎么触发，而不是一个具体型号。程序按能力写，具体是哪台仪器，由驱动去对应。于是没有实机也能先用仿真设备把流程跑通，联调不必等设备到货；要换仪器，只改驱动与配置；同一套程序在机箱模块和台式仪器上都能用。仪器的差别被收在</a:t>
            </a:r>
            <a:r>
              <a:rPr sz="120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驱动和配置两处</a:t>
            </a:r>
            <a:r>
              <a:rPr sz="1200" b="0" i="0">
                <a:solidFill>
                  <a:srgbClr val="2A2A2A"/>
                </a:solidFill>
                <a:latin typeface="微软雅黑"/>
                <a:ea typeface="微软雅黑"/>
                <a:cs typeface="微软雅黑"/>
              </a:rPr>
              <a:t>，其余部分只看见能力。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064" y="6382512"/>
            <a:ext cx="9966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8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公开产品资料与技术文档（TestStand、LabVIEW、TSM、NI-VISA、IVI、PXI）；英文引文与产品图标引自 ni.com，中文为直译；架构归纳与洞察结论为本文观点。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228832" y="6419088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7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