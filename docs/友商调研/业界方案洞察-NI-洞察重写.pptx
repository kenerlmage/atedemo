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146304"/>
            <a:ext cx="7589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9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业界方案洞察：NI 在 ATE 领域的优秀实践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219456"/>
            <a:ext cx="35295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软件拓扑 · 设备虚拟化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93776"/>
            <a:ext cx="11155680" cy="12801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585216"/>
            <a:ext cx="11155680" cy="96926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12064" y="585216"/>
            <a:ext cx="43891" cy="9692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40080"/>
            <a:ext cx="108447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洞察结论：NI 的 ATE 能力不由单台仪器决定，而由</a:t>
            </a:r>
            <a:r>
              <a:rPr sz="7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软件拓扑</a:t>
            </a:r>
            <a:r>
              <a:rPr sz="72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7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设备虚拟化</a:t>
            </a:r>
            <a:r>
              <a:rPr sz="72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两项设计决定。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868680"/>
            <a:ext cx="108264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68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软件拓扑</a:t>
            </a:r>
            <a:r>
              <a:rPr sz="68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：应用、执行、测量、访问、硬件五层单向依赖，同层可替换——因此更换仪器不必改写测试程序。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092707"/>
            <a:ext cx="108264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② </a:t>
            </a:r>
            <a:r>
              <a:rPr sz="68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设备虚拟化</a:t>
            </a:r>
            <a:r>
              <a:rPr sz="68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：仪器以通道、量程、采样率与触发方式被描述，可被仿真、可被类驱动映射——因此无实机亦可联调、跨机型只换配置。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316736"/>
            <a:ext cx="108264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③ 两者共同的作用：把</a:t>
            </a:r>
            <a:r>
              <a:rPr sz="68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机型切换成本</a:t>
            </a:r>
            <a:r>
              <a:rPr sz="68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68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联调周期</a:t>
            </a:r>
            <a:r>
              <a:rPr sz="68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从硬件侧移到软件侧，这是 NI 在多品种小批量产线上的实践基础。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9904" y="1645920"/>
            <a:ext cx="10972" cy="4626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12064" y="1627632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NI 的系统拓扑（自下而上）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1837944"/>
            <a:ext cx="530352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915668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业务与数据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1847088"/>
            <a:ext cx="3017520" cy="329184"/>
          </a:xfrm>
          <a:prstGeom prst="rect">
            <a:avLst/>
          </a:prstGeom>
          <a:solidFill>
            <a:srgbClr val="F1F3F6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481328" y="1933956"/>
            <a:ext cx="28529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MES · 数据库 · STDF 报表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98648" y="2185416"/>
            <a:ext cx="0" cy="105156"/>
          </a:xfrm>
          <a:prstGeom prst="line">
            <a:avLst/>
          </a:prstGeom>
          <a:ln w="10160">
            <a:solidFill>
              <a:srgbClr val="3C3A3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2064" y="2372868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测试执行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89888" y="2304288"/>
            <a:ext cx="3017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81328" y="2391156"/>
            <a:ext cx="28529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TestStand ＋ TSM（工位与引脚映射）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98648" y="2642616"/>
            <a:ext cx="0" cy="105156"/>
          </a:xfrm>
          <a:prstGeom prst="line">
            <a:avLst/>
          </a:prstGeom>
          <a:ln w="10160">
            <a:solidFill>
              <a:srgbClr val="3C3A3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2064" y="2830068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测量开发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89888" y="2761488"/>
            <a:ext cx="3017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481328" y="2848356"/>
            <a:ext cx="28529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LabVIEW 测试程序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98648" y="3099816"/>
            <a:ext cx="0" cy="105156"/>
          </a:xfrm>
          <a:prstGeom prst="line">
            <a:avLst/>
          </a:prstGeom>
          <a:ln w="10160">
            <a:solidFill>
              <a:srgbClr val="3C3A3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2064" y="3287268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仪器访问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89888" y="3218688"/>
            <a:ext cx="3017520" cy="329184"/>
          </a:xfrm>
          <a:prstGeom prst="rect">
            <a:avLst/>
          </a:prstGeom>
          <a:solidFill>
            <a:srgbClr val="F1F3F6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481328" y="3305556"/>
            <a:ext cx="28529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NI-VISA 会话层 ＋ IVI 类驱动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898648" y="3557016"/>
            <a:ext cx="0" cy="105156"/>
          </a:xfrm>
          <a:prstGeom prst="line">
            <a:avLst/>
          </a:prstGeom>
          <a:ln w="10160">
            <a:solidFill>
              <a:srgbClr val="3C3A3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12064" y="3744468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硬件承载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89888" y="3675887"/>
            <a:ext cx="3017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481328" y="3762755"/>
            <a:ext cx="28529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PXI 机箱与模块：DAQ / DMM / SMU / 开关 / 示波器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898648" y="4014215"/>
            <a:ext cx="0" cy="105157"/>
          </a:xfrm>
          <a:prstGeom prst="line">
            <a:avLst/>
          </a:prstGeom>
          <a:ln w="10160">
            <a:solidFill>
              <a:srgbClr val="3C3A3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2064" y="4201668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被测对象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89888" y="4133087"/>
            <a:ext cx="3017520" cy="329184"/>
          </a:xfrm>
          <a:prstGeom prst="rect">
            <a:avLst/>
          </a:prstGeom>
          <a:solidFill>
            <a:srgbClr val="F7F4EE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481328" y="4219955"/>
            <a:ext cx="28529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探针台 / 分选机 / DUT / 针床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2272" y="1938528"/>
            <a:ext cx="822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2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↑ 单向依赖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4663440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产品定义：每个组件解决什么问题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" y="4873752"/>
            <a:ext cx="530352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2064" y="4901184"/>
            <a:ext cx="1060704" cy="214884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85216" y="4942332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64208" y="4942332"/>
            <a:ext cx="41330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测试执行：序列、并行、多工位、结果与报告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" y="5152644"/>
            <a:ext cx="1060704" cy="214884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85216" y="5193792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64208" y="5193792"/>
            <a:ext cx="41330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半导体语义：工位、引脚、通道映射，对接探针台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" y="5404104"/>
            <a:ext cx="1060704" cy="214884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85216" y="5445252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64208" y="5445252"/>
            <a:ext cx="41330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测量程序开发：图形化调用驱动，形成测试逻辑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" y="5655564"/>
            <a:ext cx="1060704" cy="214884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85216" y="5696712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VISA / IVI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64208" y="5696712"/>
            <a:ext cx="41330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访问抽象：统一会话，类驱动使仪器可互换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" y="5907024"/>
            <a:ext cx="1060704" cy="214884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85216" y="5948172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PXI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64208" y="5948172"/>
            <a:ext cx="41330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物理承载：机箱与模块提供通道、同步与触发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1627632"/>
            <a:ext cx="5358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NI 的软件拓扑思想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1837944"/>
            <a:ext cx="5358384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1883664"/>
            <a:ext cx="535838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70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分层且单向依赖</a:t>
            </a:r>
            <a:r>
              <a:rPr sz="7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：界面只调用执行引擎，执行引擎只调用测量程序，测量程序只经访问层触达硬件；任一层替换，其上各层语义与程序不变。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70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接口标准化</a:t>
            </a:r>
            <a:r>
              <a:rPr sz="7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：会话统一走 VISA，仪器类别统一走 IVI，同一程序可运行于不同厂商、不同形态的仪器；标准接口把选型与开发解耦。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70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语义上移</a:t>
            </a:r>
            <a:r>
              <a:rPr sz="7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：TSM 把工位、引脚、通道等半导体概念置于执行层之上，程序只表达测什么、判什么，不表达接在哪一路。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70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结果外置</a:t>
            </a:r>
            <a:r>
              <a:rPr sz="7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：结果与量测数据以统一格式（如 STDF）流向 MES 与分析侧，测试程序不承担数据格式职责。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3108960"/>
            <a:ext cx="5358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NI 的设备虚拟化思想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3319272"/>
            <a:ext cx="5358384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3364992"/>
            <a:ext cx="535838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70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以能力描述硬件</a:t>
            </a:r>
            <a:r>
              <a:rPr sz="7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：仪器抽象为通道数、量程、采样率与触发方式的集合，程序按能力编写，不按型号编写。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70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以仿真先行</a:t>
            </a:r>
            <a:r>
              <a:rPr sz="7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：以仿真设备替代实机，先跑通流程、判定与数据通道；实机到位只替换会话，程序不动。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70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以类驱动映射</a:t>
            </a:r>
            <a:r>
              <a:rPr sz="7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：同一逻辑仪器映射到不同厂商实现，配置变化不触发代码变更，减少重新验证的工作量。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70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以配置跨形态</a:t>
            </a:r>
            <a:r>
              <a:rPr sz="7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：同一程序可运行于 PXI 模块与台式仪器，机型切换由配置完成，而非重写程序。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4626864"/>
            <a:ext cx="5358384" cy="1389888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6309360" y="4626864"/>
            <a:ext cx="38404" cy="1389888"/>
          </a:xfrm>
          <a:prstGeom prst="rect">
            <a:avLst/>
          </a:prstGeom>
          <a:solidFill>
            <a:srgbClr val="0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73952" y="4709160"/>
            <a:ext cx="50657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0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对我们的取用：顺序不可颠倒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3952" y="4937760"/>
            <a:ext cx="2011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11696" y="4937760"/>
            <a:ext cx="10058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先立访问层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4937760"/>
            <a:ext cx="3749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统一会话与驱动映射，仪器可换、程序不改。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3952" y="5276088"/>
            <a:ext cx="2011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11696" y="5276088"/>
            <a:ext cx="10058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再立仿真层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0" y="5276088"/>
            <a:ext cx="3749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无实机即可联调，联调期与硬件到货解耦。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3952" y="5614416"/>
            <a:ext cx="2011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11696" y="5614416"/>
            <a:ext cx="10058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后谈平台化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72400" y="5614416"/>
            <a:ext cx="3749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缺此两层，分层只停在文档上，切换成本仍落回硬件与人力。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2064" y="6419088"/>
            <a:ext cx="9966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公开产品资料与技术文档（TestStand、LabVIEW、TSM、NI-VISA、IVI、PXI）；架构归纳、洞察结论与取用判断为本文观点。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28832" y="6446520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7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