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182880"/>
            <a:ext cx="6949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0" y="283464"/>
            <a:ext cx="39867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19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NI：公司 · 产品与特性 · 核心思想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530352"/>
            <a:ext cx="11155680" cy="60350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530352"/>
            <a:ext cx="45720" cy="60350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521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548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8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公司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603504"/>
            <a:ext cx="1027785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69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美国国家仪器（NI）1976 年成立于奥斯汀，2023 年并入 Emerson 作为其测试与测量业务；以</a:t>
            </a:r>
            <a:r>
              <a:rPr sz="69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测量与控制软件平台</a:t>
            </a:r>
            <a:r>
              <a:rPr sz="69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为核心，配合</a:t>
            </a:r>
            <a:r>
              <a:rPr sz="69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模块化硬件</a:t>
            </a:r>
            <a:r>
              <a:rPr sz="69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，服务</a:t>
            </a:r>
            <a:r>
              <a:rPr sz="69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半导体</a:t>
            </a:r>
            <a:r>
              <a:rPr sz="69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、汽车、航空航天与国防、能源及院校科研。1986 年发布 LabVIEW，确立</a:t>
            </a:r>
            <a:r>
              <a:rPr sz="69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虚拟仪器</a:t>
            </a:r>
            <a:r>
              <a:rPr sz="690" b="0" i="0">
                <a:solidFill>
                  <a:srgbClr val="2B2B2B"/>
                </a:solidFill>
                <a:latin typeface="微软雅黑"/>
                <a:ea typeface="微软雅黑"/>
                <a:cs typeface="微软雅黑"/>
              </a:rPr>
              <a:t>路线：功能由软件定义，硬件只提供通用的采集与激励能力。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0700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261872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产品与产品特性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1463040"/>
            <a:ext cx="173736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517904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668780"/>
            <a:ext cx="29260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测试执行与管理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182880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序列化组织测试步骤，支持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并行与多工位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；结果入库与报表；可调用 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LabVIEW / C / Python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模块。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2322576"/>
            <a:ext cx="29260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17904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1668780"/>
            <a:ext cx="29260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图形化开发环境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1828800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数据流图形编程；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仪器连接与驱动调用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；内建界面控件；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测试库与工具包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缩短开发调试周期。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7872" y="2322576"/>
            <a:ext cx="29260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395727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2546603"/>
            <a:ext cx="29260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半导体测试扩展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2706623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TestStand 之上增加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工位与引脚映射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、多工位并行；对接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探针台 / 分选机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，结果以 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 输出。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3200399"/>
            <a:ext cx="29260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395727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2546603"/>
            <a:ext cx="29260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模块化硬件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2706623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 + 控制器 + 模块组合；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背板触发与时钟同步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换模块即换仪器构成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，无需专用整机。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7872" y="3200399"/>
            <a:ext cx="29260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273551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3424427"/>
            <a:ext cx="29260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仪器抽象层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3584447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统一会话访问 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GPIB / LXI / USB / PXI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类驱动实现同类仪器互换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，上层调用不随硬件变更。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" y="4078224"/>
            <a:ext cx="29260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3273551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3424427"/>
            <a:ext cx="292608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仪器软面板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3584447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台式仪器面板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操作模块化仪器；面板</a:t>
            </a:r>
            <a:r>
              <a:rPr sz="61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可保存可复用</a:t>
            </a: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，便于调试与人工验证。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47872" y="4078224"/>
            <a:ext cx="2926080" cy="7315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93008" y="1517904"/>
            <a:ext cx="5486" cy="2487168"/>
          </a:xfrm>
          <a:prstGeom prst="rect">
            <a:avLst/>
          </a:prstGeom>
          <a:solidFill>
            <a:srgbClr val="DD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03136" y="1225296"/>
            <a:ext cx="2962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产品拓扑：半导体产线中的联动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0656" y="1229868"/>
            <a:ext cx="184708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52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图为 NI 公开产品图，箭头为控制与数据流向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03136" y="1426464"/>
            <a:ext cx="4864608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03136" y="1499616"/>
            <a:ext cx="2395728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803136" y="1499616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n2_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548383"/>
            <a:ext cx="512064" cy="3413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443216" y="1549907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3216" y="1714500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执行与工位调度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1499616"/>
            <a:ext cx="2322576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9326880" y="1499616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n2_ts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1548383"/>
            <a:ext cx="512064" cy="3413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966960" y="1549907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1714500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引脚映射 · 多工位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98864" y="1719072"/>
            <a:ext cx="128016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803136" y="2034540"/>
            <a:ext cx="2395728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803136" y="2034540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n2_lv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083308"/>
            <a:ext cx="512064" cy="34137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43216" y="2084832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43216" y="2249424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测量程序 · 面板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2034540"/>
            <a:ext cx="2322576" cy="438912"/>
          </a:xfrm>
          <a:prstGeom prst="rect">
            <a:avLst/>
          </a:prstGeom>
          <a:solidFill>
            <a:srgbClr val="F1F3F6"/>
          </a:solidFill>
          <a:ln w="9525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326880" y="2034540"/>
            <a:ext cx="36576" cy="43891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36608" y="2084832"/>
            <a:ext cx="21396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/ STDF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36608" y="2249424"/>
            <a:ext cx="21396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结果入库与产线回流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001000" y="1938528"/>
            <a:ext cx="0" cy="9601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001000" y="1938528"/>
            <a:ext cx="0" cy="4572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001000" y="1984248"/>
            <a:ext cx="2487168" cy="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488168" y="1984248"/>
            <a:ext cx="0" cy="5029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803136" y="2569464"/>
            <a:ext cx="4864608" cy="402336"/>
          </a:xfrm>
          <a:prstGeom prst="rect">
            <a:avLst/>
          </a:prstGeom>
          <a:solidFill>
            <a:srgbClr val="F1F3F6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803136" y="2569464"/>
            <a:ext cx="36576" cy="402336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12864" y="2569464"/>
            <a:ext cx="46817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NI-VISA / IVI：统一会话与类驱动，屏蔽 GPIB / LXI / USB / PXI 差异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001000" y="2473452"/>
            <a:ext cx="0" cy="9601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6803136" y="3104388"/>
            <a:ext cx="2395728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803136" y="3104388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n2_px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3153156"/>
            <a:ext cx="512064" cy="34137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443216" y="3154680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PXI 机箱与模块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43216" y="3319272"/>
            <a:ext cx="1682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背板触发 · 时钟同步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26880" y="3104388"/>
            <a:ext cx="2322576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326880" y="3104388"/>
            <a:ext cx="36576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n2_studi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3153156"/>
            <a:ext cx="512064" cy="34137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966960" y="3154680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InstrumentStudio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3319272"/>
            <a:ext cx="16093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软面板调试与验证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001000" y="2971800"/>
            <a:ext cx="0" cy="132588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001000" y="2971800"/>
            <a:ext cx="0" cy="82296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001000" y="3054096"/>
            <a:ext cx="2487168" cy="0"/>
          </a:xfrm>
          <a:prstGeom prst="line">
            <a:avLst/>
          </a:prstGeom>
          <a:ln w="12700">
            <a:solidFill>
              <a:srgbClr val="6E6A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488168" y="3054096"/>
            <a:ext cx="0" cy="5029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6803136" y="3639312"/>
            <a:ext cx="3017520" cy="438912"/>
          </a:xfrm>
          <a:prstGeom prst="rect">
            <a:avLst/>
          </a:prstGeom>
          <a:solidFill>
            <a:srgbClr val="F1F3F6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803136" y="3639312"/>
            <a:ext cx="36576" cy="43891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12864" y="3689604"/>
            <a:ext cx="2834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半导体测试台：探针台 / 分选机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12864" y="3854196"/>
            <a:ext cx="2834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50" b="0" i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与 TSM 交换工位与分选信号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930384" y="3639312"/>
            <a:ext cx="1737360" cy="438912"/>
          </a:xfrm>
          <a:prstGeom prst="rect">
            <a:avLst/>
          </a:prstGeom>
          <a:solidFill>
            <a:srgbClr val="F1F3F6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9930384" y="3639312"/>
            <a:ext cx="36576" cy="43891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40111" y="3639312"/>
            <a:ext cx="15544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DUT：晶圆 / 芯片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001000" y="3543300"/>
            <a:ext cx="0" cy="96012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820656" y="3858768"/>
            <a:ext cx="109728" cy="0"/>
          </a:xfrm>
          <a:prstGeom prst="line">
            <a:avLst/>
          </a:prstGeom>
          <a:ln w="12700">
            <a:solidFill>
              <a:srgbClr val="6E6A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12064" y="4224528"/>
            <a:ext cx="310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77824" y="4279392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核心思想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" y="4480560"/>
            <a:ext cx="173736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12064" y="4553712"/>
            <a:ext cx="26974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512064" y="4553712"/>
            <a:ext cx="36576" cy="11155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0936" y="461772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936" y="486460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软件定义仪器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" y="5074920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功能由软件配置决定，硬件只提供通用采集与激励；同一机箱加载不同程序即成为不同仪器。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31159" y="4553712"/>
            <a:ext cx="26974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3331159" y="4553712"/>
            <a:ext cx="36576" cy="11155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450031" y="461772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50031" y="486460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模块化与复用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50031" y="5074920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机箱、模块与背板同步构成复用基础；多种测量需求以组合覆盖，而非逐项定制整机。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50254" y="4553712"/>
            <a:ext cx="26974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6150254" y="4553712"/>
            <a:ext cx="36576" cy="11155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69126" y="461772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9126" y="486460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开放标准与生态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69126" y="5074920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PXI、VISA/IVI、STDF 等公开标准，使第三方模块、探针台与分选机可接入。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69349" y="4553712"/>
            <a:ext cx="26974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8969349" y="4553712"/>
            <a:ext cx="36576" cy="11155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088221" y="461772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C9C4B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88221" y="4864608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4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描述与执行分离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88221" y="5074920"/>
            <a:ext cx="245973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1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TestStand 负责编排，LabVIEW 与代码模块负责执行，驱动负责适配仪器，三者互不越界。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12064" y="5888736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 i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4128" y="5943600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74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半导体场景下分工明确：</a:t>
            </a:r>
            <a:r>
              <a:rPr sz="7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TestStand 编排工位与流程</a:t>
            </a:r>
            <a:r>
              <a:rPr sz="74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7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TSM 承担引脚映射与多工位并行</a:t>
            </a:r>
            <a:r>
              <a:rPr sz="74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7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驱动层对接探针台与分选机</a:t>
            </a:r>
            <a:r>
              <a:rPr sz="74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，结果以 </a:t>
            </a:r>
            <a:r>
              <a:rPr sz="740" b="1" i="0">
                <a:solidFill>
                  <a:srgbClr val="1B5EA8"/>
                </a:solidFill>
                <a:latin typeface="微软雅黑"/>
                <a:ea typeface="微软雅黑"/>
                <a:cs typeface="微软雅黑"/>
              </a:rPr>
              <a:t>STDF 回流 MES</a:t>
            </a:r>
            <a:r>
              <a:rPr sz="740" b="0" i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；对应本方案，即描述与执行分离、仪器访问抽象、仿真与实机共用同一描述。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2064" y="6483096"/>
            <a:ext cx="10424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公开公司与产品资料（TestStand、LabVIEW、TestStand Semiconductor Module、PXI、NI-VISA、InstrumentStudio）；产品特性为公开资料归纳，拓扑与半导体联动路径为本文判断。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 i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