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NI 怎么设计 ATE：五层软件，各管一件事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能力来自「叠层」而不是某个万能工具——从机箱配置到数据归档，每层都有专门的人负责的软件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528816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60350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54864" cy="932688"/>
          </a:xfrm>
          <a:prstGeom prst="roundRect">
            <a:avLst>
              <a:gd name="adj" fmla="val 0"/>
            </a:avLst>
          </a:prstGeom>
          <a:solidFill>
            <a:srgbClr val="5C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C3A7A"/>
                </a:solidFill>
                <a:latin typeface="微软雅黑"/>
                <a:ea typeface="微软雅黑"/>
                <a:cs typeface="微软雅黑"/>
              </a:rPr>
              <a:t>L5 数据与运维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72768"/>
            <a:ext cx="2103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机群与测试数据管理、离线分析与报告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444752"/>
            <a:ext cx="1042415" cy="292608"/>
          </a:xfrm>
          <a:prstGeom prst="roundRect">
            <a:avLst>
              <a:gd name="adj" fmla="val 14000"/>
            </a:avLst>
          </a:prstGeom>
          <a:solidFill>
            <a:srgbClr val="F9F9F7"/>
          </a:solidFill>
          <a:ln w="12700">
            <a:solidFill>
              <a:srgbClr val="5C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834640" y="1499616"/>
            <a:ext cx="1042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5C3A7A"/>
                </a:solidFill>
                <a:latin typeface="微软雅黑"/>
                <a:ea typeface="微软雅黑"/>
                <a:cs typeface="微软雅黑"/>
              </a:rPr>
              <a:t>SystemLink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68496" y="1444752"/>
            <a:ext cx="720547" cy="292608"/>
          </a:xfrm>
          <a:prstGeom prst="roundRect">
            <a:avLst>
              <a:gd name="adj" fmla="val 14000"/>
            </a:avLst>
          </a:prstGeom>
          <a:solidFill>
            <a:srgbClr val="F9F9F7"/>
          </a:solidFill>
          <a:ln w="12700">
            <a:solidFill>
              <a:srgbClr val="5C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968496" y="1499616"/>
            <a:ext cx="7205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5C3A7A"/>
                </a:solidFill>
                <a:latin typeface="微软雅黑"/>
                <a:ea typeface="微软雅黑"/>
                <a:cs typeface="微软雅黑"/>
              </a:rPr>
              <a:t>DIAdem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212848"/>
            <a:ext cx="60350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02920" y="2212848"/>
            <a:ext cx="54864" cy="932688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2304288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L4 执行与调度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578608"/>
            <a:ext cx="2103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序列引擎、流程模型、site/pin map 与 binning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2450591"/>
            <a:ext cx="961948" cy="292608"/>
          </a:xfrm>
          <a:prstGeom prst="roundRect">
            <a:avLst>
              <a:gd name="adj" fmla="val 14000"/>
            </a:avLst>
          </a:prstGeom>
          <a:solidFill>
            <a:srgbClr val="F9F9F7"/>
          </a:solidFill>
          <a:ln w="1270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834640" y="2505456"/>
            <a:ext cx="9619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8028" y="2450591"/>
            <a:ext cx="961948" cy="292608"/>
          </a:xfrm>
          <a:prstGeom prst="roundRect">
            <a:avLst>
              <a:gd name="adj" fmla="val 14000"/>
            </a:avLst>
          </a:prstGeom>
          <a:solidFill>
            <a:srgbClr val="F9F9F7"/>
          </a:solidFill>
          <a:ln w="1270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888028" y="2505456"/>
            <a:ext cx="9619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TSM 半导体模块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18688"/>
            <a:ext cx="60350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02920" y="3218688"/>
            <a:ext cx="54864" cy="932688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" y="3310128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L3 测量与交互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584448"/>
            <a:ext cx="2103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测量代码本体；仪器软面板与交互调试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3456432"/>
            <a:ext cx="801014" cy="292608"/>
          </a:xfrm>
          <a:prstGeom prst="roundRect">
            <a:avLst>
              <a:gd name="adj" fmla="val 14000"/>
            </a:avLst>
          </a:prstGeom>
          <a:solidFill>
            <a:srgbClr val="F9F9F7"/>
          </a:solidFill>
          <a:ln w="12700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834640" y="3511296"/>
            <a:ext cx="80101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27094" y="3456432"/>
            <a:ext cx="1525219" cy="292608"/>
          </a:xfrm>
          <a:prstGeom prst="roundRect">
            <a:avLst>
              <a:gd name="adj" fmla="val 14000"/>
            </a:avLst>
          </a:prstGeom>
          <a:solidFill>
            <a:srgbClr val="F9F9F7"/>
          </a:solidFill>
          <a:ln w="12700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27094" y="3511296"/>
            <a:ext cx="15252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InstrumentStudio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224528"/>
            <a:ext cx="60350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502920" y="4224528"/>
            <a:ext cx="54864" cy="932688"/>
          </a:xfrm>
          <a:prstGeom prst="roundRect">
            <a:avLst>
              <a:gd name="adj" fmla="val 0"/>
            </a:avLst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4315968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L2 路由与驱动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590288"/>
            <a:ext cx="2103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开关矩阵路径；会话层与仪器/传感器驱动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34640" y="4462272"/>
            <a:ext cx="1525219" cy="292608"/>
          </a:xfrm>
          <a:prstGeom prst="roundRect">
            <a:avLst>
              <a:gd name="adj" fmla="val 14000"/>
            </a:avLst>
          </a:prstGeom>
          <a:solidFill>
            <a:srgbClr val="F9F9F7"/>
          </a:solidFill>
          <a:ln w="12700">
            <a:solidFill>
              <a:srgbClr val="2F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834640" y="4517136"/>
            <a:ext cx="15252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Switch Executive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51299" y="4462272"/>
            <a:ext cx="1444751" cy="292608"/>
          </a:xfrm>
          <a:prstGeom prst="roundRect">
            <a:avLst>
              <a:gd name="adj" fmla="val 14000"/>
            </a:avLst>
          </a:prstGeom>
          <a:solidFill>
            <a:srgbClr val="F9F9F7"/>
          </a:solidFill>
          <a:ln w="12700">
            <a:solidFill>
              <a:srgbClr val="2F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451299" y="4517136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NI-VISA / 488.2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34640" y="4754880"/>
            <a:ext cx="881481" cy="292608"/>
          </a:xfrm>
          <a:prstGeom prst="roundRect">
            <a:avLst>
              <a:gd name="adj" fmla="val 14000"/>
            </a:avLst>
          </a:prstGeom>
          <a:solidFill>
            <a:srgbClr val="F9F9F7"/>
          </a:solidFill>
          <a:ln w="12700">
            <a:solidFill>
              <a:srgbClr val="2F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834640" y="4809744"/>
            <a:ext cx="88148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NI-DAQmx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230368"/>
            <a:ext cx="60350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502920" y="5230368"/>
            <a:ext cx="54864" cy="932688"/>
          </a:xfrm>
          <a:prstGeom prst="roundRect">
            <a:avLst>
              <a:gd name="adj" fmla="val 0"/>
            </a:avLst>
          </a:prstGeom>
          <a:solidFill>
            <a:srgbClr val="20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8368" y="5321808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0606A"/>
                </a:solidFill>
                <a:latin typeface="微软雅黑"/>
                <a:ea typeface="微软雅黑"/>
                <a:cs typeface="微软雅黑"/>
              </a:rPr>
              <a:t>L1 平台与硬件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596128"/>
            <a:ext cx="2103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机箱、模块、时钟与触发的发现、配置与自检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834640" y="5468112"/>
            <a:ext cx="961948" cy="292608"/>
          </a:xfrm>
          <a:prstGeom prst="roundRect">
            <a:avLst>
              <a:gd name="adj" fmla="val 14000"/>
            </a:avLst>
          </a:prstGeom>
          <a:solidFill>
            <a:srgbClr val="F9F9F7"/>
          </a:solidFill>
          <a:ln w="12700">
            <a:solidFill>
              <a:srgbClr val="20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2834640" y="5522976"/>
            <a:ext cx="9619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0606A"/>
                </a:solidFill>
                <a:latin typeface="微软雅黑"/>
                <a:ea typeface="微软雅黑"/>
                <a:cs typeface="微软雅黑"/>
              </a:rPr>
              <a:t>PXI 机箱与模块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88028" y="5468112"/>
            <a:ext cx="1927555" cy="292608"/>
          </a:xfrm>
          <a:prstGeom prst="roundRect">
            <a:avLst>
              <a:gd name="adj" fmla="val 14000"/>
            </a:avLst>
          </a:prstGeom>
          <a:solidFill>
            <a:srgbClr val="F9F9F7"/>
          </a:solidFill>
          <a:ln w="12700">
            <a:solidFill>
              <a:srgbClr val="20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888028" y="5522976"/>
            <a:ext cx="19275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0606A"/>
                </a:solidFill>
                <a:latin typeface="微软雅黑"/>
                <a:ea typeface="微软雅黑"/>
                <a:cs typeface="微软雅黑"/>
              </a:rPr>
              <a:t>PXI Platform Services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34640" y="5760720"/>
            <a:ext cx="720547" cy="292608"/>
          </a:xfrm>
          <a:prstGeom prst="roundRect">
            <a:avLst>
              <a:gd name="adj" fmla="val 14000"/>
            </a:avLst>
          </a:prstGeom>
          <a:solidFill>
            <a:srgbClr val="F9F9F7"/>
          </a:solidFill>
          <a:ln w="12700">
            <a:solidFill>
              <a:srgbClr val="20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2834640" y="5815584"/>
            <a:ext cx="7205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0606A"/>
                </a:solidFill>
                <a:latin typeface="微软雅黑"/>
                <a:ea typeface="微软雅黑"/>
                <a:cs typeface="微软雅黑"/>
              </a:rPr>
              <a:t>NI MAX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272784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越靠上越「业务」，越靠下越「电气」；换层不改相邻层，是这套分层能长期使用的原因。</a:t>
            </a:r>
          </a:p>
        </p:txBody>
      </p:sp>
      <p:pic>
        <p:nvPicPr>
          <p:cNvPr id="51" name="Picture 50" descr="teststan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188720"/>
            <a:ext cx="4846320" cy="242618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812280" y="366062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A8882"/>
                </a:solidFill>
                <a:latin typeface="微软雅黑"/>
                <a:ea typeface="微软雅黑"/>
                <a:cs typeface="微软雅黑"/>
              </a:rPr>
              <a:t>图 1　NI TestStand 产品页配图：序列编辑与执行监视（来源 ni.com）</a:t>
            </a:r>
          </a:p>
        </p:txBody>
      </p:sp>
      <p:pic>
        <p:nvPicPr>
          <p:cNvPr id="53" name="Picture 52" descr="pxi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913632"/>
            <a:ext cx="4846320" cy="22202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812280" y="6179572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A8882"/>
                </a:solidFill>
                <a:latin typeface="微软雅黑"/>
                <a:ea typeface="微软雅黑"/>
                <a:cs typeface="微软雅黑"/>
              </a:rPr>
              <a:t>图 2　PXI 机箱与系统配置界面，含 InstrumentStudio 通道视图（来源 ni.com）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510528"/>
            <a:ext cx="10332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89690"/>
                </a:solidFill>
                <a:latin typeface="微软雅黑"/>
                <a:ea typeface="微软雅黑"/>
                <a:cs typeface="微软雅黑"/>
              </a:rPr>
              <a:t>图片采集自 ni.com 产品页（2026-10），仅用于内部技术评审；软件分层为本文归纳，非 NI 官方分类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每个软件到底在干什么：角色与交接点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把「谁负责哪一步」写清楚，才能判断哪些能力可以自建、哪些必须采购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528816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226771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20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12648" y="1252728"/>
            <a:ext cx="2048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0606A"/>
                </a:solidFill>
                <a:latin typeface="微软雅黑"/>
                <a:ea typeface="微软雅黑"/>
                <a:cs typeface="微软雅黑"/>
              </a:rPr>
              <a:t>① 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499616"/>
            <a:ext cx="20482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NI MAX · PXI Platform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170432"/>
            <a:ext cx="226771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008376" y="1252728"/>
            <a:ext cx="2048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② 序列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8376" y="1499616"/>
            <a:ext cx="20482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TestStand（Process Model）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94376" y="1170432"/>
            <a:ext cx="226771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04104" y="1252728"/>
            <a:ext cx="2048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③ 并行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4104" y="1499616"/>
            <a:ext cx="20482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TSM：site / pin 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901952"/>
            <a:ext cx="226771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2648" y="1984248"/>
            <a:ext cx="2048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④ 测量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231136"/>
            <a:ext cx="20482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LabVIEW VI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8648" y="1901952"/>
            <a:ext cx="226771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2F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008376" y="1984248"/>
            <a:ext cx="2048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⑤ 路由与驱动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8376" y="2231136"/>
            <a:ext cx="20482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Switch Executive · VISA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94376" y="1901952"/>
            <a:ext cx="226771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5C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04104" y="1984248"/>
            <a:ext cx="2048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C3A7A"/>
                </a:solidFill>
                <a:latin typeface="微软雅黑"/>
                <a:ea typeface="微软雅黑"/>
                <a:cs typeface="微软雅黑"/>
              </a:rPr>
              <a:t>⑥ 归档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104" y="2231136"/>
            <a:ext cx="20482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SystemLink · DIAdem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834640"/>
            <a:ext cx="7178040" cy="27432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1792" y="288036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软件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9112" y="2880360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在 ATE 里的角色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2880360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交接点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108960"/>
            <a:ext cx="7178040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502920" y="3108960"/>
            <a:ext cx="36576" cy="347472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792" y="319125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3191256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序列引擎：解释执行 step、跑流程模型、收结果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8" y="3191256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②③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488436"/>
            <a:ext cx="7178040" cy="347472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889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502920" y="3488436"/>
            <a:ext cx="36576" cy="347472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792" y="3570732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3570732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site 与 pin map、多工位复用、binning 与 STDF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3328" y="3570732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867911"/>
            <a:ext cx="7178040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502920" y="3867911"/>
            <a:ext cx="36576" cy="347472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1792" y="3950207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19" y="3950207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测量代码本体，一个 step 对应一个 VI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8" y="3950207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247388"/>
            <a:ext cx="7178040" cy="347472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889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502920" y="4247388"/>
            <a:ext cx="36576" cy="347472"/>
          </a:xfrm>
          <a:prstGeom prst="roundRect">
            <a:avLst>
              <a:gd name="adj" fmla="val 0"/>
            </a:avLst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21792" y="4329683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Switch Executive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74519" y="4329683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开关与矩阵路径配置、共享资源互斥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53328" y="4329683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4626864"/>
            <a:ext cx="7178040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502920" y="4626864"/>
            <a:ext cx="36576" cy="347472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1792" y="4709159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InstrumentStudio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74519" y="4709159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仪器软面板：交互调试、参数试探、截图留证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53328" y="4709159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5006340"/>
            <a:ext cx="7178040" cy="347472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889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502920" y="5006340"/>
            <a:ext cx="36576" cy="347472"/>
          </a:xfrm>
          <a:prstGeom prst="roundRect">
            <a:avLst>
              <a:gd name="adj" fmla="val 0"/>
            </a:avLst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21792" y="508863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NI-VISA / NI-488.2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74519" y="5088636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统一会话层：LAN / GPIB / USB 仪器同一套接口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5088636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⑤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5385816"/>
            <a:ext cx="7178040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502920" y="5385816"/>
            <a:ext cx="36576" cy="347472"/>
          </a:xfrm>
          <a:prstGeom prst="roundRect">
            <a:avLst>
              <a:gd name="adj" fmla="val 0"/>
            </a:avLst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21792" y="5468112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NI-DAQmx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74519" y="5468112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传感器与模拟量采集、定时与触发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53328" y="5468112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⑤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5765292"/>
            <a:ext cx="7178040" cy="347472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889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502920" y="5765292"/>
            <a:ext cx="36576" cy="347472"/>
          </a:xfrm>
          <a:prstGeom prst="roundRect">
            <a:avLst>
              <a:gd name="adj" fmla="val 0"/>
            </a:avLst>
          </a:prstGeom>
          <a:solidFill>
            <a:srgbClr val="20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21792" y="5847588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PXI Platform Services / MAX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74519" y="5847588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机箱与模块发现、时钟触发配置、自检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53328" y="5847588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0606A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6144768"/>
            <a:ext cx="7178040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502920" y="6144768"/>
            <a:ext cx="36576" cy="347472"/>
          </a:xfrm>
          <a:prstGeom prst="roundRect">
            <a:avLst>
              <a:gd name="adj" fmla="val 0"/>
            </a:avLst>
          </a:prstGeom>
          <a:solidFill>
            <a:srgbClr val="5C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21792" y="6227064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SystemLink / DIAdem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74519" y="6227064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机群与测试数据管理；离线分析与报告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53328" y="6227064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5C3A7A"/>
                </a:solidFill>
                <a:latin typeface="微软雅黑"/>
                <a:ea typeface="微软雅黑"/>
                <a:cs typeface="微软雅黑"/>
              </a:rPr>
              <a:t>⑥</a:t>
            </a:r>
          </a:p>
        </p:txBody>
      </p:sp>
      <p:pic>
        <p:nvPicPr>
          <p:cNvPr id="73" name="Picture 72" descr="labview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170432"/>
            <a:ext cx="3794760" cy="2134552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909560" y="3350704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A8882"/>
                </a:solidFill>
                <a:latin typeface="微软雅黑"/>
                <a:ea typeface="微软雅黑"/>
                <a:cs typeface="微软雅黑"/>
              </a:rPr>
              <a:t>图 3　LabVIEW 产品页配图：图形化程序与前面板（来源 ni.com）</a:t>
            </a:r>
          </a:p>
        </p:txBody>
      </p:sp>
      <p:pic>
        <p:nvPicPr>
          <p:cNvPr id="75" name="Picture 74" descr="x_PXIe-1081_Configuration_2_InstrumentStudio_540x323_2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3621024"/>
            <a:ext cx="3794760" cy="204284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7909560" y="5709589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A8882"/>
                </a:solidFill>
                <a:latin typeface="微软雅黑"/>
                <a:ea typeface="微软雅黑"/>
                <a:cs typeface="微软雅黑"/>
              </a:rPr>
              <a:t>图 4　PXIe-1081 机箱与 InstrumentStudio 同屏（来源 ni.com）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09560" y="5980176"/>
            <a:ext cx="3794760" cy="475488"/>
          </a:xfrm>
          <a:prstGeom prst="roundRect">
            <a:avLst>
              <a:gd name="adj" fmla="val 8000"/>
            </a:avLst>
          </a:prstGeom>
          <a:solidFill>
            <a:srgbClr val="FFF8EC"/>
          </a:solidFill>
          <a:ln w="15240">
            <a:solidFill>
              <a:srgbClr val="B0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8028431" y="6053328"/>
            <a:ext cx="3584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60" b="0">
                <a:solidFill>
                  <a:srgbClr val="4A3A1E"/>
                </a:solidFill>
                <a:latin typeface="微软雅黑"/>
                <a:ea typeface="微软雅黑"/>
                <a:cs typeface="微软雅黑"/>
              </a:rPr>
              <a:t>买 vs 自建：②③⑥ 是通用能力，采购更划算；</a:t>
            </a:r>
          </a:p>
          <a:p>
            <a:pPr algn="l">
              <a:lnSpc>
                <a:spcPct val="120000"/>
              </a:lnSpc>
            </a:pPr>
            <a:r>
              <a:rPr sz="760" b="0">
                <a:solidFill>
                  <a:srgbClr val="4A3A1E"/>
                </a:solidFill>
                <a:latin typeface="微软雅黑"/>
                <a:ea typeface="微软雅黑"/>
                <a:cs typeface="微软雅黑"/>
              </a:rPr>
              <a:t>④⑤ 与夹具、被测件强绑定，通常自研。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6510528"/>
            <a:ext cx="10332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89690"/>
                </a:solidFill>
                <a:latin typeface="微软雅黑"/>
                <a:ea typeface="微软雅黑"/>
                <a:cs typeface="微软雅黑"/>
              </a:rPr>
              <a:t>角色描述依据 NI 官方文档与产品页；「买 vs 自建」为本文判断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