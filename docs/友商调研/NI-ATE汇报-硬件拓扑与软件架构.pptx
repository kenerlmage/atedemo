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743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一、NI 方案的硬件拓扑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241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中心侧负责程序下发与数据回收，站点侧承担全部实时测试动作，两者以工业以太网连接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969264"/>
            <a:ext cx="11155680" cy="1097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95938E"/>
                </a:solidFill>
                <a:latin typeface="微软雅黑"/>
                <a:ea typeface="微软雅黑"/>
                <a:cs typeface="微软雅黑"/>
              </a:rPr>
              <a:t>1 / 2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170432"/>
            <a:ext cx="6967728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12064" y="1170432"/>
            <a:ext cx="41148" cy="9692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61872"/>
            <a:ext cx="8595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中心与网络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481328"/>
            <a:ext cx="85953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60" b="0" i="0">
                <a:solidFill>
                  <a:srgbClr val="95938E"/>
                </a:solidFill>
                <a:latin typeface="微软雅黑"/>
                <a:ea typeface="微软雅黑"/>
                <a:cs typeface="微软雅黑"/>
              </a:rPr>
              <a:t>管理与数据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1261872"/>
            <a:ext cx="1883664" cy="786384"/>
          </a:xfrm>
          <a:prstGeom prst="rect">
            <a:avLst/>
          </a:prstGeom>
          <a:solidFill>
            <a:srgbClr val="F6F5F2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737360" y="1344168"/>
            <a:ext cx="17007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工业以太网交换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554480"/>
            <a:ext cx="17007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8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站点与中心互联</a:t>
            </a:r>
          </a:p>
          <a:p>
            <a:pPr algn="l">
              <a:lnSpc>
                <a:spcPct val="118000"/>
              </a:lnSpc>
            </a:pPr>
            <a:r>
              <a:rPr sz="68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千兆及以上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21024" y="1261872"/>
            <a:ext cx="1883664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712463" y="1344168"/>
            <a:ext cx="17007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中心服务器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2463" y="1554480"/>
            <a:ext cx="17007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8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程序库与结果库</a:t>
            </a:r>
          </a:p>
          <a:p>
            <a:pPr algn="l">
              <a:lnSpc>
                <a:spcPct val="118000"/>
              </a:lnSpc>
            </a:pPr>
            <a:r>
              <a:rPr sz="68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部署与追溯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96128" y="1261872"/>
            <a:ext cx="1883664" cy="786384"/>
          </a:xfrm>
          <a:prstGeom prst="rect">
            <a:avLst/>
          </a:prstGeom>
          <a:solidFill>
            <a:srgbClr val="F6F5F2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687568" y="1344168"/>
            <a:ext cx="17007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制造执行接口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87568" y="1554480"/>
            <a:ext cx="17007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8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任务令与结果回传</a:t>
            </a:r>
          </a:p>
          <a:p>
            <a:pPr algn="l">
              <a:lnSpc>
                <a:spcPct val="118000"/>
              </a:lnSpc>
            </a:pPr>
            <a:r>
              <a:rPr sz="68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按产线接口约定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3931920" y="2185415"/>
            <a:ext cx="128016" cy="219456"/>
          </a:xfrm>
          <a:prstGeom prst="downArrow">
            <a:avLst/>
          </a:prstGeom>
          <a:solidFill>
            <a:srgbClr val="AD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12064" y="2450592"/>
            <a:ext cx="6967728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12064" y="2450592"/>
            <a:ext cx="41148" cy="9692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542032"/>
            <a:ext cx="8595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站点控制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2761488"/>
            <a:ext cx="85953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60" b="0" i="0">
                <a:solidFill>
                  <a:srgbClr val="95938E"/>
                </a:solidFill>
                <a:latin typeface="微软雅黑"/>
                <a:ea typeface="微软雅黑"/>
                <a:cs typeface="微软雅黑"/>
              </a:rPr>
              <a:t>工控计算机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0" y="2542032"/>
            <a:ext cx="1883664" cy="786384"/>
          </a:xfrm>
          <a:prstGeom prst="rect">
            <a:avLst/>
          </a:prstGeom>
          <a:solidFill>
            <a:srgbClr val="F6F5F2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737360" y="2624328"/>
            <a:ext cx="17007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工业控制计算机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2834640"/>
            <a:ext cx="17007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8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运行测试执行软件</a:t>
            </a:r>
          </a:p>
          <a:p>
            <a:pPr algn="l">
              <a:lnSpc>
                <a:spcPct val="118000"/>
              </a:lnSpc>
            </a:pPr>
            <a:r>
              <a:rPr sz="68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连接机箱与外部仪器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21024" y="2542032"/>
            <a:ext cx="1883664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712463" y="2624328"/>
            <a:ext cx="17007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嵌入式控制器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12463" y="2834640"/>
            <a:ext cx="17007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8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插于机箱内部</a:t>
            </a:r>
          </a:p>
          <a:p>
            <a:pPr algn="l">
              <a:lnSpc>
                <a:spcPct val="118000"/>
              </a:lnSpc>
            </a:pPr>
            <a:r>
              <a:rPr sz="68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适用于紧凑型工位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96128" y="2542032"/>
            <a:ext cx="1883664" cy="786384"/>
          </a:xfrm>
          <a:prstGeom prst="rect">
            <a:avLst/>
          </a:prstGeom>
          <a:solidFill>
            <a:srgbClr val="F6F5F2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687568" y="2624328"/>
            <a:ext cx="17007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操作终端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87568" y="2834640"/>
            <a:ext cx="17007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8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启动、监视与处置</a:t>
            </a:r>
          </a:p>
          <a:p>
            <a:pPr algn="l">
              <a:lnSpc>
                <a:spcPct val="118000"/>
              </a:lnSpc>
            </a:pPr>
            <a:r>
              <a:rPr sz="68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不参与测量控制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3931920" y="3465576"/>
            <a:ext cx="128016" cy="219456"/>
          </a:xfrm>
          <a:prstGeom prst="downArrow">
            <a:avLst/>
          </a:prstGeom>
          <a:solidFill>
            <a:srgbClr val="AD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512064" y="3730752"/>
            <a:ext cx="6967728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12064" y="3730752"/>
            <a:ext cx="41148" cy="9692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3822191"/>
            <a:ext cx="8595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仪器与开关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041648"/>
            <a:ext cx="85953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60" b="0" i="0">
                <a:solidFill>
                  <a:srgbClr val="95938E"/>
                </a:solidFill>
                <a:latin typeface="微软雅黑"/>
                <a:ea typeface="微软雅黑"/>
                <a:cs typeface="微软雅黑"/>
              </a:rPr>
              <a:t>测量资源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20" y="3822191"/>
            <a:ext cx="1883664" cy="786384"/>
          </a:xfrm>
          <a:prstGeom prst="rect">
            <a:avLst/>
          </a:prstGeom>
          <a:solidFill>
            <a:srgbClr val="F6F5F2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737360" y="3904487"/>
            <a:ext cx="17007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模块化机箱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37360" y="4114800"/>
            <a:ext cx="17007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8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数字、模拟、射频模块</a:t>
            </a:r>
          </a:p>
          <a:p>
            <a:pPr algn="l">
              <a:lnSpc>
                <a:spcPct val="118000"/>
              </a:lnSpc>
            </a:pPr>
            <a:r>
              <a:rPr sz="68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背板提供时钟与触发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21024" y="3822191"/>
            <a:ext cx="1883664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712463" y="3904487"/>
            <a:ext cx="17007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开关与矩阵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12463" y="4114800"/>
            <a:ext cx="17007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8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通道扩展与路径切换</a:t>
            </a:r>
          </a:p>
          <a:p>
            <a:pPr algn="l">
              <a:lnSpc>
                <a:spcPct val="118000"/>
              </a:lnSpc>
            </a:pPr>
            <a:r>
              <a:rPr sz="68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共享资源的互斥管理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96128" y="3822191"/>
            <a:ext cx="1883664" cy="786384"/>
          </a:xfrm>
          <a:prstGeom prst="rect">
            <a:avLst/>
          </a:prstGeom>
          <a:solidFill>
            <a:srgbClr val="F6F5F2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687568" y="3904487"/>
            <a:ext cx="17007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外挂仪器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87568" y="4114800"/>
            <a:ext cx="17007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8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以太网、总线与串口仪器</a:t>
            </a:r>
          </a:p>
          <a:p>
            <a:pPr algn="l">
              <a:lnSpc>
                <a:spcPct val="118000"/>
              </a:lnSpc>
            </a:pPr>
            <a:r>
              <a:rPr sz="68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统一会话访问</a:t>
            </a:r>
          </a:p>
        </p:txBody>
      </p:sp>
      <p:sp>
        <p:nvSpPr>
          <p:cNvPr id="47" name="Down Arrow 46"/>
          <p:cNvSpPr/>
          <p:nvPr/>
        </p:nvSpPr>
        <p:spPr>
          <a:xfrm>
            <a:off x="3931920" y="4745736"/>
            <a:ext cx="128016" cy="219456"/>
          </a:xfrm>
          <a:prstGeom prst="downArrow">
            <a:avLst/>
          </a:prstGeom>
          <a:solidFill>
            <a:srgbClr val="AD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12064" y="5010912"/>
            <a:ext cx="6967728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512064" y="5010912"/>
            <a:ext cx="41148" cy="9692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" y="5102352"/>
            <a:ext cx="8595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接口与被测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" y="5321808"/>
            <a:ext cx="85953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60" b="0" i="0">
                <a:solidFill>
                  <a:srgbClr val="95938E"/>
                </a:solidFill>
                <a:latin typeface="微软雅黑"/>
                <a:ea typeface="微软雅黑"/>
                <a:cs typeface="微软雅黑"/>
              </a:rPr>
              <a:t>被测对象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45920" y="5102352"/>
            <a:ext cx="1883664" cy="786384"/>
          </a:xfrm>
          <a:prstGeom prst="rect">
            <a:avLst/>
          </a:prstGeom>
          <a:solidFill>
            <a:srgbClr val="F6F5F2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1737360" y="5184648"/>
            <a:ext cx="17007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夹具与针床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37360" y="5394960"/>
            <a:ext cx="17007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8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机械定位与信号引出</a:t>
            </a:r>
          </a:p>
          <a:p>
            <a:pPr algn="l">
              <a:lnSpc>
                <a:spcPct val="118000"/>
              </a:lnSpc>
            </a:pPr>
            <a:r>
              <a:rPr sz="68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更换品种时整体替换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21024" y="5102352"/>
            <a:ext cx="1883664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3712463" y="5184648"/>
            <a:ext cx="17007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被测件工位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12463" y="5394960"/>
            <a:ext cx="17007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8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同一机箱支持多工位</a:t>
            </a:r>
          </a:p>
          <a:p>
            <a:pPr algn="l">
              <a:lnSpc>
                <a:spcPct val="118000"/>
              </a:lnSpc>
            </a:pPr>
            <a:r>
              <a:rPr sz="68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各工位并行执行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96128" y="5102352"/>
            <a:ext cx="1883664" cy="786384"/>
          </a:xfrm>
          <a:prstGeom prst="rect">
            <a:avLst/>
          </a:prstGeom>
          <a:solidFill>
            <a:srgbClr val="F6F5F2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5687568" y="5184648"/>
            <a:ext cx="17007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上下料装置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87568" y="5394960"/>
            <a:ext cx="17007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8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手动或自动上下料</a:t>
            </a:r>
          </a:p>
          <a:p>
            <a:pPr algn="l">
              <a:lnSpc>
                <a:spcPct val="118000"/>
              </a:lnSpc>
            </a:pPr>
            <a:r>
              <a:rPr sz="68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与测试节拍配合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2064" y="6035040"/>
            <a:ext cx="69677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90" b="0" i="0">
                <a:solidFill>
                  <a:srgbClr val="95938E"/>
                </a:solidFill>
                <a:latin typeface="微软雅黑"/>
                <a:ea typeface="微软雅黑"/>
                <a:cs typeface="微软雅黑"/>
              </a:rPr>
              <a:t>图中自上而下为信息流方向；仪器控制信号在机箱背板内完成，不经过网络。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2400" y="1170432"/>
            <a:ext cx="38953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6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拓扑说明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72400" y="1399032"/>
            <a:ext cx="3895344" cy="10972"/>
          </a:xfrm>
          <a:prstGeom prst="rect">
            <a:avLst/>
          </a:prstGeom>
          <a:solidFill>
            <a:srgbClr val="C4C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72400" y="1481328"/>
            <a:ext cx="4023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40" b="1" i="0">
                <a:solidFill>
                  <a:srgbClr val="95938E"/>
                </a:solidFill>
                <a:latin typeface="微软雅黑"/>
                <a:ea typeface="微软雅黑"/>
                <a:cs typeface="微软雅黑"/>
              </a:rPr>
              <a:t>（一）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74736" y="1481328"/>
            <a:ext cx="349300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拓扑为单站点纵向结构：中心侧只负责程序下发与结果回收，站点侧承担全部实时测试动作。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2157984"/>
            <a:ext cx="4023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40" b="1" i="0">
                <a:solidFill>
                  <a:srgbClr val="95938E"/>
                </a:solidFill>
                <a:latin typeface="微软雅黑"/>
                <a:ea typeface="微软雅黑"/>
                <a:cs typeface="微软雅黑"/>
              </a:rPr>
              <a:t>（二）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74736" y="2157984"/>
            <a:ext cx="349300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同一机箱内的多工位以并行执行实现，不通过增加工业控制计算机数量来扩展工位。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72400" y="2834640"/>
            <a:ext cx="4023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40" b="1" i="0">
                <a:solidFill>
                  <a:srgbClr val="95938E"/>
                </a:solidFill>
                <a:latin typeface="微软雅黑"/>
                <a:ea typeface="微软雅黑"/>
                <a:cs typeface="微软雅黑"/>
              </a:rPr>
              <a:t>（三）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74736" y="2834640"/>
            <a:ext cx="349300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程序与结果经工业以太网传输，仪器控制信号经机箱背板传输，两条通路相互独立。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72400" y="3621024"/>
            <a:ext cx="38953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6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适用场景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772400" y="3849624"/>
            <a:ext cx="3895344" cy="10972"/>
          </a:xfrm>
          <a:prstGeom prst="rect">
            <a:avLst/>
          </a:prstGeom>
          <a:solidFill>
            <a:srgbClr val="C4C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772400" y="3950208"/>
            <a:ext cx="3895344" cy="347472"/>
          </a:xfrm>
          <a:prstGeom prst="rect">
            <a:avLst/>
          </a:prstGeom>
          <a:solidFill>
            <a:srgbClr val="F6F5F2"/>
          </a:solidFill>
          <a:ln w="6350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863840" y="4041648"/>
            <a:ext cx="28895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2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多品种、中小批量、引脚数中等以上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881360" y="4041648"/>
            <a:ext cx="6949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7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适用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772400" y="4297680"/>
            <a:ext cx="389534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7863840" y="4389120"/>
            <a:ext cx="28895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2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单一机箱内 4 至 16 工位并行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881360" y="4389120"/>
            <a:ext cx="6949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7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适用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772400" y="4645152"/>
            <a:ext cx="3895344" cy="347472"/>
          </a:xfrm>
          <a:prstGeom prst="rect">
            <a:avLst/>
          </a:prstGeom>
          <a:solidFill>
            <a:srgbClr val="F6F5F2"/>
          </a:solidFill>
          <a:ln w="6350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7863840" y="4736592"/>
            <a:ext cx="28895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2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数字、模拟与射频混合测量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881360" y="4736592"/>
            <a:ext cx="6949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7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适用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772400" y="4992624"/>
            <a:ext cx="389534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7863840" y="5084064"/>
            <a:ext cx="28895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2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成本敏感的单品种大批量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881360" y="5084064"/>
            <a:ext cx="6949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72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受限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72400" y="5340096"/>
            <a:ext cx="3895344" cy="347472"/>
          </a:xfrm>
          <a:prstGeom prst="rect">
            <a:avLst/>
          </a:prstGeom>
          <a:solidFill>
            <a:srgbClr val="F6F5F2"/>
          </a:solidFill>
          <a:ln w="6350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7863840" y="5431536"/>
            <a:ext cx="28895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2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需与既有非 NI 仪器深度耦合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881360" y="5431536"/>
            <a:ext cx="6949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72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受限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72400" y="5779007"/>
            <a:ext cx="389534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70" b="0" i="0">
                <a:solidFill>
                  <a:srgbClr val="95938E"/>
                </a:solidFill>
                <a:latin typeface="微软雅黑"/>
                <a:ea typeface="微软雅黑"/>
                <a:cs typeface="微软雅黑"/>
              </a:rPr>
              <a:t>说明：适用性判断以功能覆盖与工程成本为依据，不含价格因素。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C4C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12064" y="6483096"/>
            <a:ext cx="10607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80" b="0" i="0">
                <a:solidFill>
                  <a:srgbClr val="95938E"/>
                </a:solidFill>
                <a:latin typeface="微软雅黑"/>
                <a:ea typeface="微软雅黑"/>
                <a:cs typeface="微软雅黑"/>
              </a:rPr>
              <a:t>资料来源：NI 公开产品资料与文档；分层方式与适用性判断为本文归纳。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743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二、NI 方案的软件架构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241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软件分为应用、执行、测量、平台四层，上层组织流程，下层提供测量能力，层间以配置与调用约定衔接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969264"/>
            <a:ext cx="11155680" cy="1097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95938E"/>
                </a:solidFill>
                <a:latin typeface="微软雅黑"/>
                <a:ea typeface="微软雅黑"/>
                <a:cs typeface="微软雅黑"/>
              </a:rPr>
              <a:t>2 / 2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170432"/>
            <a:ext cx="6967728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12064" y="1170432"/>
            <a:ext cx="41148" cy="9692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61872"/>
            <a:ext cx="8595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应用层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481328"/>
            <a:ext cx="85953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60" b="0" i="0">
                <a:solidFill>
                  <a:srgbClr val="95938E"/>
                </a:solidFill>
                <a:latin typeface="微软雅黑"/>
                <a:ea typeface="微软雅黑"/>
                <a:cs typeface="微软雅黑"/>
              </a:rPr>
              <a:t>使用者视角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1261872"/>
            <a:ext cx="5833872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773936" y="1335024"/>
            <a:ext cx="5577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60" b="1" i="0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操作界面　程序管理　结果查询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3936" y="1572768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4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面向操作与工艺人员，负责程序选择、运行监视与结果查阅，不直接控制仪器。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931920" y="2185415"/>
            <a:ext cx="128016" cy="219456"/>
          </a:xfrm>
          <a:prstGeom prst="downArrow">
            <a:avLst/>
          </a:prstGeom>
          <a:solidFill>
            <a:srgbClr val="AD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12064" y="2450592"/>
            <a:ext cx="6967728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12064" y="2450592"/>
            <a:ext cx="41148" cy="9692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542032"/>
            <a:ext cx="8595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执行层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2761488"/>
            <a:ext cx="85953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60" b="0" i="0">
                <a:solidFill>
                  <a:srgbClr val="95938E"/>
                </a:solidFill>
                <a:latin typeface="微软雅黑"/>
                <a:ea typeface="微软雅黑"/>
                <a:cs typeface="微软雅黑"/>
              </a:rPr>
              <a:t>流程组织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0" y="2542032"/>
            <a:ext cx="5833872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773936" y="2615184"/>
            <a:ext cx="5577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60" b="1" i="0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序列执行　工位管理　判定与分档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73936" y="2852928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4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按既定流程组织测试步骤，管理多工位并行，汇集测量结果并完成合格性判定与分档。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3931920" y="3465576"/>
            <a:ext cx="128016" cy="219456"/>
          </a:xfrm>
          <a:prstGeom prst="downArrow">
            <a:avLst/>
          </a:prstGeom>
          <a:solidFill>
            <a:srgbClr val="AD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12064" y="3730752"/>
            <a:ext cx="6967728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12064" y="3730752"/>
            <a:ext cx="41148" cy="9692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822191"/>
            <a:ext cx="8595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测量层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4041648"/>
            <a:ext cx="85953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60" b="0" i="0">
                <a:solidFill>
                  <a:srgbClr val="95938E"/>
                </a:solidFill>
                <a:latin typeface="微软雅黑"/>
                <a:ea typeface="微软雅黑"/>
                <a:cs typeface="微软雅黑"/>
              </a:rPr>
              <a:t>测量实现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0" y="3822191"/>
            <a:ext cx="5833872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773936" y="3895344"/>
            <a:ext cx="5577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60" b="1" i="0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测量程序　仪器驱动　开关路径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73936" y="4133088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4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面向具体测试项，完成激励施加、信号采集与数据换算，并与仪器和开关资源对接。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3931920" y="4745736"/>
            <a:ext cx="128016" cy="219456"/>
          </a:xfrm>
          <a:prstGeom prst="downArrow">
            <a:avLst/>
          </a:prstGeom>
          <a:solidFill>
            <a:srgbClr val="AD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12064" y="5010912"/>
            <a:ext cx="6967728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12064" y="5010912"/>
            <a:ext cx="41148" cy="9692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5102352"/>
            <a:ext cx="8595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平台层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5321808"/>
            <a:ext cx="85953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60" b="0" i="0">
                <a:solidFill>
                  <a:srgbClr val="95938E"/>
                </a:solidFill>
                <a:latin typeface="微软雅黑"/>
                <a:ea typeface="微软雅黑"/>
                <a:cs typeface="微软雅黑"/>
              </a:rPr>
              <a:t>资源与配置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0" y="5102352"/>
            <a:ext cx="5833872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773936" y="5175504"/>
            <a:ext cx="5577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60" b="1" i="0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机箱与模块管理　系统配置　自检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73936" y="5413248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4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完成硬件资源发现、通道与触发配置、设备自检与固件维护，为以上各层提供统一资源视图。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" y="6035040"/>
            <a:ext cx="69677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90" b="0" i="0">
                <a:solidFill>
                  <a:srgbClr val="95938E"/>
                </a:solidFill>
                <a:latin typeface="微软雅黑"/>
                <a:ea typeface="微软雅黑"/>
                <a:cs typeface="微软雅黑"/>
              </a:rPr>
              <a:t>箭头表示调用方向：上层提出测试需求，下层提供测量与资源能力。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1170432"/>
            <a:ext cx="38953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6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架构特征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0" y="1399032"/>
            <a:ext cx="3895344" cy="10972"/>
          </a:xfrm>
          <a:prstGeom prst="rect">
            <a:avLst/>
          </a:prstGeom>
          <a:solidFill>
            <a:srgbClr val="C4C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0" y="1481328"/>
            <a:ext cx="4023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40" b="1" i="0">
                <a:solidFill>
                  <a:srgbClr val="95938E"/>
                </a:solidFill>
                <a:latin typeface="微软雅黑"/>
                <a:ea typeface="微软雅黑"/>
                <a:cs typeface="微软雅黑"/>
              </a:rPr>
              <a:t>（一）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74736" y="1481328"/>
            <a:ext cx="349300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层次职责单一：应用层不涉及测量，测量层不涉及流程，任一层调整不影响相邻层。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2194560"/>
            <a:ext cx="4023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40" b="1" i="0">
                <a:solidFill>
                  <a:srgbClr val="95938E"/>
                </a:solidFill>
                <a:latin typeface="微软雅黑"/>
                <a:ea typeface="微软雅黑"/>
                <a:cs typeface="微软雅黑"/>
              </a:rPr>
              <a:t>（二）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74736" y="2194560"/>
            <a:ext cx="349300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流程与测量分离：更换被测对象主要修改测量层与流程配置，更换仪器主要修改测量层。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2907792"/>
            <a:ext cx="4023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40" b="1" i="0">
                <a:solidFill>
                  <a:srgbClr val="95938E"/>
                </a:solidFill>
                <a:latin typeface="微软雅黑"/>
                <a:ea typeface="微软雅黑"/>
                <a:cs typeface="微软雅黑"/>
              </a:rPr>
              <a:t>（三）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74736" y="2907792"/>
            <a:ext cx="349300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结果出口统一：各层结果按统一格式归档，供中心侧汇总、追溯与报表使用。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3712464"/>
            <a:ext cx="38953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6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适用场景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0" y="3941064"/>
            <a:ext cx="3895344" cy="10972"/>
          </a:xfrm>
          <a:prstGeom prst="rect">
            <a:avLst/>
          </a:prstGeom>
          <a:solidFill>
            <a:srgbClr val="C4C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0" y="4041648"/>
            <a:ext cx="3895344" cy="347472"/>
          </a:xfrm>
          <a:prstGeom prst="rect">
            <a:avLst/>
          </a:prstGeom>
          <a:solidFill>
            <a:srgbClr val="F6F5F2"/>
          </a:solidFill>
          <a:ln w="6350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863840" y="4133088"/>
            <a:ext cx="28895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2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流程稳定、需长期维护的量产线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81360" y="4133088"/>
            <a:ext cx="6949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7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适用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0" y="4389120"/>
            <a:ext cx="389534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863840" y="4480560"/>
            <a:ext cx="28895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2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测试项由工艺定义、软件仅作组织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81360" y="4480560"/>
            <a:ext cx="6949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7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适用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0" y="4736592"/>
            <a:ext cx="3895344" cy="347472"/>
          </a:xfrm>
          <a:prstGeom prst="rect">
            <a:avLst/>
          </a:prstGeom>
          <a:solidFill>
            <a:srgbClr val="F6F5F2"/>
          </a:solidFill>
          <a:ln w="6350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863840" y="4828032"/>
            <a:ext cx="28895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2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多品种小批量、换型频繁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81360" y="4828032"/>
            <a:ext cx="6949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7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适用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0" y="5084064"/>
            <a:ext cx="389534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863840" y="5175504"/>
            <a:ext cx="28895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2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频繁变更的研发验证阶段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81360" y="5175504"/>
            <a:ext cx="6949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72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受限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0" y="5431536"/>
            <a:ext cx="3895344" cy="347472"/>
          </a:xfrm>
          <a:prstGeom prst="rect">
            <a:avLst/>
          </a:prstGeom>
          <a:solidFill>
            <a:srgbClr val="F6F5F2"/>
          </a:solidFill>
          <a:ln w="6350">
            <a:solidFill>
              <a:srgbClr val="C4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7863840" y="5522976"/>
            <a:ext cx="28895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2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仅需轻量单工位执行的小型工位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81360" y="5522976"/>
            <a:ext cx="6949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72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受限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400" y="5852160"/>
            <a:ext cx="38953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70" b="0" i="0">
                <a:solidFill>
                  <a:srgbClr val="95938E"/>
                </a:solidFill>
                <a:latin typeface="微软雅黑"/>
                <a:ea typeface="微软雅黑"/>
                <a:cs typeface="微软雅黑"/>
              </a:rPr>
              <a:t>「受限」指需额外定制或授权调整，并非不能实现。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C4C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2064" y="6483096"/>
            <a:ext cx="10607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80" b="0" i="0">
                <a:solidFill>
                  <a:srgbClr val="95938E"/>
                </a:solidFill>
                <a:latin typeface="微软雅黑"/>
                <a:ea typeface="微软雅黑"/>
                <a:cs typeface="微软雅黑"/>
              </a:rPr>
              <a:t>资料来源：NI 公开产品资料与文档；四层划分与适用性判断为本文归纳，非厂商官方分类。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