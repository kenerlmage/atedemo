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12064" y="201168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210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业界方案洞察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38160" y="310896"/>
            <a:ext cx="352958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8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NI 方案的拓扑、组件与仪器虚拟化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12064" y="603504"/>
            <a:ext cx="11155680" cy="64008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12064" y="603504"/>
            <a:ext cx="45720" cy="640080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" y="685800"/>
            <a:ext cx="10835640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6000"/>
              </a:lnSpc>
            </a:pPr>
            <a:r>
              <a:rPr sz="73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美国国家仪器（National Instruments）成立于 1976 年，总部位于美国得克萨斯州奥斯汀，2023 年并入 Emerson，作为其测试与测量业务运营；软件体系以 1986 年发布的 LabVIEW 为起点，向上延伸出 TestStand 测试执行软件与面向半导体测试的 TestStand Semiconductor Module，硬件侧以 PXI 模块化平台为主。本页说明该方案的硬件拓扑、三大组件的落点与仪器虚拟化相关做法。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512064" y="1335024"/>
            <a:ext cx="1481328" cy="475488"/>
          </a:xfrm>
          <a:prstGeom prst="rect">
            <a:avLst/>
          </a:prstGeom>
          <a:solidFill>
            <a:srgbClr val="F1F3F6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12064" y="1335024"/>
            <a:ext cx="41148" cy="475488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99032"/>
            <a:ext cx="1289304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MES 产线系统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572768"/>
            <a:ext cx="1289304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任务令 · 结果回传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39696" y="1335024"/>
            <a:ext cx="1316736" cy="475488"/>
          </a:xfrm>
          <a:prstGeom prst="rect">
            <a:avLst/>
          </a:prstGeom>
          <a:solidFill>
            <a:srgbClr val="FFFFFF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2139696" y="1335024"/>
            <a:ext cx="41148" cy="475488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79" y="1399032"/>
            <a:ext cx="11247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程序库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79" y="1572768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序列与配置版本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02736" y="1335024"/>
            <a:ext cx="1316736" cy="475488"/>
          </a:xfrm>
          <a:prstGeom prst="rect">
            <a:avLst/>
          </a:prstGeom>
          <a:solidFill>
            <a:srgbClr val="F1F3F6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02736" y="1335024"/>
            <a:ext cx="41148" cy="475488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03320" y="1399032"/>
            <a:ext cx="112471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结果库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1572768"/>
            <a:ext cx="112471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原始数据 · 追溯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65776" y="1335024"/>
            <a:ext cx="1609344" cy="475488"/>
          </a:xfrm>
          <a:prstGeom prst="rect">
            <a:avLst/>
          </a:prstGeom>
          <a:solidFill>
            <a:srgbClr val="FFFFFF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065776" y="1335024"/>
            <a:ext cx="41148" cy="475488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66360" y="1399032"/>
            <a:ext cx="1417319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分析平台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66360" y="1572768"/>
            <a:ext cx="1417319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报表 · 良率趋势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52728" y="1810512"/>
            <a:ext cx="0" cy="128016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798064" y="1810512"/>
            <a:ext cx="0" cy="128016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261104" y="1810512"/>
            <a:ext cx="0" cy="128016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870448" y="1810512"/>
            <a:ext cx="0" cy="128016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52728" y="1938528"/>
            <a:ext cx="4617720" cy="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1920240" y="2048256"/>
            <a:ext cx="2651760" cy="438912"/>
          </a:xfrm>
          <a:prstGeom prst="rect">
            <a:avLst/>
          </a:prstGeom>
          <a:solidFill>
            <a:srgbClr val="F1F3F6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ctangle 28"/>
          <p:cNvSpPr/>
          <p:nvPr/>
        </p:nvSpPr>
        <p:spPr>
          <a:xfrm>
            <a:off x="1920240" y="2048256"/>
            <a:ext cx="41148" cy="438912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020824" y="2112264"/>
            <a:ext cx="24597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工业以太网交换机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20824" y="2286000"/>
            <a:ext cx="24597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千兆 · 环网冗余 · VLAN 隔离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3246120" y="1938528"/>
            <a:ext cx="0" cy="109728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6120" y="2487168"/>
            <a:ext cx="0" cy="274320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3319272" y="2523744"/>
            <a:ext cx="100584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60" b="0">
                <a:solidFill>
                  <a:srgbClr val="86827A"/>
                </a:solidFill>
                <a:latin typeface="微软雅黑"/>
                <a:ea typeface="微软雅黑"/>
                <a:cs typeface="微软雅黑"/>
              </a:rPr>
              <a:t>TCP/IP 千兆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5840" y="2779776"/>
            <a:ext cx="4480560" cy="603504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1005840" y="2779776"/>
            <a:ext cx="41148" cy="603504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06424" y="2843784"/>
            <a:ext cx="40142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工业控制计算机（Host）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6424" y="3017520"/>
            <a:ext cx="4014216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测试执行引擎 · 工位扩展 · 操作界面（HMI）· 设备驱动</a:t>
            </a:r>
          </a:p>
        </p:txBody>
      </p:sp>
      <p:sp>
        <p:nvSpPr>
          <p:cNvPr id="39" name="Oval 38"/>
          <p:cNvSpPr/>
          <p:nvPr/>
        </p:nvSpPr>
        <p:spPr>
          <a:xfrm>
            <a:off x="5221224" y="2843784"/>
            <a:ext cx="192024" cy="192024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4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3246120" y="3383280"/>
            <a:ext cx="0" cy="146304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563624" y="3529584"/>
            <a:ext cx="4133088" cy="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1563624" y="3529584"/>
            <a:ext cx="0" cy="109728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3666744" y="3529584"/>
            <a:ext cx="0" cy="109728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5696712" y="3529584"/>
            <a:ext cx="0" cy="109728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749039" y="3401568"/>
            <a:ext cx="173736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60" b="0">
                <a:solidFill>
                  <a:srgbClr val="86827A"/>
                </a:solidFill>
                <a:latin typeface="微软雅黑"/>
                <a:ea typeface="微软雅黑"/>
                <a:cs typeface="微软雅黑"/>
              </a:rPr>
              <a:t>PCIe / 以太网 · 背板触发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2064" y="3639312"/>
            <a:ext cx="2103120" cy="548640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Rectangle 46"/>
          <p:cNvSpPr/>
          <p:nvPr/>
        </p:nvSpPr>
        <p:spPr>
          <a:xfrm>
            <a:off x="512064" y="3639312"/>
            <a:ext cx="41148" cy="548640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2648" y="3703320"/>
            <a:ext cx="1636775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测量程序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2648" y="3877056"/>
            <a:ext cx="16367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激励 · 采集 · 换算 · 比较</a:t>
            </a:r>
          </a:p>
        </p:txBody>
      </p:sp>
      <p:sp>
        <p:nvSpPr>
          <p:cNvPr id="50" name="Oval 49"/>
          <p:cNvSpPr/>
          <p:nvPr/>
        </p:nvSpPr>
        <p:spPr>
          <a:xfrm>
            <a:off x="2350008" y="3703320"/>
            <a:ext cx="192024" cy="192024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4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98064" y="3639312"/>
            <a:ext cx="1737360" cy="548640"/>
          </a:xfrm>
          <a:prstGeom prst="rect">
            <a:avLst/>
          </a:prstGeom>
          <a:solidFill>
            <a:srgbClr val="F1F3F6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Rectangle 51"/>
          <p:cNvSpPr/>
          <p:nvPr/>
        </p:nvSpPr>
        <p:spPr>
          <a:xfrm>
            <a:off x="2798064" y="3639312"/>
            <a:ext cx="41148" cy="548640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98648" y="3703320"/>
            <a:ext cx="15453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仪器驱动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898648" y="3877056"/>
            <a:ext cx="15453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会话管理 · SCPI / IVI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18304" y="3639312"/>
            <a:ext cx="1956816" cy="548640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6" name="Rectangle 55"/>
          <p:cNvSpPr/>
          <p:nvPr/>
        </p:nvSpPr>
        <p:spPr>
          <a:xfrm>
            <a:off x="4718304" y="3639312"/>
            <a:ext cx="41148" cy="548640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818888" y="3703320"/>
            <a:ext cx="17647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开关与路径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818888" y="3877056"/>
            <a:ext cx="17647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通路互斥 · 资源仲裁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1563624" y="4187952"/>
            <a:ext cx="0" cy="128016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3666744" y="4187952"/>
            <a:ext cx="0" cy="128016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5696712" y="4187952"/>
            <a:ext cx="0" cy="128016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1563624" y="4315968"/>
            <a:ext cx="4133088" cy="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563624" y="4315968"/>
            <a:ext cx="0" cy="128016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3666744" y="4315968"/>
            <a:ext cx="0" cy="128016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5696712" y="4315968"/>
            <a:ext cx="0" cy="128016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512064" y="4462272"/>
            <a:ext cx="2103120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7" name="Rectangle 66"/>
          <p:cNvSpPr/>
          <p:nvPr/>
        </p:nvSpPr>
        <p:spPr>
          <a:xfrm>
            <a:off x="512064" y="4462272"/>
            <a:ext cx="41148" cy="658368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8" name="Picture 67" descr="node_chass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4619659"/>
            <a:ext cx="566928" cy="343592"/>
          </a:xfrm>
          <a:prstGeom prst="rect">
            <a:avLst/>
          </a:prstGeom>
        </p:spPr>
      </p:pic>
      <p:sp>
        <p:nvSpPr>
          <p:cNvPr id="69" name="Rectangle 68"/>
          <p:cNvSpPr/>
          <p:nvPr/>
        </p:nvSpPr>
        <p:spPr>
          <a:xfrm>
            <a:off x="621792" y="4619659"/>
            <a:ext cx="566928" cy="343592"/>
          </a:xfrm>
          <a:prstGeom prst="rect">
            <a:avLst/>
          </a:prstGeom>
          <a:noFill/>
          <a:ln w="7620">
            <a:solidFill>
              <a:srgbClr val="BFBBB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0" name="TextBox 69"/>
          <p:cNvSpPr txBox="1"/>
          <p:nvPr/>
        </p:nvSpPr>
        <p:spPr>
          <a:xfrm>
            <a:off x="1271016" y="4526280"/>
            <a:ext cx="1252727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模块化机箱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271016" y="4700016"/>
            <a:ext cx="1252727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数字 / 模拟 / 射频模块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98064" y="4462272"/>
            <a:ext cx="1737360" cy="658368"/>
          </a:xfrm>
          <a:prstGeom prst="rect">
            <a:avLst/>
          </a:prstGeom>
          <a:solidFill>
            <a:srgbClr val="F1F3F6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Rectangle 72"/>
          <p:cNvSpPr/>
          <p:nvPr/>
        </p:nvSpPr>
        <p:spPr>
          <a:xfrm>
            <a:off x="2798064" y="4462272"/>
            <a:ext cx="41148" cy="658368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898648" y="4526280"/>
            <a:ext cx="15453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开关与矩阵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98648" y="4700016"/>
            <a:ext cx="1545336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通道扩展</a:t>
            </a:r>
          </a:p>
          <a:p>
            <a:pPr algn="l">
              <a:lnSpc>
                <a:spcPct val="110000"/>
              </a:lnSpc>
            </a:pPr>
            <a:r>
              <a:rPr sz="59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路径映射</a:t>
            </a:r>
          </a:p>
        </p:txBody>
      </p:sp>
      <p:sp>
        <p:nvSpPr>
          <p:cNvPr id="76" name="Rectangle 75"/>
          <p:cNvSpPr/>
          <p:nvPr/>
        </p:nvSpPr>
        <p:spPr>
          <a:xfrm>
            <a:off x="4718304" y="4462272"/>
            <a:ext cx="1956816" cy="658368"/>
          </a:xfrm>
          <a:prstGeom prst="rect">
            <a:avLst/>
          </a:prstGeom>
          <a:solidFill>
            <a:srgbClr val="FFFFFF"/>
          </a:solidFill>
          <a:ln w="11430">
            <a:solidFill>
              <a:srgbClr val="1F3F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4718304" y="4462272"/>
            <a:ext cx="41148" cy="658368"/>
          </a:xfrm>
          <a:prstGeom prst="rect">
            <a:avLst/>
          </a:prstGeom>
          <a:solidFill>
            <a:srgbClr val="1F3F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818888" y="4526280"/>
            <a:ext cx="1764792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外挂仪器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18888" y="4700016"/>
            <a:ext cx="1764792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LXI / GPIB / USB</a:t>
            </a:r>
          </a:p>
          <a:p>
            <a:pPr algn="l">
              <a:lnSpc>
                <a:spcPct val="110000"/>
              </a:lnSpc>
            </a:pPr>
            <a:r>
              <a:rPr sz="59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统一会话访问</a:t>
            </a:r>
          </a:p>
        </p:txBody>
      </p:sp>
      <p:cxnSp>
        <p:nvCxnSpPr>
          <p:cNvPr id="80" name="Connector 79"/>
          <p:cNvCxnSpPr/>
          <p:nvPr/>
        </p:nvCxnSpPr>
        <p:spPr>
          <a:xfrm>
            <a:off x="1563624" y="5120640"/>
            <a:ext cx="0" cy="9144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3666744" y="5120640"/>
            <a:ext cx="0" cy="9144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5696712" y="5120640"/>
            <a:ext cx="0" cy="9144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1563624" y="5212080"/>
            <a:ext cx="4133088" cy="0"/>
          </a:xfrm>
          <a:prstGeom prst="line">
            <a:avLst/>
          </a:prstGeom>
          <a:ln w="12700">
            <a:solidFill>
              <a:srgbClr val="7A76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2066543" y="5212080"/>
            <a:ext cx="0" cy="109728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257800" y="5212080"/>
            <a:ext cx="0" cy="109728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2157984" y="5216652"/>
            <a:ext cx="1737360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40" b="0">
                <a:solidFill>
                  <a:srgbClr val="86827A"/>
                </a:solidFill>
                <a:latin typeface="微软雅黑"/>
                <a:ea typeface="微软雅黑"/>
                <a:cs typeface="微软雅黑"/>
              </a:rPr>
              <a:t>信号电缆 / 背板触发总线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12064" y="5340096"/>
            <a:ext cx="3108960" cy="420624"/>
          </a:xfrm>
          <a:prstGeom prst="rect">
            <a:avLst/>
          </a:prstGeom>
          <a:solidFill>
            <a:srgbClr val="F1F3F6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8" name="Rectangle 87"/>
          <p:cNvSpPr/>
          <p:nvPr/>
        </p:nvSpPr>
        <p:spPr>
          <a:xfrm>
            <a:off x="512064" y="5340096"/>
            <a:ext cx="41148" cy="42062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12648" y="5404104"/>
            <a:ext cx="291693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夹具与针床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12648" y="5577840"/>
            <a:ext cx="291693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机械定位 · 信号引出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840480" y="5340096"/>
            <a:ext cx="2834640" cy="420624"/>
          </a:xfrm>
          <a:prstGeom prst="rect">
            <a:avLst/>
          </a:prstGeom>
          <a:solidFill>
            <a:srgbClr val="FFFFFF"/>
          </a:solidFill>
          <a:ln w="11430">
            <a:solidFill>
              <a:srgbClr val="8B1A1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2" name="Rectangle 91"/>
          <p:cNvSpPr/>
          <p:nvPr/>
        </p:nvSpPr>
        <p:spPr>
          <a:xfrm>
            <a:off x="3840480" y="5340096"/>
            <a:ext cx="41148" cy="420624"/>
          </a:xfrm>
          <a:prstGeom prst="rect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941064" y="5404104"/>
            <a:ext cx="2642616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2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被测件工位 DUT × 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941064" y="5577840"/>
            <a:ext cx="264261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590" b="0">
                <a:solidFill>
                  <a:srgbClr val="6E6C68"/>
                </a:solidFill>
                <a:latin typeface="微软雅黑"/>
                <a:ea typeface="微软雅黑"/>
                <a:cs typeface="微软雅黑"/>
              </a:rPr>
              <a:t>并行执行 · 上下料</a:t>
            </a:r>
          </a:p>
        </p:txBody>
      </p:sp>
      <p:cxnSp>
        <p:nvCxnSpPr>
          <p:cNvPr id="95" name="Connector 94"/>
          <p:cNvCxnSpPr/>
          <p:nvPr/>
        </p:nvCxnSpPr>
        <p:spPr>
          <a:xfrm>
            <a:off x="3621024" y="5550408"/>
            <a:ext cx="219456" cy="0"/>
          </a:xfrm>
          <a:prstGeom prst="line">
            <a:avLst/>
          </a:prstGeom>
          <a:ln w="12700">
            <a:solidFill>
              <a:srgbClr val="7A766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TextBox 95"/>
          <p:cNvSpPr txBox="1"/>
          <p:nvPr/>
        </p:nvSpPr>
        <p:spPr>
          <a:xfrm>
            <a:off x="3566160" y="5376672"/>
            <a:ext cx="310896" cy="1188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40" b="0">
                <a:solidFill>
                  <a:srgbClr val="86827A"/>
                </a:solidFill>
                <a:latin typeface="微软雅黑"/>
                <a:ea typeface="微软雅黑"/>
                <a:cs typeface="微软雅黑"/>
              </a:rPr>
              <a:t>接触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6876288" y="1316736"/>
            <a:ext cx="479145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三大组件及其在拓扑中的位置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876288" y="1508760"/>
            <a:ext cx="4791456" cy="10972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6876288" y="1554480"/>
            <a:ext cx="192024" cy="192024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4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132320" y="1536192"/>
            <a:ext cx="1417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TestStand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132320" y="1709928"/>
            <a:ext cx="14813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控制层 · Host 节点内部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650224" y="1536192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组织测试流程、调度步骤、汇总与归档结果，是站点的执行中枢。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876288" y="1975104"/>
            <a:ext cx="4791456" cy="7315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6876288" y="2048256"/>
            <a:ext cx="192024" cy="192024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4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132320" y="2029968"/>
            <a:ext cx="1417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LabVIEW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7132320" y="2203704"/>
            <a:ext cx="14813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测量层 · 测量程序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8650224" y="2029968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编写具体测量逻辑，经仪器驱动完成激励施加、信号采集与数据换算。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6876288" y="2468880"/>
            <a:ext cx="4791456" cy="7315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6876288" y="2542032"/>
            <a:ext cx="192024" cy="192024"/>
          </a:xfrm>
          <a:prstGeom prst="ellipse">
            <a:avLst/>
          </a:prstGeom>
          <a:solidFill>
            <a:srgbClr val="8B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64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132320" y="2523744"/>
            <a:ext cx="1417320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7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TSM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132320" y="2697480"/>
            <a:ext cx="1481328" cy="1645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590" b="0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控制层 · 执行引擎之上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650224" y="2523744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为半导体测试提供工位与引脚映射、多工位复用与分档输出。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876288" y="2962656"/>
            <a:ext cx="4791456" cy="7315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876288" y="3054096"/>
            <a:ext cx="479145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仪器虚拟化方面的做法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876288" y="3246120"/>
            <a:ext cx="4791456" cy="10972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876288" y="3264408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理念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315200" y="3255264"/>
            <a:ext cx="43525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以软件定义仪器功能与前面板，虚拟仪器概念自 1986 年 LabVIEW 发布起沿用。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876288" y="3593591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硬件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315200" y="3584448"/>
            <a:ext cx="43525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PXI 模块按测量类型组合，换模块即改变仪器构成；FPGA 模块可将部分测量逻辑下放。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876288" y="3922776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抽象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315200" y="3913632"/>
            <a:ext cx="43525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NI-VISA 与 IVI 驱动将不同总线的仪器抽象为统一会话，更换总线不改上层调用。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6876288" y="4251960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面板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315200" y="4242816"/>
            <a:ext cx="43525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InstrumentStudio 以台式仪器面板呈现模块化仪器，调试期可直接操作通道与量程。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6876288" y="4581144"/>
            <a:ext cx="42062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20" b="1">
                <a:solidFill>
                  <a:srgbClr val="1F3F66"/>
                </a:solidFill>
                <a:latin typeface="微软雅黑"/>
                <a:ea typeface="微软雅黑"/>
                <a:cs typeface="微软雅黑"/>
              </a:rPr>
              <a:t>仿真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7315200" y="4572000"/>
            <a:ext cx="43525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</a:pPr>
            <a:r>
              <a:rPr sz="68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NI MAX 可创建仿真设备，无实物硬件亦可开发与验证测试流程。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876288" y="4956048"/>
            <a:ext cx="4791456" cy="1554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适用场景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6876288" y="5148072"/>
            <a:ext cx="4791456" cy="10972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6876288" y="5175504"/>
            <a:ext cx="39684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多品种、中小批量、引脚数中等以上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972800" y="5175504"/>
            <a:ext cx="6949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适用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6876288" y="5367528"/>
            <a:ext cx="39684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机箱内 4 至 16 工位并行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972800" y="5367528"/>
            <a:ext cx="6949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660" b="1">
                <a:solidFill>
                  <a:srgbClr val="1A1A1A"/>
                </a:solidFill>
                <a:latin typeface="微软雅黑"/>
                <a:ea typeface="微软雅黑"/>
                <a:cs typeface="微软雅黑"/>
              </a:rPr>
              <a:t>适用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6876288" y="5559552"/>
            <a:ext cx="3968496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60" b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成本敏感的单品种大批量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972800" y="5559552"/>
            <a:ext cx="694944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66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受限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512064" y="5888736"/>
            <a:ext cx="11155680" cy="9144"/>
          </a:xfrm>
          <a:prstGeom prst="rect">
            <a:avLst/>
          </a:prstGeom>
          <a:solidFill>
            <a:srgbClr val="BFBBB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512064" y="5943600"/>
            <a:ext cx="4754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800" b="1">
                <a:solidFill>
                  <a:srgbClr val="8B1A1A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24128" y="5943600"/>
            <a:ext cx="1060704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760" b="0">
                <a:solidFill>
                  <a:srgbClr val="252525"/>
                </a:solidFill>
                <a:latin typeface="微软雅黑"/>
                <a:ea typeface="微软雅黑"/>
                <a:cs typeface="微软雅黑"/>
              </a:rPr>
              <a:t>组件分工清晰：执行（TestStand）、测量（LabVIEW）、工位扩展（TSM）各归其位；仪器虚拟化使其在硬件不变的前提下通过软件调整测量能力，适配中等规模、品种较多的量产线；成本敏感的单品种大批量场景相对受限。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12064" y="6483096"/>
            <a:ext cx="105156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</a:pPr>
            <a:r>
              <a:rPr sz="64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资料来源：NI 公开产品资料与公司信息；节点划分、组件落点与适用性判断为本文归纳。节点内配图为 ni.com 机箱与仪器配置界面。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247120" y="6528816"/>
            <a:ext cx="457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4000"/>
              </a:lnSpc>
            </a:pPr>
            <a:r>
              <a:rPr sz="800" b="0">
                <a:solidFill>
                  <a:srgbClr val="93918C"/>
                </a:solidFill>
                <a:latin typeface="微软雅黑"/>
                <a:ea typeface="微软雅黑"/>
                <a:cs typeface="微软雅黑"/>
              </a:rPr>
              <a:t>1 /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