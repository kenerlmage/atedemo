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146304"/>
            <a:ext cx="6949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0" y="246888"/>
            <a:ext cx="39867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19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NI：产品与特性 · 拓扑与核心思想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530352"/>
            <a:ext cx="11155680" cy="621792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12064" y="530352"/>
            <a:ext cx="41148" cy="6217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12648"/>
            <a:ext cx="108813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69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美国国家仪器（NI）1976 年成立于美国得克萨斯州奥斯汀，2023 年并入 Emerson 作为其测试与测量业务运营；以</a:t>
            </a:r>
            <a:r>
              <a:rPr sz="69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测量与控制软件平台</a:t>
            </a:r>
            <a:r>
              <a:rPr sz="69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为核心，配合</a:t>
            </a:r>
            <a:r>
              <a:rPr sz="69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模块化硬件</a:t>
            </a:r>
            <a:r>
              <a:rPr sz="69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，服务</a:t>
            </a:r>
            <a:r>
              <a:rPr sz="69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半导体</a:t>
            </a:r>
            <a:r>
              <a:rPr sz="69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、汽车、航空航天与国防、能源及院校科研的验证与生产测试；1986 年发布 LabVIEW，由此确立</a:t>
            </a:r>
            <a:r>
              <a:rPr sz="69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虚拟仪器</a:t>
            </a:r>
            <a:r>
              <a:rPr sz="69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243584"/>
            <a:ext cx="2834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产品与产品特性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458468"/>
            <a:ext cx="2834640" cy="10972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1517904"/>
            <a:ext cx="6016752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520440" y="1525219"/>
            <a:ext cx="7315" cy="2527401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19379" y="2365552"/>
            <a:ext cx="6002121" cy="7315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19379" y="3212287"/>
            <a:ext cx="6002121" cy="7315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1618488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787651"/>
            <a:ext cx="2743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测试执行与管理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43100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序列化组织测试步骤，支持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并行与多工位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执行；结果入库与报表生成；可调用 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LabVIEW / C / Python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 模块。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1618488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1787651"/>
            <a:ext cx="2743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图形化开发环境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1943100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数据流图形编程；具备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仪器连接与驱动调用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能力；内建界面控件；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测试库与工具包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缩短开发调试周期。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466136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635300"/>
            <a:ext cx="2743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半导体测试扩展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790748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TestStand 之上增加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工位与引脚映射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、多工位并行；对接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探针台 / 分选机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，结果以 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STDF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 输出。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456" y="2466136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PXI 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2635300"/>
            <a:ext cx="2743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模块化硬件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8456" y="2790748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机箱 + 控制器 + 模块组合成测量系统；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背板触发与时钟同步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换模块即换仪器构成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12871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NI-VISA / IVI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482035"/>
            <a:ext cx="2743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仪器抽象层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37483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统一会话访问 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GPIB / LXI / USB / PXI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 仪器；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类驱动实现同类仪器互换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，上层调用不随硬件变更。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456" y="3312871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InstrumentStudio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8456" y="3482035"/>
            <a:ext cx="2743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仪器软面板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8456" y="3637483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以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台式仪器面板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操作模块化仪器；面板</a:t>
            </a:r>
            <a:r>
              <a:rPr sz="6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可保存可复用</a:t>
            </a: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，便于调试与人工验证。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3136" y="1243584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产品拓扑：半导体产线联动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03136" y="1458468"/>
            <a:ext cx="2468880" cy="10972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63456" y="1271016"/>
            <a:ext cx="230428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5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图为 NI 公开产品图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03136" y="1517904"/>
            <a:ext cx="2395728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803136" y="1517904"/>
            <a:ext cx="36576" cy="43891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n2_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1566671"/>
            <a:ext cx="512064" cy="34137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43216" y="1586484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3216" y="1751076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执行与工位调度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1517904"/>
            <a:ext cx="2322576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326880" y="1517904"/>
            <a:ext cx="36576" cy="43891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n2_ts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1566671"/>
            <a:ext cx="512064" cy="3413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966960" y="1586484"/>
            <a:ext cx="16093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1751076"/>
            <a:ext cx="16093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引脚映射 · 多工位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98864" y="1737360"/>
            <a:ext cx="128016" cy="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803136" y="2048256"/>
            <a:ext cx="2395728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803136" y="2048256"/>
            <a:ext cx="36576" cy="43891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n2_lv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2097024"/>
            <a:ext cx="512064" cy="34137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443216" y="2116836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43216" y="2281428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测量程序 · 面板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2048256"/>
            <a:ext cx="2322576" cy="438912"/>
          </a:xfrm>
          <a:prstGeom prst="rect">
            <a:avLst/>
          </a:prstGeom>
          <a:solidFill>
            <a:srgbClr val="F1F3F6"/>
          </a:solidFill>
          <a:ln w="8890">
            <a:solidFill>
              <a:srgbClr val="ADA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9326880" y="2048256"/>
            <a:ext cx="36576" cy="43891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36608" y="2116836"/>
            <a:ext cx="21396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MES / STDF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36608" y="2281428"/>
            <a:ext cx="21396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结果入库与产线回流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001000" y="1956815"/>
            <a:ext cx="0" cy="91441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001000" y="1956815"/>
            <a:ext cx="0" cy="41149"/>
          </a:xfrm>
          <a:prstGeom prst="line">
            <a:avLst/>
          </a:prstGeom>
          <a:ln w="12700">
            <a:solidFill>
              <a:srgbClr val="6E6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001000" y="1997964"/>
            <a:ext cx="2487168" cy="0"/>
          </a:xfrm>
          <a:prstGeom prst="line">
            <a:avLst/>
          </a:prstGeom>
          <a:ln w="12700">
            <a:solidFill>
              <a:srgbClr val="6E6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488168" y="1997964"/>
            <a:ext cx="0" cy="50292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6803136" y="2578608"/>
            <a:ext cx="4864608" cy="402336"/>
          </a:xfrm>
          <a:prstGeom prst="rect">
            <a:avLst/>
          </a:prstGeom>
          <a:solidFill>
            <a:srgbClr val="F1F3F6"/>
          </a:solidFill>
          <a:ln w="8890">
            <a:solidFill>
              <a:srgbClr val="ADA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803136" y="2578608"/>
            <a:ext cx="36576" cy="40233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12864" y="2578608"/>
            <a:ext cx="46817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NI-VISA / IVI：统一会话与类驱动，屏蔽 GPIB / LXI / USB / PXI 差异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001000" y="2487168"/>
            <a:ext cx="0" cy="9144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6803136" y="3108960"/>
            <a:ext cx="2395728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6803136" y="3108960"/>
            <a:ext cx="36576" cy="43891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n2_px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3157728"/>
            <a:ext cx="512064" cy="34137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443216" y="3177540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PXI 机箱与模块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43216" y="3342132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背板触发 · 时钟同步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26880" y="3108960"/>
            <a:ext cx="2322576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9326880" y="3108960"/>
            <a:ext cx="36576" cy="43891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n2_studi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3157728"/>
            <a:ext cx="512064" cy="341376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966960" y="3177540"/>
            <a:ext cx="16093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InstrumentStudio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66960" y="3342132"/>
            <a:ext cx="16093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软面板调试与验证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001000" y="2980944"/>
            <a:ext cx="0" cy="128016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001000" y="2980944"/>
            <a:ext cx="0" cy="77724"/>
          </a:xfrm>
          <a:prstGeom prst="line">
            <a:avLst/>
          </a:prstGeom>
          <a:ln w="12700">
            <a:solidFill>
              <a:srgbClr val="6E6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001000" y="3058668"/>
            <a:ext cx="2487168" cy="0"/>
          </a:xfrm>
          <a:prstGeom prst="line">
            <a:avLst/>
          </a:prstGeom>
          <a:ln w="12700">
            <a:solidFill>
              <a:srgbClr val="6E6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488168" y="3058668"/>
            <a:ext cx="0" cy="50292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803136" y="3621024"/>
            <a:ext cx="3017520" cy="438912"/>
          </a:xfrm>
          <a:prstGeom prst="rect">
            <a:avLst/>
          </a:prstGeom>
          <a:solidFill>
            <a:srgbClr val="F1F3F6"/>
          </a:solidFill>
          <a:ln w="8890">
            <a:solidFill>
              <a:srgbClr val="ADA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6803136" y="3621024"/>
            <a:ext cx="36576" cy="43891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12864" y="3689604"/>
            <a:ext cx="2834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半导体测试台：探针台 / 分选机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12864" y="3854196"/>
            <a:ext cx="2834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与 TSM 交换工位与分选信号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30384" y="3621024"/>
            <a:ext cx="1737360" cy="438912"/>
          </a:xfrm>
          <a:prstGeom prst="rect">
            <a:avLst/>
          </a:prstGeom>
          <a:solidFill>
            <a:srgbClr val="F1F3F6"/>
          </a:solidFill>
          <a:ln w="8890">
            <a:solidFill>
              <a:srgbClr val="ADA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9930384" y="3621024"/>
            <a:ext cx="36576" cy="43891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040111" y="3621024"/>
            <a:ext cx="15544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DUT：晶圆 / 芯片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8001000" y="3547872"/>
            <a:ext cx="0" cy="73152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820656" y="3840480"/>
            <a:ext cx="109728" cy="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12064" y="4169663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核心思想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2064" y="4384548"/>
            <a:ext cx="1920240" cy="10972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12064" y="4425696"/>
            <a:ext cx="2697480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512064" y="4425696"/>
            <a:ext cx="36576" cy="113385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0080" y="448970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080" y="4718304"/>
            <a:ext cx="24414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分布式拓扑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4928616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1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控制、测量与数据服务分布在多台设备上，经工业以太网与总线按接口协作；工位可增减，单点故障影响面受限，扩容以增加节点实现。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31159" y="4425696"/>
            <a:ext cx="2697480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3331159" y="4425696"/>
            <a:ext cx="36576" cy="113385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59175" y="448970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59175" y="4718304"/>
            <a:ext cx="24414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模块化与复用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59175" y="4928616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1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机箱、模块与背板同步构成复用基础；多种测量需求以模块组合覆盖，而非逐项定制整机。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50254" y="4425696"/>
            <a:ext cx="2697480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6150254" y="4425696"/>
            <a:ext cx="36576" cy="113385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78270" y="448970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78270" y="4718304"/>
            <a:ext cx="24414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开放标准与生态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78270" y="4928616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1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PXI、VISA / IVI、STDF 等公开标准，使第三方模块、探针台与分选机均可接入，不被单一供应商锁定。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69349" y="4425696"/>
            <a:ext cx="2697480" cy="1133856"/>
          </a:xfrm>
          <a:prstGeom prst="rect">
            <a:avLst/>
          </a:prstGeom>
          <a:solidFill>
            <a:srgbClr val="FFFFFF"/>
          </a:solidFill>
          <a:ln w="1143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8969349" y="4425696"/>
            <a:ext cx="36576" cy="113385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97365" y="448970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97365" y="4718304"/>
            <a:ext cx="24414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描述与执行分离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97365" y="4928616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1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测试用</a:t>
            </a:r>
            <a:r>
              <a:rPr sz="61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脚本（DSL）</a:t>
            </a:r>
            <a:r>
              <a:rPr sz="61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声明意图——施加、测量、判定与流程，不写仪器细节；由执行引擎映射到通道，</a:t>
            </a:r>
            <a:r>
              <a:rPr sz="61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换硬件不改脚本</a:t>
            </a:r>
            <a:r>
              <a:rPr sz="61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，仿真与实机共用同一套描述。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12064" y="5888736"/>
            <a:ext cx="11155680" cy="10972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2064" y="5943600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4128" y="5934456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2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半导体场景下分工明确：</a:t>
            </a:r>
            <a:r>
              <a:rPr sz="7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TestStand 编排工位与流程</a:t>
            </a:r>
            <a:r>
              <a:rPr sz="72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7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TSM 承担引脚映射与多工位并行</a:t>
            </a:r>
            <a:r>
              <a:rPr sz="72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7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驱动层对接探针台与分选机</a:t>
            </a:r>
            <a:r>
              <a:rPr sz="72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、结果以 </a:t>
            </a:r>
            <a:r>
              <a:rPr sz="7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STDF 回流 MES</a:t>
            </a:r>
            <a:r>
              <a:rPr sz="72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；对应本方案，即 </a:t>
            </a:r>
            <a:r>
              <a:rPr sz="7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DSL 描述与执行引擎分离</a:t>
            </a:r>
            <a:r>
              <a:rPr sz="72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、仪器访问抽象、仿真与实机共用同一描述。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2064" y="6492240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公开公司与产品资料（TestStand、LabVIEW、TestStand Semiconductor Module、PXI、NI-VISA、InstrumentStudio）；产品特性为公开资料归纳，拓扑与核心思想为本文判断。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247120" y="653796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