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业界方案洞察：两种思路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19456"/>
            <a:ext cx="32552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NI 平台化 · 南方公司 中心化下发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93776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16752" y="603504"/>
            <a:ext cx="7315" cy="5504688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2064" y="585216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　美国国家仪器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9584" y="612648"/>
            <a:ext cx="22311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6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平台化路线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822960"/>
            <a:ext cx="5248656" cy="54864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12064" y="822960"/>
            <a:ext cx="41148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891540"/>
            <a:ext cx="49743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1976 年成立于奥斯汀，2023 年并入 Emerson；以</a:t>
            </a:r>
            <a:r>
              <a:rPr sz="65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软件平台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为核心、</a:t>
            </a:r>
            <a:r>
              <a:rPr sz="65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模块化硬件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为承载，服务半导体、汽车、航空航天与院校科研；1986 年发布 LabVIEW，确立</a:t>
            </a:r>
            <a:r>
              <a:rPr sz="65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虚拟仪器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路线。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44752"/>
            <a:ext cx="5248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产品与产品特性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1618488"/>
            <a:ext cx="5248656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166420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2648" y="1732788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888236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序列编排、</a:t>
            </a: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并行与多工位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、结果入库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66420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00984" y="1732788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984" y="1888236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图形化开发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；仪器连接与驱动调用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235915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2648" y="2427732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2583180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工位与引脚映射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；对接探针台、</a:t>
            </a: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STDF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5915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00984" y="2427732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984" y="2583180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机箱加模块，</a:t>
            </a: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背板同步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，换模块换仪器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305409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2648" y="3122676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/ IVI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3278124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统一会话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GPIB/LXI/PXI，</a:t>
            </a: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类驱动互换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05409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300984" y="3122676"/>
            <a:ext cx="239572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0984" y="3278124"/>
            <a:ext cx="23957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台式面板</a:t>
            </a: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操作模块，面板可复用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3785615"/>
            <a:ext cx="5248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核心思想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" y="3959352"/>
            <a:ext cx="5248656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4023360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4023360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分布式拓扑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192524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设备分散，按接口协作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023360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4023360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4192524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组合覆盖品类需求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425696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425696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开放标准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4594860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PXI、VISA/IVI、STDF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425696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4425696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描述与执行分离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6432" y="4594860"/>
            <a:ext cx="2304287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脚本（DSL）声明意图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4" y="585216"/>
            <a:ext cx="2962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南方公司（华为）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612648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6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中心化下发路线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4" y="822960"/>
            <a:ext cx="5394960" cy="54864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272784" y="822960"/>
            <a:ext cx="41148" cy="548640"/>
          </a:xfrm>
          <a:prstGeom prst="rect">
            <a:avLst/>
          </a:prstGeom>
          <a:solidFill>
            <a:srgbClr val="0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088" y="891540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面向</a:t>
            </a:r>
            <a:r>
              <a:rPr sz="65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终端设备制造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65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通信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领域；测试软件集中在中心侧维护，按工位与槽位实时下发，以</a:t>
            </a:r>
            <a:r>
              <a:rPr sz="65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统一基线</a:t>
            </a:r>
            <a:r>
              <a:rPr sz="65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保证多地产线运行同一版本，测试动作以脚本编排。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1444752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方案要点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72784" y="1618488"/>
            <a:ext cx="539496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2784" y="1664208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1664208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DSL 驱动设备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1833372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以脚本描述测试动作，执行端解释并驱动仪器与柜体设备。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2784" y="2073859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2073859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中心化部署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243023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测试软件集中于中心，版本统一维护，不散落在各工位。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2784" y="2483510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2483510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实时下发机柜—框—槽位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2652674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按工位与槽位粒度推送软件与配置，改版即下发。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2784" y="2893161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2893161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脚本高度复用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062325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同一脚本跨机型、跨工位复用，减少重复编写。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72784" y="3302812"/>
            <a:ext cx="2194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3302812"/>
            <a:ext cx="5029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动作抽象与编排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3471976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多数测试动作抽象为原语，按流程自由编排组合。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72784" y="3785615"/>
            <a:ext cx="5394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公司特性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72784" y="3959352"/>
            <a:ext cx="539496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72784" y="4023360"/>
            <a:ext cx="2578608" cy="713232"/>
          </a:xfrm>
          <a:prstGeom prst="rect">
            <a:avLst/>
          </a:prstGeom>
          <a:solidFill>
            <a:srgbClr val="F1F3F6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6272784" y="4023360"/>
            <a:ext cx="36576" cy="713232"/>
          </a:xfrm>
          <a:prstGeom prst="rect">
            <a:avLst/>
          </a:prstGeom>
          <a:solidFill>
            <a:srgbClr val="0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82512" y="4087368"/>
            <a:ext cx="2377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软件基线程度高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82512" y="4261104"/>
            <a:ext cx="2377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测试程序以基线版本统一管理，各工位运行同一基线，版本可追溯。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79408" y="4023360"/>
            <a:ext cx="2578608" cy="713232"/>
          </a:xfrm>
          <a:prstGeom prst="rect">
            <a:avLst/>
          </a:prstGeom>
          <a:solidFill>
            <a:srgbClr val="F1F3F6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8979408" y="4023360"/>
            <a:ext cx="36576" cy="713232"/>
          </a:xfrm>
          <a:prstGeom prst="rect">
            <a:avLst/>
          </a:prstGeom>
          <a:solidFill>
            <a:srgbClr val="0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89136" y="4087368"/>
            <a:ext cx="2377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执行自动化水平高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89136" y="4261104"/>
            <a:ext cx="2377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从下发、执行到结果回收由系统完成，人工介入少、节拍稳定。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2064" y="5175504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两种思路对照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2064" y="5358384"/>
            <a:ext cx="1115568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2064" y="5431536"/>
            <a:ext cx="11155680" cy="201168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03504" y="5463540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0" y="5463540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NI：平台化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55664" y="5463540"/>
            <a:ext cx="5120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南方公司：中心化下发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" y="5664708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部署形态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28800" y="5664708"/>
            <a:ext cx="44439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分散：Host、机箱、仪器与测试台经网络协作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55664" y="5664708"/>
            <a:ext cx="5120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集中：软件在中心，按槽位下发到机柜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2064" y="5829300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3504" y="5865876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测试描述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0" y="5865876"/>
            <a:ext cx="44439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图形化程序与序列编排，驱动适配仪器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55664" y="5865876"/>
            <a:ext cx="5120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DSL 脚本声明动作，动作抽象为原语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2064" y="6030468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3504" y="6067044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复用方式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28800" y="6067044"/>
            <a:ext cx="44439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模块组合复用硬件，标准接口换生态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55664" y="6067044"/>
            <a:ext cx="51206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脚本与基线复用，中心改版整体下发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2064" y="6231636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2064" y="6291072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判断：差别不在工具，而在重心——NI 把能力放在可组合的硬件与开放接口上，适配多品种小批量；南方公司把能力放在可下发的软件基线与脚本复用上，适配机型集中、版本一致性要求高的产线。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064" y="6528816"/>
            <a:ext cx="1005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部分引自公开产品资料；南方公司部分为访谈与内部归纳，未引用其产品名称；路线判断为本文观点。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0" y="654710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