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146304"/>
            <a:ext cx="7223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9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装备助手（一）：概念、货架与设计预期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7264" y="219456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0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首个实例：显微镜相机下的 AI 标记检测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93776"/>
            <a:ext cx="11155680" cy="12801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7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585216"/>
            <a:ext cx="11155680" cy="8412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12064" y="585216"/>
            <a:ext cx="41148" cy="84124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667512"/>
            <a:ext cx="108813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66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装备助手是依附于测试装备运行的轻量应用，以独立安装包分发，在设备侧完成单一而明确的增强功能；</a:t>
            </a:r>
            <a:r>
              <a:rPr sz="66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不进入 TPS 主流程，不改动测试基线</a:t>
            </a:r>
            <a:r>
              <a:rPr sz="66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。首个实例为显微镜相机下的标记检测：相机采集图像，</a:t>
            </a:r>
            <a:r>
              <a:rPr sz="66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AI 识别标记的位置与状态</a:t>
            </a:r>
            <a:r>
              <a:rPr sz="66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，输出判定与偏差量，供操作者复核或供后续工序引用；其目标是在</a:t>
            </a:r>
            <a:r>
              <a:rPr sz="66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实际生产中先行提效</a:t>
            </a:r>
            <a:r>
              <a:rPr sz="660" b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，以运行数据验证识别能力，再评估是否并入 TPS。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17904"/>
            <a:ext cx="5577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与 TPS 的边界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1723644"/>
            <a:ext cx="557784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1755648"/>
            <a:ext cx="5577840" cy="219456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1796795"/>
            <a:ext cx="8961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796795"/>
            <a:ext cx="23591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装备助手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796795"/>
            <a:ext cx="1993391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TPS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034540"/>
            <a:ext cx="89611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034540"/>
            <a:ext cx="235915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设备侧独立进程，随工位启动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034540"/>
            <a:ext cx="1993391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由测试执行引擎调度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2249424"/>
            <a:ext cx="5577840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" y="2249424"/>
            <a:ext cx="5577840" cy="27432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4360" y="2308860"/>
            <a:ext cx="89611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版本变更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308860"/>
            <a:ext cx="235915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独立版本，自主下载与发布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308860"/>
            <a:ext cx="1993391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随基线发布，需回归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" y="2523744"/>
            <a:ext cx="5577840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583179"/>
            <a:ext cx="89611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失效影响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2583179"/>
            <a:ext cx="235915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不阻断测试流程，可即时停用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2583179"/>
            <a:ext cx="1993391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影响测试结论与判定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" y="2798063"/>
            <a:ext cx="5577840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2871216"/>
            <a:ext cx="5577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为何先做助手而非 TPS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3076956"/>
            <a:ext cx="557784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" y="3108960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3104388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不触碰基线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3108960"/>
            <a:ext cx="40782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1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测试程序与判定逻辑保持不变，装备助手只提供增强信息。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3474720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3470148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迭代可独立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474720"/>
            <a:ext cx="40782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1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算法与界面独立发布，无需触发整线回归与产线停机。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3840480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3835908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风险可回退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3840480"/>
            <a:ext cx="40782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1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异常时停用或卸载即可，不影响工位正常测试。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4206240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4201668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数据可积累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4206240"/>
            <a:ext cx="40782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1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先在生产中累积样本与判定记录，为是否并入 TPS 提供依据。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" y="4663440"/>
            <a:ext cx="5577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设计预期（初版目标，现场基线测定后校准）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" y="4869179"/>
            <a:ext cx="557784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2064" y="4919472"/>
            <a:ext cx="27432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12064" y="4919472"/>
            <a:ext cx="27432" cy="40233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21792" y="4969764"/>
            <a:ext cx="11887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单件检测节拍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5116068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含采图、识别与判定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010912"/>
            <a:ext cx="11704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74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≤ 8 s／件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64992" y="4919472"/>
            <a:ext cx="27432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364992" y="4919472"/>
            <a:ext cx="27432" cy="40233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474720" y="4969764"/>
            <a:ext cx="11887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人工复核率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5116068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仅异常与低置信度进入复核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5010912"/>
            <a:ext cx="11704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74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≤ 10 %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2064" y="5376672"/>
            <a:ext cx="27432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12064" y="5376672"/>
            <a:ext cx="27432" cy="40233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21792" y="5426964"/>
            <a:ext cx="11887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漏检率 / 误检率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" y="5573268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以现场样本统计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93392" y="5468112"/>
            <a:ext cx="11704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74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≤ 0.5 % / ≤ 3 %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64992" y="5376672"/>
            <a:ext cx="27432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364992" y="5376672"/>
            <a:ext cx="27432" cy="40233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474720" y="5426964"/>
            <a:ext cx="11887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单班节省工时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4720" y="5573268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按现有目检方式折算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46320" y="5468112"/>
            <a:ext cx="11704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740" b="1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≈ 2 人·时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1517904"/>
            <a:ext cx="5358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货架设计：条目字段与检索方式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1723644"/>
            <a:ext cx="5358384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09360" y="1755648"/>
            <a:ext cx="5358384" cy="219456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391656" y="1796795"/>
            <a:ext cx="107899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字段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0376" y="1796795"/>
            <a:ext cx="4059935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91656" y="2016252"/>
            <a:ext cx="107899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名称／能力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80376" y="2016252"/>
            <a:ext cx="4059935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标记检测、计数、位置偏差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2212848"/>
            <a:ext cx="5358384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09360" y="2212848"/>
            <a:ext cx="5358384" cy="237744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391656" y="2253996"/>
            <a:ext cx="107899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版本与变更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80376" y="2253996"/>
            <a:ext cx="4059935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语义化版本，附变更说明与发布日期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09360" y="2450591"/>
            <a:ext cx="5358384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91656" y="2491739"/>
            <a:ext cx="107899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适用装备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80376" y="2491739"/>
            <a:ext cx="4059935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装备型号、工位类型、相机型号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60" y="2688335"/>
            <a:ext cx="5358384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09360" y="2688335"/>
            <a:ext cx="5358384" cy="237744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391656" y="2729483"/>
            <a:ext cx="107899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校验与签名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80376" y="2729483"/>
            <a:ext cx="4059935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SHA-256 校验值，安装前强制校验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9360" y="2926079"/>
            <a:ext cx="5358384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91656" y="2967227"/>
            <a:ext cx="107899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发布者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80376" y="2967227"/>
            <a:ext cx="4059935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发布者标识与联系方式，便于追溯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09360" y="3163823"/>
            <a:ext cx="5358384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9360" y="3127248"/>
            <a:ext cx="53583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检索：按装备型号与相机型号筛选，条目内展示版本历史与能力说明。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9360" y="3401568"/>
            <a:ext cx="5358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下载方式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09360" y="3607308"/>
            <a:ext cx="5358384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09360" y="3639312"/>
            <a:ext cx="932688" cy="365760"/>
          </a:xfrm>
          <a:prstGeom prst="rect">
            <a:avLst/>
          </a:prstGeom>
          <a:solidFill>
            <a:srgbClr val="F1F3F6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6309360" y="3730752"/>
            <a:ext cx="932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90" b="1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浏览货架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242048" y="3822191"/>
            <a:ext cx="173735" cy="0"/>
          </a:xfrm>
          <a:prstGeom prst="line">
            <a:avLst/>
          </a:prstGeom>
          <a:ln w="1143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7415783" y="3639312"/>
            <a:ext cx="932688" cy="365760"/>
          </a:xfrm>
          <a:prstGeom prst="rect">
            <a:avLst/>
          </a:prstGeom>
          <a:solidFill>
            <a:srgbClr val="F1F3F6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7415783" y="3730752"/>
            <a:ext cx="932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90" b="1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按装备筛选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8348471" y="3822191"/>
            <a:ext cx="173736" cy="0"/>
          </a:xfrm>
          <a:prstGeom prst="line">
            <a:avLst/>
          </a:prstGeom>
          <a:ln w="1143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8522208" y="3639312"/>
            <a:ext cx="932688" cy="365760"/>
          </a:xfrm>
          <a:prstGeom prst="rect">
            <a:avLst/>
          </a:prstGeom>
          <a:solidFill>
            <a:srgbClr val="F1F3F6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8522208" y="3730752"/>
            <a:ext cx="932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90" b="1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下载安装包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9454896" y="3822191"/>
            <a:ext cx="173736" cy="0"/>
          </a:xfrm>
          <a:prstGeom prst="line">
            <a:avLst/>
          </a:prstGeom>
          <a:ln w="1143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9628632" y="3639312"/>
            <a:ext cx="932688" cy="365760"/>
          </a:xfrm>
          <a:prstGeom prst="rect">
            <a:avLst/>
          </a:prstGeom>
          <a:solidFill>
            <a:srgbClr val="F1F3F6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9628632" y="3730752"/>
            <a:ext cx="932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90" b="1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校验并安装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0561320" y="3822191"/>
            <a:ext cx="173736" cy="0"/>
          </a:xfrm>
          <a:prstGeom prst="line">
            <a:avLst/>
          </a:prstGeom>
          <a:ln w="1143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10735056" y="3639312"/>
            <a:ext cx="932688" cy="365760"/>
          </a:xfrm>
          <a:prstGeom prst="rect">
            <a:avLst/>
          </a:prstGeom>
          <a:solidFill>
            <a:srgbClr val="F1F3F6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0735056" y="3730752"/>
            <a:ext cx="932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90" b="1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生成运行记录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09360" y="4133087"/>
            <a:ext cx="5358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发布与更新：用户自主下载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4338827"/>
            <a:ext cx="5358384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4366260"/>
            <a:ext cx="40233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发布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48272" y="4370832"/>
            <a:ext cx="4901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发布者上传安装包与说明，填写适用装备与校验值，经审核后上架。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09360" y="4732020"/>
            <a:ext cx="40233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下载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748272" y="4736592"/>
            <a:ext cx="4901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用户按需检索并自主下载安装，不依赖推送通道，离线工位可用拷贝安装。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0" y="5097780"/>
            <a:ext cx="40233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更新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748272" y="5102352"/>
            <a:ext cx="4901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助手启动时检查货架版本并提示；由用户确认后执行，保留上一版本可回滚。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09360" y="5463540"/>
            <a:ext cx="40233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3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留痕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748272" y="5468112"/>
            <a:ext cx="4901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0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本地记录版本、校验值与安装时间，供产线版本一致性核查。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146304"/>
            <a:ext cx="7223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9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装备助手（一）：设计方法、构建与组件接口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7264" y="219456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0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PyInstaller 加密构建 · 四组件逻辑视图 · 接口契约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93776"/>
            <a:ext cx="11155680" cy="12801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7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2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85216"/>
            <a:ext cx="11155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构建与发布流程（PyInstaller 加密构建）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790956"/>
            <a:ext cx="1115568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841248"/>
            <a:ext cx="21214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12064" y="841248"/>
            <a:ext cx="2121408" cy="3657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1792" y="923544"/>
            <a:ext cx="19019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① 依赖锁定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106424"/>
            <a:ext cx="19019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锁定 Python、pylon 运行时与算法库版本，形成可复现清单。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1488" y="841248"/>
            <a:ext cx="21214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761488" y="841248"/>
            <a:ext cx="2121408" cy="3657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71216" y="923544"/>
            <a:ext cx="19019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② 打包策略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6" y="1106424"/>
            <a:ext cx="19019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采用 one-folder，保留算法动态库与模型的加载路径。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912" y="841248"/>
            <a:ext cx="21214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010912" y="841248"/>
            <a:ext cx="2121408" cy="3657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20640" y="923544"/>
            <a:ext cx="19019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③ 加密构建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106424"/>
            <a:ext cx="19019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对字节码加密与符号混淆，密钥与产物分离保管。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0336" y="841248"/>
            <a:ext cx="21214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260336" y="841248"/>
            <a:ext cx="2121408" cy="3657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70063" y="923544"/>
            <a:ext cx="19019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④ 完整性校验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3" y="1106424"/>
            <a:ext cx="19019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生成校验值与签名，安装前强制验证，防止被替换。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841248"/>
            <a:ext cx="21214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509760" y="841248"/>
            <a:ext cx="2121408" cy="3657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19488" y="923544"/>
            <a:ext cx="19019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⑤ 上架发布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1106424"/>
            <a:ext cx="19019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7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写入货架条目（版本、适用装备、变更说明）并归档产物。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1773936"/>
            <a:ext cx="11155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逻辑视图：四组件与交互接口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1979676"/>
            <a:ext cx="1115568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2064" y="2048256"/>
            <a:ext cx="2286000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12064" y="2048256"/>
            <a:ext cx="36576" cy="96926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2130552"/>
            <a:ext cx="20482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相机驱动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313432"/>
            <a:ext cx="204825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Basler pylon 8.0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2487168"/>
            <a:ext cx="20482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设备枚举与打开</a:t>
            </a:r>
          </a:p>
          <a:p>
            <a:pPr algn="l">
              <a:lnSpc>
                <a:spcPct val="120000"/>
              </a:lnSpc>
            </a:pPr>
            <a:r>
              <a:rPr sz="5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曝光、增益、触发、ROI</a:t>
            </a:r>
          </a:p>
          <a:p>
            <a:pPr algn="l">
              <a:lnSpc>
                <a:spcPct val="120000"/>
              </a:lnSpc>
            </a:pPr>
            <a:r>
              <a:rPr sz="5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软触发采图与时间戳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2048256"/>
            <a:ext cx="2286000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200400" y="2048256"/>
            <a:ext cx="36576" cy="96926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28416" y="2130552"/>
            <a:ext cx="20482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编排控制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8416" y="2313432"/>
            <a:ext cx="204825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28416" y="2487168"/>
            <a:ext cx="20482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流程编排与超时</a:t>
            </a:r>
          </a:p>
          <a:p>
            <a:pPr algn="l">
              <a:lnSpc>
                <a:spcPct val="120000"/>
              </a:lnSpc>
            </a:pPr>
            <a:r>
              <a:rPr sz="5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配方与参数管理</a:t>
            </a:r>
          </a:p>
          <a:p>
            <a:pPr algn="l">
              <a:lnSpc>
                <a:spcPct val="120000"/>
              </a:lnSpc>
            </a:pPr>
            <a:r>
              <a:rPr sz="5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结果落库与埋点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88736" y="2048256"/>
            <a:ext cx="2286000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88736" y="2048256"/>
            <a:ext cx="36576" cy="96926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16752" y="2130552"/>
            <a:ext cx="20482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算法服务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16752" y="2313432"/>
            <a:ext cx="204825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机器视觉算法库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16752" y="2487168"/>
            <a:ext cx="20482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预处理与标定校正</a:t>
            </a:r>
          </a:p>
          <a:p>
            <a:pPr algn="l">
              <a:lnSpc>
                <a:spcPct val="120000"/>
              </a:lnSpc>
            </a:pPr>
            <a:r>
              <a:rPr sz="5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标记定位与状态判定</a:t>
            </a:r>
          </a:p>
          <a:p>
            <a:pPr algn="l">
              <a:lnSpc>
                <a:spcPct val="120000"/>
              </a:lnSpc>
            </a:pPr>
            <a:r>
              <a:rPr sz="5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置信度与偏差量输出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77072" y="2048256"/>
            <a:ext cx="3090672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8577072" y="2048256"/>
            <a:ext cx="36576" cy="96926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05088" y="2130552"/>
            <a:ext cx="2852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应用前端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2313432"/>
            <a:ext cx="2852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桌面界面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05088" y="2487168"/>
            <a:ext cx="2852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实时预览与叠层</a:t>
            </a:r>
          </a:p>
          <a:p>
            <a:pPr algn="l">
              <a:lnSpc>
                <a:spcPct val="120000"/>
              </a:lnSpc>
            </a:pPr>
            <a:r>
              <a:rPr sz="5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参数面板与配方切换</a:t>
            </a:r>
          </a:p>
          <a:p>
            <a:pPr algn="l">
              <a:lnSpc>
                <a:spcPct val="120000"/>
              </a:lnSpc>
            </a:pPr>
            <a:r>
              <a:rPr sz="56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· 判定、复核与导出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3273552"/>
            <a:ext cx="2286000" cy="548640"/>
          </a:xfrm>
          <a:prstGeom prst="rect">
            <a:avLst/>
          </a:prstGeom>
          <a:solidFill>
            <a:srgbClr val="F1F3F6"/>
          </a:solidFill>
          <a:ln w="889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3200400" y="3273552"/>
            <a:ext cx="36576" cy="548640"/>
          </a:xfrm>
          <a:prstGeom prst="rect">
            <a:avLst/>
          </a:prstGeom>
          <a:solidFill>
            <a:srgbClr val="0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28416" y="3337560"/>
            <a:ext cx="20482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结果存储与导出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28416" y="3511296"/>
            <a:ext cx="20482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本地库 + 图像留存 + 统计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798064" y="2532888"/>
            <a:ext cx="402336" cy="0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486400" y="2532888"/>
            <a:ext cx="402336" cy="0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174736" y="2532888"/>
            <a:ext cx="402336" cy="0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43400" y="3017520"/>
            <a:ext cx="0" cy="256032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8229600" y="2834640"/>
            <a:ext cx="347472" cy="0"/>
          </a:xfrm>
          <a:prstGeom prst="line">
            <a:avLst/>
          </a:prstGeom>
          <a:ln w="12700">
            <a:solidFill>
              <a:srgbClr val="6E6A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229600" y="2834640"/>
            <a:ext cx="0" cy="713232"/>
          </a:xfrm>
          <a:prstGeom prst="line">
            <a:avLst/>
          </a:prstGeom>
          <a:ln w="12700">
            <a:solidFill>
              <a:srgbClr val="6E6A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486400" y="3547872"/>
            <a:ext cx="2743200" cy="0"/>
          </a:xfrm>
          <a:prstGeom prst="line">
            <a:avLst/>
          </a:prstGeom>
          <a:ln w="12700">
            <a:solidFill>
              <a:srgbClr val="6E6A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2816352" y="2359152"/>
            <a:ext cx="365760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5504688" y="2359152"/>
            <a:ext cx="365760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8193024" y="2359152"/>
            <a:ext cx="365760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2468880" y="2231136"/>
            <a:ext cx="10972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2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IF-1 Frame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38928" y="2231136"/>
            <a:ext cx="10972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2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IF-2 detect()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08975" y="2231136"/>
            <a:ext cx="113385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2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IF-3 Result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3584448"/>
            <a:ext cx="21945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20" b="1">
                <a:solidFill>
                  <a:srgbClr val="0F5E5A"/>
                </a:solidFill>
                <a:latin typeface="微软雅黑"/>
                <a:ea typeface="微软雅黑"/>
                <a:cs typeface="微软雅黑"/>
              </a:rPr>
              <a:t>IF-4 复核与回写（异步）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2064" y="3968496"/>
            <a:ext cx="11155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接口契约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2064" y="4174235"/>
            <a:ext cx="1115568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12064" y="4206240"/>
            <a:ext cx="11155680" cy="219456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94360" y="4247388"/>
            <a:ext cx="8961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接口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00200" y="4247388"/>
            <a:ext cx="217627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86200" y="4247388"/>
            <a:ext cx="1993391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89320" y="4247388"/>
            <a:ext cx="2907791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06840" y="4247388"/>
            <a:ext cx="263347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约束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" y="4530852"/>
            <a:ext cx="89611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IF-1 相机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00200" y="4530852"/>
            <a:ext cx="217627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enumerate / open / apply / grab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86200" y="4530852"/>
            <a:ext cx="1993391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相机序列号、参数集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89320" y="4530852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Frame（图像、时间戳、参数快照）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06840" y="4530852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曝光与增益变更后需回读校验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2064" y="4791456"/>
            <a:ext cx="11155680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12064" y="4791456"/>
            <a:ext cx="11155680" cy="36576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594360" y="4896612"/>
            <a:ext cx="89611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IF-2 检测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00200" y="4896612"/>
            <a:ext cx="217627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detect(frame, recipe)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86200" y="4896612"/>
            <a:ext cx="1993391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Frame、配方（阈值、ROI）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89320" y="4896612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DetectionResult（标记列表、置信度、偏差）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06840" y="4896612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单帧超时 300 ms，超时按失败处理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2064" y="5157216"/>
            <a:ext cx="11155680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4360" y="5262372"/>
            <a:ext cx="89611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IF-3 结果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00200" y="5262372"/>
            <a:ext cx="217627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save / export / stats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86200" y="5262372"/>
            <a:ext cx="1993391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DetectionResult、图像引用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89320" y="5262372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记录 ID、导出文件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06840" y="5262372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本地留存不少于 30 天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12064" y="5522976"/>
            <a:ext cx="11155680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12064" y="5522976"/>
            <a:ext cx="11155680" cy="36576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594360" y="5628132"/>
            <a:ext cx="89611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IF-4 前端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00200" y="5628132"/>
            <a:ext cx="217627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onPreview / onResult / command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86200" y="5628132"/>
            <a:ext cx="1993391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预览帧、判定结果、操作指令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89320" y="5628132"/>
            <a:ext cx="2907791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状态与提示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06840" y="5628132"/>
            <a:ext cx="263347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预览降帧不影响检测节拍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12064" y="5888736"/>
            <a:ext cx="11155680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12064" y="6272784"/>
            <a:ext cx="10424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时序：枚举并打开相机 → 下发参数并回读 → 软触发采图 → 检测请求 → 结果叠层与判定 → 落库与统计；任一环节异常按超时终止并记录，不阻断工位测试。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146304"/>
            <a:ext cx="7223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9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联调路标：倒排至 11 月 15 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27264" y="219456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0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五阶段 · 五个里程碑 · 三项风险对策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93776"/>
            <a:ext cx="11155680" cy="12801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53796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7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3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85216"/>
            <a:ext cx="7680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阶段排期（按工作日，单人全职投入估算）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790956"/>
            <a:ext cx="768096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0630" y="932688"/>
            <a:ext cx="7315" cy="3291840"/>
          </a:xfrm>
          <a:prstGeom prst="rect">
            <a:avLst/>
          </a:prstGeom>
          <a:solidFill>
            <a:srgbClr val="E2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029968" y="877824"/>
            <a:ext cx="5486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10/26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6916" y="932688"/>
            <a:ext cx="7315" cy="3291840"/>
          </a:xfrm>
          <a:prstGeom prst="rect">
            <a:avLst/>
          </a:prstGeom>
          <a:solidFill>
            <a:srgbClr val="E2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36253" y="877824"/>
            <a:ext cx="5486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10/31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3201" y="932688"/>
            <a:ext cx="7315" cy="3291840"/>
          </a:xfrm>
          <a:prstGeom prst="rect">
            <a:avLst/>
          </a:prstGeom>
          <a:solidFill>
            <a:srgbClr val="E2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42539" y="877824"/>
            <a:ext cx="5486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11/05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9487" y="932688"/>
            <a:ext cx="7315" cy="3291840"/>
          </a:xfrm>
          <a:prstGeom prst="rect">
            <a:avLst/>
          </a:prstGeom>
          <a:solidFill>
            <a:srgbClr val="E2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8825" y="877824"/>
            <a:ext cx="5486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11/10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25773" y="932688"/>
            <a:ext cx="7315" cy="3291840"/>
          </a:xfrm>
          <a:prstGeom prst="rect">
            <a:avLst/>
          </a:prstGeom>
          <a:solidFill>
            <a:srgbClr val="E2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255110" y="877824"/>
            <a:ext cx="5486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11/15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1060704"/>
            <a:ext cx="2743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S1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1042415"/>
            <a:ext cx="142646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环境与骨架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1216151"/>
            <a:ext cx="142646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4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10/26—10/29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3432" y="1060704"/>
            <a:ext cx="1026740" cy="274320"/>
          </a:xfrm>
          <a:prstGeom prst="rect">
            <a:avLst/>
          </a:prstGeom>
          <a:solidFill>
            <a:srgbClr val="F1F3F6"/>
          </a:solidFill>
          <a:ln w="889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313432" y="1060704"/>
            <a:ext cx="25603" cy="27432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12064" y="1627631"/>
            <a:ext cx="2743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S2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1609343"/>
            <a:ext cx="142646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组件实现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1783079"/>
            <a:ext cx="142646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4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10/30—11/04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58460" y="1627631"/>
            <a:ext cx="1549254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358460" y="1627631"/>
            <a:ext cx="25603" cy="27432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12064" y="2194560"/>
            <a:ext cx="2743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S3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2176272"/>
            <a:ext cx="142646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全链路联调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2350008"/>
            <a:ext cx="142646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4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11/05—11/09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26003" y="2194560"/>
            <a:ext cx="1287997" cy="274320"/>
          </a:xfrm>
          <a:prstGeom prst="rect">
            <a:avLst/>
          </a:prstGeom>
          <a:solidFill>
            <a:srgbClr val="F1F3F6"/>
          </a:solidFill>
          <a:ln w="889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926003" y="2194560"/>
            <a:ext cx="25603" cy="27432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2064" y="2761488"/>
            <a:ext cx="2743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S4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2743200"/>
            <a:ext cx="142646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现场试运行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2916936"/>
            <a:ext cx="142646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4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11/10—11/12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2289" y="2761488"/>
            <a:ext cx="765483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232289" y="2761488"/>
            <a:ext cx="25603" cy="27432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2064" y="3328416"/>
            <a:ext cx="2743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S5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3310128"/>
            <a:ext cx="142646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验收与发布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3483864"/>
            <a:ext cx="142646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4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11/13—11/15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16060" y="3328416"/>
            <a:ext cx="765483" cy="274320"/>
          </a:xfrm>
          <a:prstGeom prst="rect">
            <a:avLst/>
          </a:prstGeom>
          <a:solidFill>
            <a:srgbClr val="F1F3F6"/>
          </a:solidFill>
          <a:ln w="889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016060" y="3328416"/>
            <a:ext cx="25603" cy="2743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2304288" y="4312310"/>
            <a:ext cx="5486400" cy="7315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Diamond 43"/>
          <p:cNvSpPr/>
          <p:nvPr/>
        </p:nvSpPr>
        <p:spPr>
          <a:xfrm>
            <a:off x="3280736" y="4247388"/>
            <a:ext cx="137160" cy="137160"/>
          </a:xfrm>
          <a:prstGeom prst="diamond">
            <a:avLst/>
          </a:prstGeom>
          <a:solidFill>
            <a:srgbClr val="8B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93284" y="4389120"/>
            <a:ext cx="51206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M1</a:t>
            </a:r>
          </a:p>
        </p:txBody>
      </p:sp>
      <p:sp>
        <p:nvSpPr>
          <p:cNvPr id="46" name="Diamond 45"/>
          <p:cNvSpPr/>
          <p:nvPr/>
        </p:nvSpPr>
        <p:spPr>
          <a:xfrm>
            <a:off x="4848279" y="4247388"/>
            <a:ext cx="137160" cy="137160"/>
          </a:xfrm>
          <a:prstGeom prst="diamond">
            <a:avLst/>
          </a:prstGeom>
          <a:solidFill>
            <a:srgbClr val="8B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0827" y="4389120"/>
            <a:ext cx="51206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M2</a:t>
            </a:r>
          </a:p>
        </p:txBody>
      </p:sp>
      <p:sp>
        <p:nvSpPr>
          <p:cNvPr id="48" name="Diamond 47"/>
          <p:cNvSpPr/>
          <p:nvPr/>
        </p:nvSpPr>
        <p:spPr>
          <a:xfrm>
            <a:off x="6154565" y="4247388"/>
            <a:ext cx="137160" cy="137160"/>
          </a:xfrm>
          <a:prstGeom prst="diamond">
            <a:avLst/>
          </a:prstGeom>
          <a:solidFill>
            <a:srgbClr val="8B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67113" y="4389120"/>
            <a:ext cx="51206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M3</a:t>
            </a:r>
          </a:p>
        </p:txBody>
      </p:sp>
      <p:sp>
        <p:nvSpPr>
          <p:cNvPr id="50" name="Diamond 49"/>
          <p:cNvSpPr/>
          <p:nvPr/>
        </p:nvSpPr>
        <p:spPr>
          <a:xfrm>
            <a:off x="6938336" y="4247388"/>
            <a:ext cx="137160" cy="137160"/>
          </a:xfrm>
          <a:prstGeom prst="diamond">
            <a:avLst/>
          </a:prstGeom>
          <a:solidFill>
            <a:srgbClr val="8B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50884" y="4389120"/>
            <a:ext cx="51206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M4</a:t>
            </a:r>
          </a:p>
        </p:txBody>
      </p:sp>
      <p:sp>
        <p:nvSpPr>
          <p:cNvPr id="52" name="Diamond 51"/>
          <p:cNvSpPr/>
          <p:nvPr/>
        </p:nvSpPr>
        <p:spPr>
          <a:xfrm>
            <a:off x="7565353" y="4247388"/>
            <a:ext cx="137160" cy="137160"/>
          </a:xfrm>
          <a:prstGeom prst="diamond">
            <a:avLst/>
          </a:prstGeom>
          <a:solidFill>
            <a:srgbClr val="8B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7901" y="4389120"/>
            <a:ext cx="51206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M5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" y="4626864"/>
            <a:ext cx="7680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阶段交付物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" y="4832603"/>
            <a:ext cx="768096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2064" y="4864608"/>
            <a:ext cx="7680960" cy="219456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594360" y="4905756"/>
            <a:ext cx="4389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阶段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" y="4905756"/>
            <a:ext cx="43708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交付物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60" y="4905756"/>
            <a:ext cx="25420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验收口径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5125212"/>
            <a:ext cx="43891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S1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" y="5125212"/>
            <a:ext cx="437083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pylon 运行时、构建管线、货架条目与下载链路、界面骨架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23560" y="5125212"/>
            <a:ext cx="254203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骨架可启动并完成一次采图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2064" y="5321808"/>
            <a:ext cx="7680960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12064" y="5321808"/>
            <a:ext cx="7680960" cy="237744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94360" y="5362956"/>
            <a:ext cx="43891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S2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" y="5362956"/>
            <a:ext cx="437083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相机参数与曝光控制、算法接口封装、结果落库、参数面板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23560" y="5362956"/>
            <a:ext cx="254203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组件自测通过，接口契约稳定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2064" y="5559552"/>
            <a:ext cx="7680960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" y="5600700"/>
            <a:ext cx="43891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S3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3000" y="5600700"/>
            <a:ext cx="437083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全链路联调、配方标定、节拍与异常路径测量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23560" y="5600700"/>
            <a:ext cx="254203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连续 200 件无中断，节拍达标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2064" y="5797296"/>
            <a:ext cx="7680960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12064" y="5797296"/>
            <a:ext cx="7680960" cy="237744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594360" y="5838444"/>
            <a:ext cx="43891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S4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3000" y="5838444"/>
            <a:ext cx="437083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现场试运行、误检漏检统计、参数固化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23560" y="5838444"/>
            <a:ext cx="254203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连续 3 天跟线，指标达标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2064" y="6035040"/>
            <a:ext cx="7680960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6076188"/>
            <a:ext cx="43891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S5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43000" y="6076188"/>
            <a:ext cx="437083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发布 v1.0 上架、回滚包、操作与部署说明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23560" y="6076188"/>
            <a:ext cx="2542032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7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验收通过，产线可用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2064" y="6272783"/>
            <a:ext cx="7680960" cy="5486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21040" y="585216"/>
            <a:ext cx="33467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里程碑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790956"/>
            <a:ext cx="3346704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21040" y="841248"/>
            <a:ext cx="56692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10/29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24544" y="841248"/>
            <a:ext cx="2743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骨架可运行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21040" y="1170432"/>
            <a:ext cx="56692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11/04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24544" y="1170432"/>
            <a:ext cx="2743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组件自测通过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21040" y="1499616"/>
            <a:ext cx="56692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11/09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24544" y="1499616"/>
            <a:ext cx="2743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全链路联调通过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21040" y="1828800"/>
            <a:ext cx="56692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11/12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24544" y="1828800"/>
            <a:ext cx="2743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试运行指标达标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21040" y="2157984"/>
            <a:ext cx="56692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11/15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24544" y="2157984"/>
            <a:ext cx="2743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发布与验收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21040" y="2615184"/>
            <a:ext cx="33467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风险与对策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21040" y="2820924"/>
            <a:ext cx="3346704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21040" y="2852928"/>
            <a:ext cx="331012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· 现场光环境波动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30768" y="3026664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固定补光与曝光标定，参数随配方保存并版本化。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21040" y="3419856"/>
            <a:ext cx="331012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· 样本不足致误检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430768" y="3593592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首版限定标记类型，低置信度转人工复核，样本累积后迭代。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21040" y="3986784"/>
            <a:ext cx="331012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· 加密构建影响加载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430768" y="4160520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先行构建验证，动态库与模型走白名单，保留非加密调试包。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21040" y="4553712"/>
            <a:ext cx="331012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· 货架权限与追溯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30768" y="4727448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58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发布需审核，安装留痕记录版本与校验值。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321040" y="5230368"/>
            <a:ext cx="33467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关键前提：pylon 运行时版本与相机固件需在 S1 内确认；算法样本由现场提供，缺口部分以人工复核兜底。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321040" y="5120640"/>
            <a:ext cx="3346704" cy="7315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12064" y="6327648"/>
            <a:ext cx="10881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说明：日期按工作日计，S1 自 10 月 26 日起算；若人力投入或现场可用时间变化，S3 与 S4 需同步顺延，S5 保持不低于 2 个工作日的验收窗口。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