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逻辑视图：三方案共用编排层（Runner 读取 tps.json 清单）与被测对象（测试台/仪器），差异集中在执行容器与设备连接。方案A 为单 pytest 进程、整段一次执行、连接进程内复用；方案B 不经过 pytest，由 Runner 进程内直接调用用例函数；方案C 为 ATE 现状，每条用例一个独立 pytest 进程，连接随进程重复建立。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两项问题均由执行粒度（每条用例一个独立进程）引起，与是否使用 pytest 无直接因果关系。决策前提为可接受单条用例占用测试台。结论方向：采用段内单进程执行，以同进程复用连接与状态，并借助进程内看门狗实现单用例超时中断。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方案A 指整份或分段一次 pytest 执行；方案B 指完全绕开 pytest、由 Runner 顺序调用用例函数；方案C 为现状，即每条用例一个独立 pytest 进程。方案A 与方案C 均在连接复用与故障隔离之间取舍；在可接受单条用例占用测试台的前提下推荐方案A。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本页为《各方案潜在问题对照》信息图。方案C 标注「ATE 现状」，即当前 ATE 采用的逐用例多进程执行方式。三类方案的问题均围绕：故障隔离、硬超时能力、交互控制、数据传递、连接复用与口径变化展开。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0" rIns="274320" tIns="0" bIns="0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  <a:ea typeface="微软雅黑"/>
              </a:rPr>
              <a:t>三个执行方案 · 逻辑视图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txBody>
          <a:bodyPr wrap="square" anchor="ctr" lIns="128016" rIns="128016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微软雅黑"/>
                <a:ea typeface="微软雅黑"/>
              </a:rPr>
              <a:t>关键词：艾因柯蓝</a:t>
            </a:r>
          </a:p>
        </p:txBody>
      </p:sp>
      <p:pic>
        <p:nvPicPr>
          <p:cNvPr id="4" name="Picture 3" descr="三方案逻辑视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768"/>
            <a:ext cx="11091672" cy="4667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Segoe UI"/>
                <a:ea typeface="微软雅黑"/>
              </a:rPr>
              <a:t>说明：三方案均以 tps.json 清单为编排入口，差异在于执行容器的进程边界与设备连接的复用方式。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0" rIns="274320" tIns="0" bIns="0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  <a:ea typeface="微软雅黑"/>
              </a:rPr>
              <a:t>ATE 执行架构决策评审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txBody>
          <a:bodyPr wrap="square" anchor="ctr" lIns="128016" rIns="128016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微软雅黑"/>
                <a:ea typeface="微软雅黑"/>
              </a:rPr>
              <a:t>执行粒度 · 用例间数据传递 · 设备连接复用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5317236" cy="2487168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37744" bIns="237744"/>
          <a:lstStyle/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8B1A1A"/>
                </a:solidFill>
                <a:latin typeface="Segoe UI"/>
                <a:ea typeface="微软雅黑"/>
              </a:rPr>
              <a:t>问题一</a:t>
            </a:r>
            <a:r>
              <a:rPr sz="2000" b="1" i="0">
                <a:solidFill>
                  <a:srgbClr val="16222E"/>
                </a:solidFill>
                <a:latin typeface="Segoe UI"/>
                <a:ea typeface="微软雅黑"/>
              </a:rPr>
              <a:t>　用例间数据传递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16222E"/>
                </a:solidFill>
                <a:latin typeface="Segoe UI"/>
                <a:ea typeface="微软雅黑"/>
              </a:rPr>
              <a:t>现象</a:t>
            </a:r>
            <a:r>
              <a:rPr sz="1400" b="0" i="0">
                <a:solidFill>
                  <a:srgbClr val="5B6B7A"/>
                </a:solidFill>
                <a:latin typeface="Segoe UI"/>
                <a:ea typeface="微软雅黑"/>
              </a:rPr>
              <a:t>：每条用例运行于独立进程，跨进程仅可经 run_result.json 续写。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222E"/>
                </a:solidFill>
                <a:latin typeface="Segoe UI"/>
                <a:ea typeface="微软雅黑"/>
              </a:rPr>
              <a:t>缺口</a:t>
            </a:r>
            <a:r>
              <a:rPr sz="1400" b="0" i="0">
                <a:solidFill>
                  <a:srgbClr val="5B6B7A"/>
                </a:solidFill>
                <a:latin typeface="Segoe UI"/>
                <a:ea typeface="微软雅黑"/>
              </a:rPr>
              <a:t>：缺少正式的状态通道，前序用例的测量值难以传递到后续用例。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3076" y="1572768"/>
            <a:ext cx="5317236" cy="2487168"/>
          </a:xfrm>
          <a:prstGeom prst="roundRect">
            <a:avLst>
              <a:gd name="adj" fmla="val 4500"/>
            </a:avLst>
          </a:prstGeom>
          <a:solidFill>
            <a:srgbClr val="F7F9FA"/>
          </a:solidFill>
          <a:ln w="12700">
            <a:solidFill>
              <a:srgbClr val="E2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37744" bIns="237744"/>
          <a:lstStyle/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8B1A1A"/>
                </a:solidFill>
                <a:latin typeface="Segoe UI"/>
                <a:ea typeface="微软雅黑"/>
              </a:rPr>
              <a:t>问题二</a:t>
            </a:r>
            <a:r>
              <a:rPr sz="2000" b="1" i="0">
                <a:solidFill>
                  <a:srgbClr val="16222E"/>
                </a:solidFill>
                <a:latin typeface="Segoe UI"/>
                <a:ea typeface="微软雅黑"/>
              </a:rPr>
              <a:t>　设备连接重复建立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16222E"/>
                </a:solidFill>
                <a:latin typeface="Segoe UI"/>
                <a:ea typeface="微软雅黑"/>
              </a:rPr>
              <a:t>现象</a:t>
            </a:r>
            <a:r>
              <a:rPr sz="1400" b="0" i="0">
                <a:solidFill>
                  <a:srgbClr val="5B6B7A"/>
                </a:solidFill>
                <a:latin typeface="Segoe UI"/>
                <a:ea typeface="微软雅黑"/>
              </a:rPr>
              <a:t>：驱动在用例进程内惰性建连，进程结束即随进程断开。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222E"/>
                </a:solidFill>
                <a:latin typeface="Segoe UI"/>
                <a:ea typeface="微软雅黑"/>
              </a:rPr>
              <a:t>影响</a:t>
            </a:r>
            <a:r>
              <a:rPr sz="1400" b="0" i="0">
                <a:solidFill>
                  <a:srgbClr val="5B6B7A"/>
                </a:solidFill>
                <a:latin typeface="Segoe UI"/>
                <a:ea typeface="微软雅黑"/>
              </a:rPr>
              <a:t>：每条用例重复建连，串口握手与仪器自检开销显著。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97680"/>
            <a:ext cx="11091672" cy="141732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 w="15875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201168" bIns="201168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8B1A1A"/>
                </a:solidFill>
                <a:latin typeface="Segoe UI"/>
                <a:ea typeface="微软雅黑"/>
              </a:rPr>
              <a:t>决策方向　</a:t>
            </a:r>
            <a:r>
              <a:rPr sz="1500" b="1" i="0">
                <a:solidFill>
                  <a:srgbClr val="16222E"/>
                </a:solidFill>
                <a:latin typeface="Segoe UI"/>
                <a:ea typeface="微软雅黑"/>
              </a:rPr>
              <a:t>在可接受「单条用例占用测试台」的前提下，采用段内单进程执行。</a:t>
            </a:r>
          </a:p>
          <a:p>
            <a:pPr algn="l"/>
            <a:r>
              <a:rPr sz="1400" b="0" i="0">
                <a:solidFill>
                  <a:srgbClr val="5B6B7A"/>
                </a:solidFill>
                <a:latin typeface="Segoe UI"/>
                <a:ea typeface="微软雅黑"/>
              </a:rPr>
              <a:t>连接与状态由同进程天然复用；配合进程内看门狗，实现单用例超时中断。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Segoe UI"/>
                <a:ea typeface="微软雅黑"/>
              </a:rPr>
              <a:t>评估依据：backend/tps_runtime（workspace / manifest / templates / conftest 模板）、backend/drivers/transport.py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0" rIns="274320" tIns="0" bIns="0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  <a:ea typeface="微软雅黑"/>
              </a:rPr>
              <a:t>三种执行方案对比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txBody>
          <a:bodyPr wrap="square" anchor="ctr" lIns="128016" rIns="128016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微软雅黑"/>
                <a:ea typeface="微软雅黑"/>
              </a:rPr>
              <a:t>评估对象：现有三条可选执行路线　·　当前 ATE 采用：方案C（逐用例多进程）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81328"/>
          <a:ext cx="11091672" cy="4206240"/>
        </p:xfrm>
        <a:graphic>
          <a:graphicData uri="http://schemas.openxmlformats.org/drawingml/2006/table">
            <a:tbl>
              <a:tblPr firstRow="0" bandRow="0">
                <a:tblStyle val="{2D5ABB26-0587-4C30-8999-92F81FD0307C}"/>
                <a:tableStyleId>{5C22544A-7EE6-4342-B048-85BDC9FD1C3A}</a:tableStyleId>
              </a:tblPr>
              <a:tblGrid>
                <a:gridCol w="2130552"/>
                <a:gridCol w="3017520"/>
                <a:gridCol w="2971800"/>
                <a:gridCol w="2971800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对比维度</a:t>
                      </a:r>
                    </a:p>
                  </a:txBody>
                  <a:tcPr marL="100584" marR="100584" marT="27432" marB="27432" anchor="ctr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方案A：单 pytest 进程</a:t>
                      </a:r>
                    </a:p>
                  </a:txBody>
                  <a:tcPr marL="100584" marR="100584" marT="27432" marB="27432" anchor="ctr">
                    <a:solidFill>
                      <a:srgbClr val="D98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方案B：非 pytest（函数直调）</a:t>
                      </a:r>
                    </a:p>
                  </a:txBody>
                  <a:tcPr marL="100584" marR="100584" marT="27432" marB="27432" anchor="ctr">
                    <a:solidFill>
                      <a:srgbClr val="8B1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方案C：多 pytest 进程（逐用例）· ATE 现状</a:t>
                      </a:r>
                    </a:p>
                  </a:txBody>
                  <a:tcPr marL="100584" marR="100584" marT="27432" marB="27432" anchor="ctr">
                    <a:solidFill>
                      <a:srgbClr val="8B1A1A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用例间数据传递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同进程共享上下文，直接读写</a:t>
                      </a:r>
                    </a:p>
                  </a:txBody>
                  <a:tcPr marL="100584" marR="100584" marT="27432" marB="27432" anchor="ctr">
                    <a:solidFill>
                      <a:srgbClr val="FB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同进程共享变量，直接读写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跨进程，需外置 KV 或状态文件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设备连接复用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夹具初始化一次，连接复用</a:t>
                      </a:r>
                    </a:p>
                  </a:txBody>
                  <a:tcPr marL="100584" marR="100584" marT="27432" marB="27432" anchor="ctr">
                    <a:solidFill>
                      <a:srgbClr val="FB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连接仅建立一次，全程复用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每条用例重新建连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单用例超时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看门狗注入异常（要求阻塞点有界）</a:t>
                      </a:r>
                    </a:p>
                  </a:txBody>
                  <a:tcPr marL="100584" marR="100584" marT="27432" marB="27432" anchor="ctr">
                    <a:solidFill>
                      <a:srgbClr val="FB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需自建超时机制，同方案A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子进程硬超时，超时即终止进程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故障隔离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无，单条崩溃影响整段</a:t>
                      </a:r>
                    </a:p>
                  </a:txBody>
                  <a:tcPr marL="100584" marR="100584" marT="27432" marB="27432" anchor="ctr">
                    <a:solidFill>
                      <a:srgbClr val="FB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无，单条崩溃影响整段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完整，单条故障不影响其余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交互控制（人工 / 暂停 / 取消）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需下沉 conftest，或按交互点分段</a:t>
                      </a:r>
                    </a:p>
                  </a:txBody>
                  <a:tcPr marL="100584" marR="100584" marT="27432" marB="27432" anchor="ctr">
                    <a:solidFill>
                      <a:srgbClr val="FB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需自研编排控制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Runner 全程控制（现状）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收集与报告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复用 pytest（收集 / nodeid / 报告）</a:t>
                      </a:r>
                    </a:p>
                  </a:txBody>
                  <a:tcPr marL="100584" marR="100584" marT="27432" marB="27432" anchor="ctr">
                    <a:solidFill>
                      <a:srgbClr val="FB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需自建收集与报告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复用 pytest，支持单条复跑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改造量与复杂度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中</a:t>
                      </a:r>
                    </a:p>
                  </a:txBody>
                  <a:tcPr marL="100584" marR="100584" marT="27432" marB="27432" anchor="ctr">
                    <a:solidFill>
                      <a:srgbClr val="FB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低（现状）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适用场景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人工环节少、重连接复用</a:t>
                      </a:r>
                    </a:p>
                  </a:txBody>
                  <a:tcPr marL="100584" marR="100584" marT="27432" marB="27432" anchor="ctr">
                    <a:solidFill>
                      <a:srgbClr val="FBEE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极简流程、无交互需求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222E"/>
                          </a:solidFill>
                          <a:latin typeface="Segoe UI"/>
                          <a:ea typeface="微软雅黑"/>
                        </a:rPr>
                        <a:t>真机产线、要求强隔离</a:t>
                      </a:r>
                    </a:p>
                  </a:txBody>
                  <a:tcPr marL="100584" marR="100584" marT="27432" marB="27432" anchor="ctr"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70448"/>
            <a:ext cx="110916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8B1A1A"/>
                </a:solidFill>
                <a:latin typeface="Segoe UI"/>
                <a:ea typeface="微软雅黑"/>
              </a:rPr>
              <a:t>结论　</a:t>
            </a:r>
            <a:r>
              <a:rPr sz="1300" b="0" i="0">
                <a:solidFill>
                  <a:srgbClr val="16222E"/>
                </a:solidFill>
                <a:latin typeface="Segoe UI"/>
                <a:ea typeface="微软雅黑"/>
              </a:rPr>
              <a:t>推荐 方案A（分段单进程）：复用连接与状态，同时保留单用例超时中断。</a:t>
            </a:r>
          </a:p>
          <a:p>
            <a:pPr algn="l"/>
            <a:r>
              <a:rPr sz="1300" b="0" i="0">
                <a:solidFill>
                  <a:srgbClr val="5B6B7A"/>
                </a:solidFill>
                <a:latin typeface="Segoe UI"/>
                <a:ea typeface="微软雅黑"/>
              </a:rPr>
              <a:t>当前 ATE 采用 方案C（逐用例多进程）；若要求逐用例硬超时，则保留 方案C，并引入常驻连接服务。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1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A"/>
                </a:solidFill>
                <a:latin typeface="Segoe UI"/>
                <a:ea typeface="微软雅黑"/>
              </a:rPr>
              <a:t>评估依据：backend/tps_runtime、backend/drivers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0" rIns="274320" tIns="0" bIns="0"/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  <a:ea typeface="微软雅黑"/>
              </a:rPr>
              <a:t>各方案潜在问题对照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txBody>
          <a:bodyPr wrap="square" anchor="ctr" lIns="128016" rIns="128016" tIns="0" bIns="0">
            <a:spAutoFit/>
          </a:bodyPr>
          <a:lstStyle/>
          <a:p>
            <a:pPr algn="l"/>
            <a:r>
              <a:rPr sz="1300" b="0" i="0">
                <a:solidFill>
                  <a:srgbClr val="5B6B7A"/>
                </a:solidFill>
                <a:latin typeface="微软雅黑"/>
                <a:ea typeface="微软雅黑"/>
              </a:rPr>
              <a:t>故障隔离 · 硬超时 · 交互控制 · 数据传递 · 连接复用 · 判定口径</a:t>
            </a:r>
          </a:p>
        </p:txBody>
      </p:sp>
      <p:pic>
        <p:nvPicPr>
          <p:cNvPr id="4" name="Picture 3" descr="各方案潜在问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235" y="1517904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