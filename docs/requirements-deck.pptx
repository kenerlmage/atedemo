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这份材料只讲需求本身：五项能力分别要解决什么问题、必须满足哪些条件、边界在哪里。界面长什么样、控件怎么摆不在这里讨论，那些由设计稿承载。我们先过一遍总览，再逐项展开。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需求不是并列的功能清单，而是一条链路：先注册测试台，才能配置属性；配置好了，运行时才拿得到正确的设备实例，设备实例背后由驱动实现。散装的仪器控制能力则由装备助手提供。所以后面按这条链路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备助手要回答的是“这些设备怎么用”。所以第一要求是工具化：能力要以工具形式暴露出来，而不是让人翻命令手册。第二个要求是仿真必须是一等公民——工控机现场经常没有实机，没有仿真就等于没法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驱动这部分的关键判断是分层，而不是“常用就内置”。判断标准是内容稳定性：接口契约稳定，就内置并冻结；型号细节变化快，就做成包。还要强调一点，货架只能是来源之一，离线工控机必须能通过离线目录装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属性配置页的核心约束是“只改连接参数”。型号、厂商这些属于 BOM 元信息，不允许在这里改，否则事实源就裂了。另一个重点是校验必须在前后端用同一套规则，否则绕过界面就能造假数据。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册这一步是整个链路的地基。需求上最要紧的是两件事：一是设备清单必须由预设类型带出来，不能手填，否则每个现场都会填出差异；二是注册完必须当场验证连通性，把这个动作前置，别等到跑用例才发现设备不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这一项是给用例开发者减负的。用例里不写地址、不写端口，只写别名；设备从哪来、怎么连、用哪个驱动，全部由运行时的公共 conftest 决定。这样换台测试台或者换台仪器，用例代码基本不用动。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这一页把五项需求串起来看。注册是唯一事实源，运行时读的是它的投影，conftest 只是把投影翻译成用例能用的对象。单向流动的好处是很实际的：现场改一个 IP，不需要动用例代码，也不需要改报告模板。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设备实例不是拍脑袋选的，是三级优先：先看有没有型号专用包，再看能不能落进通用家族，最后是无通讯的兜底。实机连不上时允许降级到仿真，但必须在结果里标明来源，不能让人误以为是真机实测。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边界写清楚，评审时才不会反复。这五条里最容易被忽略的是第三条和第五条：前者防的是每个项目都分叉出一套驱动，后者防的是报告里混进仿真数据。这两条一旦破掉，后面维护成本会失控。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这五项里已经落地的部分，都用接口级断言验过，数字是各专项脚本的断言条数，不是估算值。驱动货架目前还停在设计方案，需要按阶段一先做零行为变化的注册表重构。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收尾只需要三个确认：需求描述有没有漏、驱动货架是否按分层方案推进、已实现部分是否要重跑启动脚本做现场复核。这三项确认完，材料就可以作为需求基线归档。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ATE RUNNER / 需求说明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2026-09-13 · 内部评审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8B8B84"/>
                </a:solidFill>
                <a:latin typeface="Microsoft YaHei"/>
              </a:defRPr>
            </a:pPr>
            <a:r>
              <a:rPr sz="1300" b="0">
                <a:solidFill>
                  <a:srgbClr val="8B8B84"/>
                </a:solidFill>
                <a:latin typeface="Microsoft YaHei"/>
              </a:rPr>
              <a:t>装备助手 · 装备驱动 · 装备属性配置 · 测试台注册 · 设备实例统一注入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4400" b="1">
                <a:solidFill>
                  <a:srgbClr val="C8102E"/>
                </a:solidFill>
                <a:latin typeface="Microsoft YaHei"/>
              </a:defRPr>
            </a:pPr>
            <a:r>
              <a:rPr sz="4400" b="1">
                <a:solidFill>
                  <a:srgbClr val="C8102E"/>
                </a:solidFill>
                <a:latin typeface="Microsoft YaHei"/>
              </a:rPr>
              <a:t>装备测试平台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defRPr sz="4400" b="1">
                <a:solidFill>
                  <a:srgbClr val="C8102E"/>
                </a:solidFill>
                <a:latin typeface="Microsoft YaHei"/>
              </a:defRPr>
            </a:pPr>
            <a:r>
              <a:rPr sz="4400" b="1">
                <a:solidFill>
                  <a:srgbClr val="C8102E"/>
                </a:solidFill>
                <a:latin typeface="Microsoft YaHei"/>
              </a:rPr>
              <a:t>需求说明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69080"/>
            <a:ext cx="914400" cy="1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348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50" b="0">
                <a:solidFill>
                  <a:srgbClr val="141414"/>
                </a:solidFill>
                <a:latin typeface="Microsoft YaHei"/>
              </a:defRPr>
            </a:pPr>
            <a:r>
              <a:rPr sz="1350" b="0">
                <a:solidFill>
                  <a:srgbClr val="141414"/>
                </a:solidFill>
                <a:latin typeface="Microsoft YaHei"/>
              </a:rPr>
              <a:t>五项需求：装备助手 / 装备驱动 / 装备属性配置 / 测试台注册 / 运行期设备实例注入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专注特性与契约，不含控件布局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总览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五项需求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rPr sz="2400" b="1">
                <a:solidFill>
                  <a:srgbClr val="C8102E"/>
                </a:solidFill>
                <a:latin typeface="Microsoft YaHei"/>
              </a:rPr>
              <a:t>本次交付的五项需求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696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  <a:defRPr sz="1450" b="0">
                <a:solidFill>
                  <a:srgbClr val="141414"/>
                </a:solidFill>
                <a:latin typeface="Microsoft YaHei"/>
              </a:defRPr>
            </a:pPr>
            <a:r>
              <a:rPr sz="1450" b="0">
                <a:solidFill>
                  <a:srgbClr val="141414"/>
                </a:solidFill>
                <a:latin typeface="Microsoft YaHei"/>
              </a:rPr>
              <a:t>从“注册一台测试台”到“用例跑起来”，串成一条完整的可用链路。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5394960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链路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注册 → 属性配置 → 驱动选型 → 运行时注入 → 执行留痕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读者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用例开发者 / 集成工程师 / 现场运维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原则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单一事实源 · 契约稳定 · 无硬件可验证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96926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607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装备助手需求设计</a:t>
            </a:r>
            <a:r>
              <a:rPr sz="1350">
                <a:solidFill>
                  <a:srgbClr val="141414"/>
                </a:solidFill>
                <a:latin typeface="Microsoft YaHei"/>
              </a:rPr>
              <a:t> — 设备能力变成可使用、可追溯的工具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44475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5179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5179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装备驱动需求设计</a:t>
            </a:r>
            <a:r>
              <a:rPr sz="1350">
                <a:solidFill>
                  <a:srgbClr val="141414"/>
                </a:solidFill>
                <a:latin typeface="Microsoft YaHei"/>
              </a:rPr>
              <a:t> — 驱动作为可插拔货架包分发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90195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751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751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装备属性配置需求设计</a:t>
            </a:r>
            <a:r>
              <a:rPr sz="1350">
                <a:solidFill>
                  <a:srgbClr val="141414"/>
                </a:solidFill>
                <a:latin typeface="Microsoft YaHei"/>
              </a:rPr>
              <a:t> — 连接参数的唯一可改入口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235915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432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323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导航页注册新测试台</a:t>
            </a:r>
            <a:r>
              <a:rPr sz="1350">
                <a:solidFill>
                  <a:srgbClr val="141414"/>
                </a:solidFill>
                <a:latin typeface="Microsoft YaHei"/>
              </a:rPr>
              <a:t> — 一次登记，全局复用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281635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8895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895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运行期 conftest 统一注入设备实例</a:t>
            </a:r>
            <a:r>
              <a:rPr sz="1350">
                <a:solidFill>
                  <a:srgbClr val="141414"/>
                </a:solidFill>
                <a:latin typeface="Microsoft YaHei"/>
              </a:rPr>
              <a:t> — 用例不关心设备从哪来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358444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02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Scope · 五项需求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01 / 装备助手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需求设计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rPr sz="2400" b="1">
                <a:solidFill>
                  <a:srgbClr val="C8102E"/>
                </a:solidFill>
                <a:latin typeface="Microsoft YaHei"/>
              </a:rPr>
              <a:t>设备能干什么，应当可操作、可追溯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696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  <a:defRPr sz="1450" b="0">
                <a:solidFill>
                  <a:srgbClr val="141414"/>
                </a:solidFill>
                <a:latin typeface="Microsoft YaHei"/>
              </a:defRPr>
            </a:pPr>
            <a:r>
              <a:rPr sz="1450" b="0">
                <a:solidFill>
                  <a:srgbClr val="141414"/>
                </a:solidFill>
                <a:latin typeface="Microsoft YaHei"/>
              </a:rPr>
              <a:t>把仪器能力从“说明书里的命令”变成用例开发者与现场工程师都能直接上手的东西。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5394960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核心定位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工具化 + 会话化 + 可复现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硬要求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无硬件也能演示；仿真不冒充实测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96926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607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工具卡片注册表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：一类仪器一张卡，声明协议、能力与可用性；装驱动包即上架，无需改平台代码。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75564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会话式控制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：连接并识别设备身份，回读时基与通道状态；运行 / 停止 / 单次 / 自动设置。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252374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96896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波形与测量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：取回波形即可视化；八项测量（峰峰值 / 幅值 / 频率 / 周期 / 均值 / 有效值 / 上升 / 下降）各带来源标签。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602736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6758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75888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仿真是一等公民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：一键仿真不选设备也能进；六种波形、10 Hz–1 MHz、幅度 / 偏置 / 噪声 / 屏内周期可调。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37083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4439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4398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可追溯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：命令日志实时显示发送 / 应答 / 提示，现场能复现问题。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513892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03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01 · 装备助手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02 / 装备驱动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需求设计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rPr sz="2400" b="1">
                <a:solidFill>
                  <a:srgbClr val="C8102E"/>
                </a:solidFill>
                <a:latin typeface="Microsoft YaHei"/>
              </a:rPr>
              <a:t>驱动是货架商品，不是平台代码的一部分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696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  <a:defRPr sz="1450" b="0">
                <a:solidFill>
                  <a:srgbClr val="141414"/>
                </a:solidFill>
                <a:latin typeface="Microsoft YaHei"/>
              </a:defRPr>
            </a:pPr>
            <a:r>
              <a:rPr sz="1450" b="0">
                <a:solidFill>
                  <a:srgbClr val="141414"/>
                </a:solidFill>
                <a:latin typeface="Microsoft YaHei"/>
              </a:rPr>
              <a:t>设备型号会持续增加，平台版本不应跟着涨。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5394960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分层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契约层（冻结）/ 通用家族（内置）/ 型号包（货架）/ 私有包（侧载）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来源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官方货架 · 离线目录 · 本地侧载，同一套校验流程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硬要求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签名离线可验；型号包必须自带仿真模型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96926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607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分层分发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：接口契约与通用家族随平台内置；型号细节与客户专有实现走包，各归其位。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75564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包规范自描述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：声明标识、版本、所属契约、兼容平台、能力清单、匹配规则、是否带仿真。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252374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96896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签名与离线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：包与货架清单均签名，离线可验；内网与 U 盘场景与在线同流程。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291840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3649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64992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版本可治理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：同一驱动单一生效版本、可回滚；安装前做兼容性预检；稳定 / 预览双通道。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059936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133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33088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选型逻辑不变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：包声明并入既有规格匹配与优先级打分，不引入第二套选择机制。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482803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04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02 · 装备驱动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03 / 装备属性配置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需求设计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rPr sz="2400" b="1">
                <a:solidFill>
                  <a:srgbClr val="C8102E"/>
                </a:solidFill>
                <a:latin typeface="Microsoft YaHei"/>
              </a:rPr>
              <a:t>连接参数只有一个可改入口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696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  <a:defRPr sz="1450" b="0">
                <a:solidFill>
                  <a:srgbClr val="141414"/>
                </a:solidFill>
                <a:latin typeface="Microsoft YaHei"/>
              </a:defRPr>
            </a:pPr>
            <a:r>
              <a:rPr sz="1450" b="0">
                <a:solidFill>
                  <a:srgbClr val="141414"/>
                </a:solidFill>
                <a:latin typeface="Microsoft YaHei"/>
              </a:rPr>
              <a:t>设备从注册结果来，改动只落在连接参数上，且每一次都可核对。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5394960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事实源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测试台注册 BOM，不二次维护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可改范围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仅连接参数；型号 / 厂商 / 类别只读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硬要求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前后端同一套校验；变更留痕可回溯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96926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607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设备清单单一来源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：按测试台分组呈现注册 BOM 中的设备，不另建一份装备台账。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75564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只改连接参数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：网口地址与端口、串口号与波特率、总线资源地址与通道号；元信息只读。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252374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96896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校验与留痕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：格式校验 + 同台地址冲突拦截（前后端同规则）；字段级留痕，可恢复 BOM 默认值。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291840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3649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64992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一页承载三类动作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：测试台导出（待注册 + 已注册）、装备自检、报告中心，三栏同路由可深链。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059936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133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33088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导出范围自描述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：导出内容标明作用范围与状态构成，报告记录标签统一，历史记录无需迁移。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482803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49011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0118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运行环境可见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：workspace 路径、公共 conftest 版本、设备投影统计与驱动规格，集中可见可初始化。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559612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05 /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03 · 装备属性配置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04 / 测试台注册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需求设计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rPr sz="2400" b="1">
                <a:solidFill>
                  <a:srgbClr val="C8102E"/>
                </a:solidFill>
                <a:latin typeface="Microsoft YaHei"/>
              </a:rPr>
              <a:t>一次登记，全局复用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696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  <a:defRPr sz="1450" b="0">
                <a:solidFill>
                  <a:srgbClr val="141414"/>
                </a:solidFill>
                <a:latin typeface="Microsoft YaHei"/>
              </a:defRPr>
            </a:pPr>
            <a:r>
              <a:rPr sz="1450" b="0">
                <a:solidFill>
                  <a:srgbClr val="141414"/>
                </a:solidFill>
                <a:latin typeface="Microsoft YaHei"/>
              </a:rPr>
              <a:t>在导航页注册的那一次，决定了后续所有能力能拿到什么。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5394960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流程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类型选型 → 设备配置 → 注册并验证（三步）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编号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固定前缀 + 12 位数字，与装备清单规则一致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硬要求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地址冲突双重拦截；注册即自检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96926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607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三步注册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：先选产品与子系统定位预设类型，标准 BOM 自动下发；再配可编程设备；最后注册并验证。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75564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BOM 由预设下发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：设备清单不是手填，而是随预设类型带出，减少人为缺漏。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252374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96896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编号唯一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：固定前缀 + 12 位数字，重复即拦截。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298094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0540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54096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注册即自检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：连通性与自检清单当场给出结论；无实机时可以走仿真模式完成验证。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3749040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38221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22192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开箱即用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：内置默认测试台；删除后不自动复活，需要时可一键重建。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4517136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06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04 · 测试台注册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05 / 设备实例注入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需求设计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rPr sz="2400" b="1">
                <a:solidFill>
                  <a:srgbClr val="C8102E"/>
                </a:solidFill>
                <a:latin typeface="Microsoft YaHei"/>
              </a:rPr>
              <a:t>用例不关心设备从哪来、怎么连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696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  <a:defRPr sz="1450" b="0">
                <a:solidFill>
                  <a:srgbClr val="141414"/>
                </a:solidFill>
                <a:latin typeface="Microsoft YaHei"/>
              </a:defRPr>
            </a:pPr>
            <a:r>
              <a:rPr sz="1450" b="0">
                <a:solidFill>
                  <a:srgbClr val="141414"/>
                </a:solidFill>
                <a:latin typeface="Microsoft YaHei"/>
              </a:rPr>
              <a:t>统一由平台提供的公共 conftest 在运行时把设备实例交到用例手上。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5394960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175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运行环境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安装目录下的 workspace，运行副本隔离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用例表达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阈值上下限 / 设备别名 / 测试套顺序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1">
                <a:solidFill>
                  <a:srgbClr val="8B8B84"/>
                </a:solidFill>
                <a:latin typeface="Microsoft YaHei"/>
              </a:rPr>
              <a:t>硬要求　</a:t>
            </a:r>
            <a:r>
              <a:rPr sz="1150" b="0">
                <a:solidFill>
                  <a:srgbClr val="46463F"/>
                </a:solidFill>
                <a:latin typeface="Microsoft YaHei"/>
              </a:rPr>
              <a:t>设备版本可追溯；仿真与实测结果不混淆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96926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60704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运行环境固定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：workspace 不存在自动创建；每次运行复制独立副本，历史运行互不干扰。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755648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公共 conftest 随平台部署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：带版本号统一分发与更新，用例导入即得设备夹具。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2523744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96896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三个字段描述用例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：阈值上下限、设备别名映射、测试套步骤顺序，业务动作以库形式提供。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291840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3649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64992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实例按别名解析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：注册结果投影到本地库，夹具按别名解析为驱动实例，选型交给既有匹配机制。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059936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133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50" b="1">
                <a:solidFill>
                  <a:srgbClr val="C8102E"/>
                </a:solidFill>
                <a:latin typeface="Microsoft YaHei"/>
              </a:defRPr>
            </a:pPr>
            <a:r>
              <a:rPr sz="135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33088"/>
            <a:ext cx="47667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8C0B1F"/>
                </a:solidFill>
                <a:latin typeface="Microsoft YaHei"/>
              </a:rPr>
              <a:t>失败可控可查</a:t>
            </a:r>
            <a:r>
              <a:rPr sz="1350">
                <a:solidFill>
                  <a:srgbClr val="141414"/>
                </a:solidFill>
                <a:latin typeface="Microsoft YaHei"/>
              </a:rPr>
              <a:t>：运行结果、日志与环境快照落盘，报告里能追到设备与驱动版本。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4828032"/>
            <a:ext cx="5278831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07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05 · 设备实例注入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机制 / 运行期链路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一页看懂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C8102E"/>
                </a:solidFill>
                <a:latin typeface="Microsoft YaHei"/>
              </a:defRPr>
            </a:pPr>
            <a:r>
              <a:rPr sz="2200" b="1">
                <a:solidFill>
                  <a:srgbClr val="C8102E"/>
                </a:solidFill>
                <a:latin typeface="Microsoft YaHei"/>
              </a:rPr>
              <a:t>从注册到执行，数据只沿一条线走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709595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27095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27095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注册登记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88920"/>
            <a:ext cx="27095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测试台与设备写入注册库，作为唯一事实源。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9675" y="1828800"/>
            <a:ext cx="2709595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9675" y="1920240"/>
            <a:ext cx="27095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9675" y="2240280"/>
            <a:ext cx="27095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本地投影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2788920"/>
            <a:ext cx="27095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注册结果同步到本地数据库，供运行时读取。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2423" y="1828800"/>
            <a:ext cx="2709595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2423" y="1920240"/>
            <a:ext cx="27095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2423" y="2240280"/>
            <a:ext cx="27095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夹具注入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2423" y="2788920"/>
            <a:ext cx="27095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公共 conftest 按别名解析出驱动实例交给用例。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171" y="1828800"/>
            <a:ext cx="2709595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171" y="1920240"/>
            <a:ext cx="27095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240280"/>
            <a:ext cx="27095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执行留痕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2788920"/>
            <a:ext cx="27095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按测试套顺序执行，产出结果文件与报告。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0624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3434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Aft>
                <a:spcPts val="0"/>
              </a:spcAft>
              <a:defRPr sz="1400" b="0">
                <a:solidFill>
                  <a:srgbClr val="46463F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关键约束：</a:t>
            </a:r>
            <a:r>
              <a:rPr sz="1400" b="0">
                <a:solidFill>
                  <a:srgbClr val="46463F"/>
                </a:solidFill>
                <a:latin typeface="Microsoft YaHei"/>
              </a:rPr>
              <a:t>每一段都只读上一段的产物，不反向写入；因此装备属性配置改了连接参数，运行期立刻生效，而用例代码、报告格式都不需要跟着改。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08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机制 · 运行期链路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机制 / 设备实例怎么来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选型优先级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C8102E"/>
                </a:solidFill>
                <a:latin typeface="Microsoft YaHei"/>
              </a:defRPr>
            </a:pPr>
            <a:r>
              <a:rPr sz="2200" b="1">
                <a:solidFill>
                  <a:srgbClr val="C8102E"/>
                </a:solidFill>
                <a:latin typeface="Microsoft YaHei"/>
              </a:rPr>
              <a:t>实例解析的三级优先：型号包 → 通用家族 → 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77440"/>
            <a:ext cx="3637178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36371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优先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36371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型号专用包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363717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命中品牌与型号特征时优先选用，命令与解析按型号定制。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7258" y="2377440"/>
            <a:ext cx="3637178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7258" y="2468880"/>
            <a:ext cx="36371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优先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7258" y="2788920"/>
            <a:ext cx="36371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通用能力家族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258" y="3291840"/>
            <a:ext cx="363717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按类别与角色落入通用实现，覆盖大多数现场设备。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7588" y="2377440"/>
            <a:ext cx="3637178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7588" y="2468880"/>
            <a:ext cx="36371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优先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7588" y="2788920"/>
            <a:ext cx="36371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700" b="1">
                <a:solidFill>
                  <a:srgbClr val="141414"/>
                </a:solidFill>
                <a:latin typeface="Microsoft YaHei"/>
              </a:defRPr>
            </a:pPr>
            <a:r>
              <a:rPr sz="1700" b="1">
                <a:solidFill>
                  <a:srgbClr val="141414"/>
                </a:solidFill>
                <a:latin typeface="Microsoft YaHei"/>
              </a:rPr>
              <a:t>无通讯兜底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7588" y="3291840"/>
            <a:ext cx="363717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250" b="0">
                <a:solidFill>
                  <a:srgbClr val="46463F"/>
                </a:solidFill>
                <a:latin typeface="Microsoft YaHei"/>
              </a:defRPr>
            </a:pPr>
            <a:r>
              <a:rPr sz="1250" b="0">
                <a:solidFill>
                  <a:srgbClr val="46463F"/>
                </a:solidFill>
                <a:latin typeface="Microsoft YaHei"/>
              </a:rPr>
              <a:t>夹具、探头等非程控设备作为信息项参与，不参与结论判定。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48056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61772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Aft>
                <a:spcPts val="0"/>
              </a:spcAft>
              <a:defRPr sz="1400" b="0">
                <a:solidFill>
                  <a:srgbClr val="46463F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实机不可用时：</a:t>
            </a:r>
            <a:r>
              <a:rPr sz="1400" b="0">
                <a:solidFill>
                  <a:srgbClr val="46463F"/>
                </a:solidFill>
                <a:latin typeface="Microsoft YaHei"/>
              </a:rPr>
              <a:t>允许显式回退到仿真并标注来源；回退只影响本次会话，不写入实测结论，也不改变驱动选型规则。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09 /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机制 · 选型优先级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边界 / 明确不做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五条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910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572768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不为装备数据另建一套存储 —— 避免出现两份事实源。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4942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359152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不允许修改型号、厂商、类别等 BOM 元信息 —— 元信息只读。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35808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638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不把驱动源码交给用例开发者修改 —— 用客户私有包替代分支式改动。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22192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950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3192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不让货架成为唯一来源 —— 离线目录与本地侧载必须同等可用。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60857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7365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718304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不让仿真数据进入实测结论 —— 来源必须可区分、可追溯。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39496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10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边界 · 明确不做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状态 / 验证覆盖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自动化断言口径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6000" b="1">
                <a:solidFill>
                  <a:srgbClr val="C8102E"/>
                </a:solidFill>
                <a:latin typeface="Microsoft YaHei"/>
              </a:defRPr>
            </a:pPr>
            <a:r>
              <a:rPr sz="6000" b="1">
                <a:solidFill>
                  <a:srgbClr val="C8102E"/>
                </a:solidFill>
                <a:latin typeface="Microsoft YaHei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3464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450" b="0">
                <a:solidFill>
                  <a:srgbClr val="46463F"/>
                </a:solidFill>
                <a:latin typeface="Microsoft YaHei"/>
              </a:defRPr>
            </a:pPr>
            <a:r>
              <a:rPr sz="1450" b="0">
                <a:solidFill>
                  <a:srgbClr val="46463F"/>
                </a:solidFill>
                <a:latin typeface="Microsoft YaHei"/>
              </a:rPr>
              <a:t>五项需求均已实现，并以接口级自动化断言验收；驱动货架为设计方案，按阶段推进。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0"/>
            <a:ext cx="2153046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041648"/>
            <a:ext cx="21530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141414"/>
                </a:solidFill>
                <a:latin typeface="Microsoft YaHei"/>
              </a:defRPr>
            </a:pPr>
            <a:r>
              <a:rPr sz="2200" b="1">
                <a:solidFill>
                  <a:srgbClr val="141414"/>
                </a:solidFill>
                <a:latin typeface="Microsoft YaHei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53712"/>
            <a:ext cx="215304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0">
                <a:solidFill>
                  <a:srgbClr val="8B8B84"/>
                </a:solidFill>
                <a:latin typeface="Microsoft YaHei"/>
              </a:rPr>
              <a:t>装备助手仿真断言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3126" y="3931920"/>
            <a:ext cx="2153046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3126" y="4041648"/>
            <a:ext cx="21530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141414"/>
                </a:solidFill>
                <a:latin typeface="Microsoft YaHei"/>
              </a:defRPr>
            </a:pPr>
            <a:r>
              <a:rPr sz="2200" b="1">
                <a:solidFill>
                  <a:srgbClr val="141414"/>
                </a:solidFill>
                <a:latin typeface="Microsoft YaHei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3126" y="4553712"/>
            <a:ext cx="215304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0">
                <a:solidFill>
                  <a:srgbClr val="8B8B84"/>
                </a:solidFill>
                <a:latin typeface="Microsoft YaHei"/>
              </a:rPr>
              <a:t>装备运维断言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9324" y="3931920"/>
            <a:ext cx="2153046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9324" y="4041648"/>
            <a:ext cx="21530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141414"/>
                </a:solidFill>
                <a:latin typeface="Microsoft YaHei"/>
              </a:defRPr>
            </a:pPr>
            <a:r>
              <a:rPr sz="2200" b="1">
                <a:solidFill>
                  <a:srgbClr val="141414"/>
                </a:solidFill>
                <a:latin typeface="Microsoft YaHei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9324" y="4553712"/>
            <a:ext cx="215304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0">
                <a:solidFill>
                  <a:srgbClr val="8B8B84"/>
                </a:solidFill>
                <a:latin typeface="Microsoft YaHei"/>
              </a:rPr>
              <a:t>测试台导出断言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5522" y="3931920"/>
            <a:ext cx="2153046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5522" y="4041648"/>
            <a:ext cx="21530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141414"/>
                </a:solidFill>
                <a:latin typeface="Microsoft YaHei"/>
              </a:defRPr>
            </a:pPr>
            <a:r>
              <a:rPr sz="2200" b="1">
                <a:solidFill>
                  <a:srgbClr val="141414"/>
                </a:solidFill>
                <a:latin typeface="Microsoft YaHei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5522" y="4553712"/>
            <a:ext cx="215304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0">
                <a:solidFill>
                  <a:srgbClr val="8B8B84"/>
                </a:solidFill>
                <a:latin typeface="Microsoft YaHei"/>
              </a:rPr>
              <a:t>运行环境断言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71720" y="3931920"/>
            <a:ext cx="2153046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1720" y="4041648"/>
            <a:ext cx="21530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2200" b="1">
                <a:solidFill>
                  <a:srgbClr val="141414"/>
                </a:solidFill>
                <a:latin typeface="Microsoft YaHei"/>
              </a:defRPr>
            </a:pPr>
            <a:r>
              <a:rPr sz="2200" b="1">
                <a:solidFill>
                  <a:srgbClr val="141414"/>
                </a:solidFill>
                <a:latin typeface="Microsoft YaHei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1720" y="4553712"/>
            <a:ext cx="215304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50" b="0">
                <a:solidFill>
                  <a:srgbClr val="8B8B84"/>
                </a:solidFill>
                <a:latin typeface="Microsoft YaHei"/>
              </a:defRPr>
            </a:pPr>
            <a:r>
              <a:rPr sz="1150" b="0">
                <a:solidFill>
                  <a:srgbClr val="8B8B84"/>
                </a:solidFill>
                <a:latin typeface="Microsoft YaHei"/>
              </a:rPr>
              <a:t>默认测试台断言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状态 · 验证覆盖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sz="1200" b="1">
                <a:solidFill>
                  <a:srgbClr val="C8102E"/>
                </a:solidFill>
                <a:latin typeface="Microsoft YaHei"/>
              </a:rPr>
              <a:t>下一步 /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8B8B84"/>
                </a:solidFill>
                <a:latin typeface="Microsoft YaHei"/>
              </a:defRPr>
            </a:pPr>
            <a:r>
              <a:rPr sz="1200" b="0">
                <a:solidFill>
                  <a:srgbClr val="8B8B84"/>
                </a:solidFill>
                <a:latin typeface="Microsoft YaHei"/>
              </a:rPr>
              <a:t>2026-09-13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94944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3400" b="1">
                <a:solidFill>
                  <a:srgbClr val="C8102E"/>
                </a:solidFill>
                <a:latin typeface="Microsoft YaHei"/>
              </a:defRPr>
            </a:pPr>
            <a:r>
              <a:rPr sz="3400" b="1">
                <a:solidFill>
                  <a:srgbClr val="C8102E"/>
                </a:solidFill>
                <a:latin typeface="Microsoft YaHei"/>
              </a:rPr>
              <a:t>请确认三项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5176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980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779776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五项需求描述是否与预期一致；是否有遗漏的特性要补进需求文档。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47472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6210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602736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驱动货架是否按“分层 + 三种来源”推进，先做零行为变化的注册表合并。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9768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4439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rPr sz="140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425696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141414"/>
                </a:solidFill>
                <a:latin typeface="Microsoft YaHei"/>
              </a:defRPr>
            </a:pPr>
            <a:r>
              <a:rPr sz="1600" b="0">
                <a:solidFill>
                  <a:srgbClr val="141414"/>
                </a:solidFill>
                <a:latin typeface="Microsoft YaHei"/>
              </a:rPr>
              <a:t>已实现部分是否需要重跑启动脚本，让后端加载新模块后现场复核。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20640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6345936"/>
            <a:ext cx="11057839" cy="1"/>
          </a:xfrm>
          <a:prstGeom prst="rect">
            <a:avLst/>
          </a:prstGeom>
          <a:solidFill>
            <a:srgbClr val="D9D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46463F"/>
                </a:solidFill>
                <a:latin typeface="Microsoft YaHei"/>
              </a:defRPr>
            </a:pPr>
            <a:r>
              <a:rPr sz="1100" b="0">
                <a:solidFill>
                  <a:srgbClr val="46463F"/>
                </a:solidFill>
                <a:latin typeface="Microsoft YaHei"/>
              </a:rPr>
              <a:t>12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8B8B84"/>
                </a:solidFill>
                <a:latin typeface="Microsoft YaHei"/>
              </a:defRPr>
            </a:pPr>
            <a:r>
              <a:rPr sz="1100" b="0">
                <a:solidFill>
                  <a:srgbClr val="8B8B84"/>
                </a:solidFill>
                <a:latin typeface="Microsoft YaHei"/>
              </a:rPr>
              <a:t>下一步 · 待确认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