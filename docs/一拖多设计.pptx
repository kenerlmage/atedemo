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509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9B1C1C"/>
                </a:solidFill>
                <a:latin typeface="微软雅黑"/>
                <a:ea typeface="微软雅黑"/>
                <a:cs typeface="微软雅黑"/>
              </a:rPr>
              <a:t>问题背景：单个测试站控制柜支撑多个测试台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768096"/>
            <a:ext cx="11055096" cy="438912"/>
          </a:xfrm>
          <a:prstGeom prst="rect">
            <a:avLst/>
          </a:prstGeom>
          <a:solidFill>
            <a:srgbClr val="EFEDEA"/>
          </a:solidFill>
          <a:ln>
            <a:noFill/>
          </a:ln>
          <a:effectLst/>
        </p:spPr>
        <p:txBody>
          <a:bodyPr rtlCol="0" anchor="ctr" wrap="square" tIns="36576" bIns="36576"/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提效需求与 GPB 的产能限制：要求一个控制柜能够连接同一个 GPB，并支撑多个测试台运行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89888"/>
            <a:ext cx="11055096" cy="9525"/>
          </a:xfrm>
          <a:prstGeom prst="rect">
            <a:avLst/>
          </a:prstGeom>
          <a:solidFill>
            <a:srgbClr val="D9D5C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591056"/>
            <a:ext cx="5120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需求与约束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920240"/>
            <a:ext cx="1298448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提效需求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56816" y="1920240"/>
            <a:ext cx="3730752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同一测试站控制柜下支撑多个测试台，提高工位利用率与产出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2377440"/>
            <a:ext cx="5120640" cy="6350"/>
          </a:xfrm>
          <a:prstGeom prst="rect">
            <a:avLst/>
          </a:prstGeom>
          <a:solidFill>
            <a:srgbClr val="D9D5C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487168"/>
            <a:ext cx="1298448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GPB 产能限制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56816" y="2487168"/>
            <a:ext cx="3730752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GPB（general process board）数量与内部资源有限，无法为每个测试台各配一块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944368"/>
            <a:ext cx="5120640" cy="6350"/>
          </a:xfrm>
          <a:prstGeom prst="rect">
            <a:avLst/>
          </a:prstGeom>
          <a:solidFill>
            <a:srgbClr val="D9D5C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3054096"/>
            <a:ext cx="1298448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由此产生的约束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56816" y="3054096"/>
            <a:ext cx="3730752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单个控制柜需要连接同一个 GPB，并支撑多个测试台运行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3511296"/>
            <a:ext cx="5120640" cy="6350"/>
          </a:xfrm>
          <a:prstGeom prst="rect">
            <a:avLst/>
          </a:prstGeom>
          <a:solidFill>
            <a:srgbClr val="D9D5C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3675887"/>
            <a:ext cx="5120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当前方案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3986784"/>
            <a:ext cx="5120640" cy="2304288"/>
          </a:xfrm>
          <a:prstGeom prst="rect">
            <a:avLst/>
          </a:prstGeom>
          <a:solidFill>
            <a:srgbClr val="EAF0F9"/>
          </a:solidFill>
          <a:ln>
            <a:noFill/>
          </a:ln>
          <a:effectLst/>
        </p:spPr>
        <p:txBody>
          <a:bodyPr rtlCol="0" anchor="ctr" wrap="square" tIns="36576" bIns="36576"/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上位机工控机 PC 上的 Python 测试脚本，经 SSH 连接 GPB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执行 GPB 上的 .sh 脚本，通过修改寄存器完成测试执行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一个测试站连接多个测试台时，分时向同一个 GPB 下发多条命令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每条命令是一个进程，命令之间串行执行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脚本与内部工具随 GPB 部署，版本不在上位机侧受控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70448" y="1664208"/>
            <a:ext cx="575157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当前方案示意</a:t>
            </a:r>
          </a:p>
        </p:txBody>
      </p:sp>
      <p:pic>
        <p:nvPicPr>
          <p:cNvPr id="18" name="Picture 17" descr="tps-multi-bench-cur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0448" y="1956816"/>
            <a:ext cx="5751576" cy="3450946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5870448" y="5486400"/>
            <a:ext cx="575157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该方案可能存在的问题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870448" y="5797296"/>
            <a:ext cx="5751576" cy="1225296"/>
          </a:xfrm>
          <a:prstGeom prst="rect">
            <a:avLst/>
          </a:prstGeom>
          <a:solidFill>
            <a:srgbClr val="EAF0F9"/>
          </a:solidFill>
          <a:ln>
            <a:noFill/>
          </a:ln>
          <a:effectLst/>
        </p:spPr>
        <p:txBody>
          <a:bodyPr rtlCol="0" anchor="ctr" wrap="square" tIns="36576" bIns="36576"/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固定问题：本脚本调用的是电子电气的内部工具，不适合对外暴露，也不适合作为测试台正式发布软件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分时共用同一个 GPB：多台测试台无法并行，排队时间随台数增长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多进程下发：命令与进程数随测试台数量增长，运行状态与结果分散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直接修改寄存器：缺少参数校验与通道隔离，多台并存时容易互相干扰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509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9B1C1C"/>
                </a:solidFill>
                <a:latin typeface="微软雅黑"/>
                <a:ea typeface="微软雅黑"/>
                <a:cs typeface="微软雅黑"/>
              </a:rPr>
              <a:t>正式方案：ATE Runner 一拖多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768096"/>
            <a:ext cx="11055096" cy="438912"/>
          </a:xfrm>
          <a:prstGeom prst="rect">
            <a:avLst/>
          </a:prstGeom>
          <a:solidFill>
            <a:srgbClr val="EFEDEA"/>
          </a:solidFill>
          <a:ln>
            <a:noFill/>
          </a:ln>
          <a:effectLst/>
        </p:spPr>
        <p:txBody>
          <a:bodyPr rtlCol="0" anchor="ctr" wrap="square" tIns="36576" bIns="36576"/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设备 BOM 注册多个工位实例，各台通道配置存于装备属性配置模块的 DB；用例经 gRPC 与同一个 GPB 的设备管理服务通信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89888"/>
            <a:ext cx="11055096" cy="9525"/>
          </a:xfrm>
          <a:prstGeom prst="rect">
            <a:avLst/>
          </a:prstGeom>
          <a:solidFill>
            <a:srgbClr val="D9D5C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591056"/>
            <a:ext cx="5120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机制</a:t>
            </a:r>
          </a:p>
        </p:txBody>
      </p:sp>
      <p:pic>
        <p:nvPicPr>
          <p:cNvPr id="6" name="Picture 5" descr="icon-bo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892808"/>
            <a:ext cx="274320" cy="2743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50976" y="1920240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设备 BOM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920240"/>
            <a:ext cx="376732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多台测试台共用同一份设备清单，按清单注册工位实例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2286000"/>
            <a:ext cx="5120640" cy="6350"/>
          </a:xfrm>
          <a:prstGeom prst="rect">
            <a:avLst/>
          </a:prstGeom>
          <a:solidFill>
            <a:srgbClr val="D9D5C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0" name="Picture 9" descr="icon-ben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2350008"/>
            <a:ext cx="274320" cy="2743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50976" y="2377440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工位实例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2377440"/>
            <a:ext cx="376732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每个实例一套执行页面与运行上下文，独立运行 TPS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2743200"/>
            <a:ext cx="5120640" cy="6350"/>
          </a:xfrm>
          <a:prstGeom prst="rect">
            <a:avLst/>
          </a:prstGeom>
          <a:solidFill>
            <a:srgbClr val="D9D5C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4" name="Picture 13" descr="icon-channe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6928" y="2807208"/>
            <a:ext cx="274320" cy="27432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950976" y="2834640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通道配置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2834640"/>
            <a:ext cx="376732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各台不同的通道配置写入装备属性配置模块的 DB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3200400"/>
            <a:ext cx="5120640" cy="6350"/>
          </a:xfrm>
          <a:prstGeom prst="rect">
            <a:avLst/>
          </a:prstGeom>
          <a:solidFill>
            <a:srgbClr val="D9D5C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8" name="Picture 17" descr="icon-param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6928" y="3264408"/>
            <a:ext cx="274320" cy="27432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950976" y="3291840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参数注入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20240" y="3291840"/>
            <a:ext cx="376732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执行时通过 pytest 将通道配置等参数传给测试用例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" y="3657600"/>
            <a:ext cx="5120640" cy="6350"/>
          </a:xfrm>
          <a:prstGeom prst="rect">
            <a:avLst/>
          </a:prstGeom>
          <a:solidFill>
            <a:srgbClr val="D9D5C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2" name="Picture 21" descr="icon-grpc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6928" y="3721608"/>
            <a:ext cx="274320" cy="27432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50976" y="3749039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连接方式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920240" y="3749039"/>
            <a:ext cx="376732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用例与 GPB 上的设备管理进程建立 gRPC 连接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66928" y="4114800"/>
            <a:ext cx="5120640" cy="6350"/>
          </a:xfrm>
          <a:prstGeom prst="rect">
            <a:avLst/>
          </a:prstGeom>
          <a:solidFill>
            <a:srgbClr val="D9D5C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6" name="Picture 25" descr="icon-hub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66928" y="4178808"/>
            <a:ext cx="274320" cy="27432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50976" y="4206240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汇聚点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920240" y="4206240"/>
            <a:ext cx="376732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各工控机的命令都发给同一个 GPB 设备管理服务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66928" y="4572000"/>
            <a:ext cx="5120640" cy="6350"/>
          </a:xfrm>
          <a:prstGeom prst="rect">
            <a:avLst/>
          </a:prstGeom>
          <a:solidFill>
            <a:srgbClr val="D9D5C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66928" y="4681728"/>
            <a:ext cx="5120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与当前方案的差别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4992624"/>
            <a:ext cx="8046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对比项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408176" y="4956048"/>
            <a:ext cx="1773936" cy="237744"/>
          </a:xfrm>
          <a:prstGeom prst="rect">
            <a:avLst/>
          </a:prstGeom>
          <a:solidFill>
            <a:srgbClr val="EFEDEA"/>
          </a:solidFill>
          <a:ln>
            <a:noFill/>
          </a:ln>
          <a:effectLst/>
        </p:spPr>
        <p:txBody>
          <a:bodyPr rtlCol="0" anchor="ctr" wrap="square" lIns="36576" rIns="36576" tIns="36576" bIns="36576"/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当前方案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218688" y="4956048"/>
            <a:ext cx="2468880" cy="237744"/>
          </a:xfrm>
          <a:prstGeom prst="rect">
            <a:avLst/>
          </a:prstGeom>
          <a:solidFill>
            <a:srgbClr val="EAF0F9"/>
          </a:solidFill>
          <a:ln>
            <a:noFill/>
          </a:ln>
          <a:effectLst/>
        </p:spPr>
        <p:txBody>
          <a:bodyPr rtlCol="0" anchor="ctr" wrap="square" lIns="36576" rIns="36576" tIns="36576" bIns="36576"/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正式方案（ATE Runner）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6928" y="5266944"/>
            <a:ext cx="8046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执行主体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408176" y="5266944"/>
            <a:ext cx="177393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GPB 上的 .sh 脚本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218688" y="5266944"/>
            <a:ext cx="24688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工位实例中的 pytest 用例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66928" y="5495544"/>
            <a:ext cx="5120640" cy="6350"/>
          </a:xfrm>
          <a:prstGeom prst="rect">
            <a:avLst/>
          </a:prstGeom>
          <a:solidFill>
            <a:srgbClr val="D9D5C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66928" y="5522976"/>
            <a:ext cx="8046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通道差异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408176" y="5522976"/>
            <a:ext cx="177393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集中在脚本与 GPB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218688" y="5522976"/>
            <a:ext cx="24688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写入装备属性配置模块 DB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66928" y="5751576"/>
            <a:ext cx="5120640" cy="6350"/>
          </a:xfrm>
          <a:prstGeom prst="rect">
            <a:avLst/>
          </a:prstGeom>
          <a:solidFill>
            <a:srgbClr val="D9D5C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66928" y="5779008"/>
            <a:ext cx="8046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多台支撑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408176" y="5779008"/>
            <a:ext cx="177393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分时下发、进程串行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218688" y="5779008"/>
            <a:ext cx="24688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多工位实例同时在线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66928" y="6007608"/>
            <a:ext cx="5120640" cy="6350"/>
          </a:xfrm>
          <a:prstGeom prst="rect">
            <a:avLst/>
          </a:prstGeom>
          <a:solidFill>
            <a:srgbClr val="D9D5C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66928" y="6035040"/>
            <a:ext cx="8046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对外发布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408176" y="6035040"/>
            <a:ext cx="177393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内部工具随软件发布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218688" y="6035040"/>
            <a:ext cx="24688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只发布 Runner 与驱动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66928" y="6263640"/>
            <a:ext cx="5120640" cy="6350"/>
          </a:xfrm>
          <a:prstGeom prst="rect">
            <a:avLst/>
          </a:prstGeom>
          <a:solidFill>
            <a:srgbClr val="D9D5C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870448" y="1591056"/>
            <a:ext cx="575157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实际数据（ATE Runner）</a:t>
            </a:r>
          </a:p>
        </p:txBody>
      </p:sp>
      <p:pic>
        <p:nvPicPr>
          <p:cNvPr id="51" name="Picture 50" descr="tps-multi-bench-bom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870448" y="1847088"/>
            <a:ext cx="5751576" cy="1828800"/>
          </a:xfrm>
          <a:prstGeom prst="rect">
            <a:avLst/>
          </a:prstGeom>
        </p:spPr>
      </p:pic>
      <p:pic>
        <p:nvPicPr>
          <p:cNvPr id="52" name="Picture 51" descr="tps-multi-bench-db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870448" y="3785615"/>
            <a:ext cx="5751576" cy="1828800"/>
          </a:xfrm>
          <a:prstGeom prst="rect">
            <a:avLst/>
          </a:prstGeom>
        </p:spPr>
      </p:pic>
      <p:sp>
        <p:nvSpPr>
          <p:cNvPr id="53" name="Rectangle 52"/>
          <p:cNvSpPr/>
          <p:nvPr/>
        </p:nvSpPr>
        <p:spPr>
          <a:xfrm>
            <a:off x="5870448" y="5797296"/>
            <a:ext cx="5751576" cy="457200"/>
          </a:xfrm>
          <a:prstGeom prst="rect">
            <a:avLst/>
          </a:prstGeom>
          <a:solidFill>
            <a:srgbClr val="EAF0F9"/>
          </a:solidFill>
          <a:ln>
            <a:noFill/>
          </a:ln>
          <a:effectLst/>
        </p:spPr>
        <p:txBody>
          <a:bodyPr rtlCol="0" anchor="ctr" wrap="square" tIns="36576" bIns="36576"/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流程：设备 BOM → 工位实例 → pytest 注入参数 → gRPC → 同一 GPB 设备管理服务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各测试工控机下发的命令，实际都发给了同一个 GPB 上的设备管理服务。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